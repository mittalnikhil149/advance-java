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82" r:id="rId22"/>
    <p:sldId id="277" r:id="rId23"/>
    <p:sldId id="278" r:id="rId24"/>
    <p:sldId id="279" r:id="rId25"/>
    <p:sldId id="280" r:id="rId26"/>
    <p:sldId id="281" r:id="rId27"/>
    <p:sldId id="283" r:id="rId28"/>
    <p:sldId id="284" r:id="rId29"/>
    <p:sldId id="285" r:id="rId30"/>
    <p:sldId id="286" r:id="rId31"/>
    <p:sldId id="288" r:id="rId32"/>
    <p:sldId id="289" r:id="rId33"/>
    <p:sldId id="290" r:id="rId34"/>
    <p:sldId id="291" r:id="rId35"/>
    <p:sldId id="287" r:id="rId36"/>
    <p:sldId id="295" r:id="rId37"/>
    <p:sldId id="292" r:id="rId38"/>
    <p:sldId id="293" r:id="rId39"/>
    <p:sldId id="294" r:id="rId40"/>
    <p:sldId id="296" r:id="rId41"/>
    <p:sldId id="297" r:id="rId42"/>
    <p:sldId id="298" r:id="rId43"/>
    <p:sldId id="299" r:id="rId44"/>
    <p:sldId id="304" r:id="rId45"/>
    <p:sldId id="300" r:id="rId46"/>
    <p:sldId id="301" r:id="rId47"/>
    <p:sldId id="302" r:id="rId48"/>
    <p:sldId id="303" r:id="rId49"/>
    <p:sldId id="306" r:id="rId50"/>
    <p:sldId id="307" r:id="rId51"/>
    <p:sldId id="308" r:id="rId52"/>
    <p:sldId id="310" r:id="rId53"/>
    <p:sldId id="311" r:id="rId54"/>
    <p:sldId id="312" r:id="rId55"/>
    <p:sldId id="313" r:id="rId56"/>
    <p:sldId id="315" r:id="rId57"/>
    <p:sldId id="317" r:id="rId58"/>
    <p:sldId id="318" r:id="rId59"/>
    <p:sldId id="319" r:id="rId60"/>
    <p:sldId id="321" r:id="rId61"/>
    <p:sldId id="322" r:id="rId62"/>
    <p:sldId id="320" r:id="rId63"/>
    <p:sldId id="323" r:id="rId64"/>
    <p:sldId id="327" r:id="rId65"/>
    <p:sldId id="316" r:id="rId66"/>
    <p:sldId id="314" r:id="rId67"/>
    <p:sldId id="324" r:id="rId68"/>
    <p:sldId id="325" r:id="rId69"/>
    <p:sldId id="326" r:id="rId70"/>
    <p:sldId id="309" r:id="rId71"/>
    <p:sldId id="328" r:id="rId72"/>
    <p:sldId id="329" r:id="rId73"/>
    <p:sldId id="330" r:id="rId74"/>
    <p:sldId id="332" r:id="rId75"/>
    <p:sldId id="331" r:id="rId76"/>
    <p:sldId id="333" r:id="rId77"/>
    <p:sldId id="334" r:id="rId78"/>
    <p:sldId id="335"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67356D8-D712-41DA-A424-0727EFBADE41}">
          <p14:sldIdLst>
            <p14:sldId id="256"/>
            <p14:sldId id="257"/>
            <p14:sldId id="259"/>
            <p14:sldId id="258"/>
            <p14:sldId id="260"/>
            <p14:sldId id="261"/>
            <p14:sldId id="262"/>
            <p14:sldId id="263"/>
            <p14:sldId id="264"/>
            <p14:sldId id="265"/>
          </p14:sldIdLst>
        </p14:section>
        <p14:section name="Untitled Section" id="{D020905D-8C37-4F98-A4F4-CEB12D89BD5E}">
          <p14:sldIdLst>
            <p14:sldId id="266"/>
            <p14:sldId id="267"/>
            <p14:sldId id="268"/>
            <p14:sldId id="269"/>
            <p14:sldId id="270"/>
            <p14:sldId id="271"/>
            <p14:sldId id="273"/>
            <p14:sldId id="274"/>
            <p14:sldId id="275"/>
            <p14:sldId id="276"/>
            <p14:sldId id="282"/>
            <p14:sldId id="277"/>
            <p14:sldId id="278"/>
            <p14:sldId id="279"/>
            <p14:sldId id="280"/>
            <p14:sldId id="281"/>
            <p14:sldId id="283"/>
            <p14:sldId id="284"/>
            <p14:sldId id="285"/>
            <p14:sldId id="286"/>
            <p14:sldId id="288"/>
            <p14:sldId id="289"/>
            <p14:sldId id="290"/>
            <p14:sldId id="291"/>
            <p14:sldId id="287"/>
            <p14:sldId id="295"/>
            <p14:sldId id="292"/>
            <p14:sldId id="293"/>
            <p14:sldId id="294"/>
            <p14:sldId id="296"/>
            <p14:sldId id="297"/>
            <p14:sldId id="298"/>
            <p14:sldId id="299"/>
            <p14:sldId id="304"/>
            <p14:sldId id="300"/>
            <p14:sldId id="301"/>
            <p14:sldId id="302"/>
            <p14:sldId id="303"/>
            <p14:sldId id="306"/>
            <p14:sldId id="307"/>
            <p14:sldId id="308"/>
            <p14:sldId id="310"/>
            <p14:sldId id="311"/>
            <p14:sldId id="312"/>
            <p14:sldId id="313"/>
            <p14:sldId id="315"/>
            <p14:sldId id="317"/>
            <p14:sldId id="318"/>
            <p14:sldId id="319"/>
            <p14:sldId id="321"/>
            <p14:sldId id="322"/>
            <p14:sldId id="320"/>
            <p14:sldId id="323"/>
            <p14:sldId id="327"/>
            <p14:sldId id="316"/>
            <p14:sldId id="314"/>
            <p14:sldId id="324"/>
            <p14:sldId id="325"/>
            <p14:sldId id="326"/>
            <p14:sldId id="309"/>
            <p14:sldId id="328"/>
            <p14:sldId id="329"/>
            <p14:sldId id="330"/>
            <p14:sldId id="332"/>
            <p14:sldId id="331"/>
            <p14:sldId id="333"/>
            <p14:sldId id="334"/>
            <p14:sldId id="33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36" autoAdjust="0"/>
    <p:restoredTop sz="94660"/>
  </p:normalViewPr>
  <p:slideViewPr>
    <p:cSldViewPr snapToGrid="0">
      <p:cViewPr>
        <p:scale>
          <a:sx n="66" d="100"/>
          <a:sy n="66" d="100"/>
        </p:scale>
        <p:origin x="500" y="12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D77E2-B2CA-41EF-B2CC-60F0DEBEE2FA}"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18464F-4056-4C18-9910-A33295CB4000}" type="slidenum">
              <a:rPr lang="en-IN" smtClean="0"/>
              <a:t>‹#›</a:t>
            </a:fld>
            <a:endParaRPr lang="en-IN"/>
          </a:p>
        </p:txBody>
      </p:sp>
    </p:spTree>
    <p:extLst>
      <p:ext uri="{BB962C8B-B14F-4D97-AF65-F5344CB8AC3E}">
        <p14:creationId xmlns:p14="http://schemas.microsoft.com/office/powerpoint/2010/main" val="4186083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B18464F-4056-4C18-9910-A33295CB4000}" type="slidenum">
              <a:rPr lang="en-IN" smtClean="0"/>
              <a:t>45</a:t>
            </a:fld>
            <a:endParaRPr lang="en-IN"/>
          </a:p>
        </p:txBody>
      </p:sp>
    </p:spTree>
    <p:extLst>
      <p:ext uri="{BB962C8B-B14F-4D97-AF65-F5344CB8AC3E}">
        <p14:creationId xmlns:p14="http://schemas.microsoft.com/office/powerpoint/2010/main" val="155543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E4CB-8158-F067-883D-47C838F223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BD2846-9BC4-19A7-A488-E786FE67D2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810B0E-BE6F-62BC-0A80-DE80F0048D2B}"/>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5" name="Footer Placeholder 4">
            <a:extLst>
              <a:ext uri="{FF2B5EF4-FFF2-40B4-BE49-F238E27FC236}">
                <a16:creationId xmlns:a16="http://schemas.microsoft.com/office/drawing/2014/main" id="{46A9FD33-8F43-A36A-7F05-02400CDA9A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C484E2-F842-560C-A415-460FD4CE58F8}"/>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2652056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90CBF-DFD8-ABC5-2998-FCCF0D4A4D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537C5B-D632-39C6-1EC5-E313548D81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007E2C-7FB0-11EE-74EB-89721018137E}"/>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5" name="Footer Placeholder 4">
            <a:extLst>
              <a:ext uri="{FF2B5EF4-FFF2-40B4-BE49-F238E27FC236}">
                <a16:creationId xmlns:a16="http://schemas.microsoft.com/office/drawing/2014/main" id="{18AE4099-D07A-005A-CC3C-A2AE40B702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5E9ACA-1204-7FEE-789D-2515306E0325}"/>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1279496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29AEF-0DF5-B5EB-BB91-2002D7A6A7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49C9C6-4D0F-C16B-020D-673C6E436F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4FB1AA-3DFE-37CE-BB07-31AB253496D8}"/>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5" name="Footer Placeholder 4">
            <a:extLst>
              <a:ext uri="{FF2B5EF4-FFF2-40B4-BE49-F238E27FC236}">
                <a16:creationId xmlns:a16="http://schemas.microsoft.com/office/drawing/2014/main" id="{A75CC574-0ACC-E9FB-B329-F3DD19910B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4DCC9E-8F2C-6491-F31A-F277CEA949BA}"/>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1533939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3C812-2890-7252-E4B3-6326A6B02F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2B80DC-D7BF-41A6-2C65-6736AAEFE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56B2F2-82C4-F9A9-6243-DACDC2F3AA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540750-DA61-348C-596F-87C39E7C7048}"/>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6" name="Footer Placeholder 5">
            <a:extLst>
              <a:ext uri="{FF2B5EF4-FFF2-40B4-BE49-F238E27FC236}">
                <a16:creationId xmlns:a16="http://schemas.microsoft.com/office/drawing/2014/main" id="{956CB036-B9C2-3EBD-3448-917868146D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2C8220-9C4C-0663-2E50-19F6F8A032BD}"/>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364664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47DE-D06E-C22C-6CEC-1EEEA7A113D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6718FF-725F-3587-FD0B-9A6492AD1E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9C967-4E44-457D-31ED-6890AA9D57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6F9124B-DF46-9930-45E1-1CCB3B531C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036126-17F8-A50E-C987-1E4027E32A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B1952C-27F7-7CFF-9F56-9F07C7C62A14}"/>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8" name="Footer Placeholder 7">
            <a:extLst>
              <a:ext uri="{FF2B5EF4-FFF2-40B4-BE49-F238E27FC236}">
                <a16:creationId xmlns:a16="http://schemas.microsoft.com/office/drawing/2014/main" id="{78B03308-9935-C8B1-C89A-91655B157E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C581194-BD3C-A40F-4E7A-BEBA7E0D1C4D}"/>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512763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79A2C-5A56-6581-8424-2D43313FCD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D323190-E5F3-D5FC-3ED9-52E5FCFA0153}"/>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4" name="Footer Placeholder 3">
            <a:extLst>
              <a:ext uri="{FF2B5EF4-FFF2-40B4-BE49-F238E27FC236}">
                <a16:creationId xmlns:a16="http://schemas.microsoft.com/office/drawing/2014/main" id="{1A780F8F-BC44-77C8-30BC-B62DDF64098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1A49CC2-2CF7-E304-42B5-6D6F71E667C5}"/>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369232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F6251A-13C1-9806-CBDB-8A6CB50D549E}"/>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3" name="Footer Placeholder 2">
            <a:extLst>
              <a:ext uri="{FF2B5EF4-FFF2-40B4-BE49-F238E27FC236}">
                <a16:creationId xmlns:a16="http://schemas.microsoft.com/office/drawing/2014/main" id="{049E944E-0AE9-C319-1B7D-22A971F581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D09AFED-4686-1D22-3E1F-FEF2B9F1CABD}"/>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2503132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D3A9C-5C45-7BF5-B37F-38C580B608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6A2DE7-0BA7-1C01-5682-ADA07C6D47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4E7A865-4E74-BF03-C5FD-0198F0A840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B6C69-DA25-CED3-5D87-10CE3D2DC4E4}"/>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6" name="Footer Placeholder 5">
            <a:extLst>
              <a:ext uri="{FF2B5EF4-FFF2-40B4-BE49-F238E27FC236}">
                <a16:creationId xmlns:a16="http://schemas.microsoft.com/office/drawing/2014/main" id="{2CDF54DC-73E5-6C34-40C4-640F46A9BE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FE622B-194D-B257-5636-DCFCBD2C3F25}"/>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2121559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97C9C-4DF8-E5D3-CD63-534E2500FA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DE368D-938E-776D-CD61-5AFD35EC4D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6B5830-7E9D-7E66-63CC-B9143A5D31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221CDE-B5E6-0813-C064-0433562D7E8A}"/>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6" name="Footer Placeholder 5">
            <a:extLst>
              <a:ext uri="{FF2B5EF4-FFF2-40B4-BE49-F238E27FC236}">
                <a16:creationId xmlns:a16="http://schemas.microsoft.com/office/drawing/2014/main" id="{71F14A34-F453-CCC4-DA0F-B99FD83F13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79A98F-7B85-D644-5018-33CC6DE0FE86}"/>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80339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BD105-0CC0-6142-D009-798CF8234E4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47C69D-8418-B58A-962C-026197DFEC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49902-C39B-C5E4-B0CB-A35297A284ED}"/>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5" name="Footer Placeholder 4">
            <a:extLst>
              <a:ext uri="{FF2B5EF4-FFF2-40B4-BE49-F238E27FC236}">
                <a16:creationId xmlns:a16="http://schemas.microsoft.com/office/drawing/2014/main" id="{30D7A36B-FCBF-90F6-93F4-C602F5DF14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9CDCA2-8C79-0D1C-B2F9-4658A3961D00}"/>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240043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232A12-4023-DF31-E117-08D6F56202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A3E893-A323-C851-E032-987DB9A543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17BFB1-B40D-8CD1-3567-488C62DC86DA}"/>
              </a:ext>
            </a:extLst>
          </p:cNvPr>
          <p:cNvSpPr>
            <a:spLocks noGrp="1"/>
          </p:cNvSpPr>
          <p:nvPr>
            <p:ph type="dt" sz="half" idx="10"/>
          </p:nvPr>
        </p:nvSpPr>
        <p:spPr/>
        <p:txBody>
          <a:bodyPr/>
          <a:lstStyle/>
          <a:p>
            <a:fld id="{B7C89C3F-E228-441F-9FD0-201C9E744FBF}" type="datetimeFigureOut">
              <a:rPr lang="en-IN" smtClean="0"/>
              <a:t>27-02-2026</a:t>
            </a:fld>
            <a:endParaRPr lang="en-IN"/>
          </a:p>
        </p:txBody>
      </p:sp>
      <p:sp>
        <p:nvSpPr>
          <p:cNvPr id="5" name="Footer Placeholder 4">
            <a:extLst>
              <a:ext uri="{FF2B5EF4-FFF2-40B4-BE49-F238E27FC236}">
                <a16:creationId xmlns:a16="http://schemas.microsoft.com/office/drawing/2014/main" id="{8B780860-6BBB-1FD4-1470-13A9290BB9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72F50B-A739-3A07-45A4-4AD30A488642}"/>
              </a:ext>
            </a:extLst>
          </p:cNvPr>
          <p:cNvSpPr>
            <a:spLocks noGrp="1"/>
          </p:cNvSpPr>
          <p:nvPr>
            <p:ph type="sldNum" sz="quarter" idx="12"/>
          </p:nvPr>
        </p:nvSpPr>
        <p:spPr/>
        <p:txBody>
          <a:bodyPr/>
          <a:lstStyle/>
          <a:p>
            <a:fld id="{1C961099-A006-41DF-B1B9-F2FBAEC8F79B}" type="slidenum">
              <a:rPr lang="en-IN" smtClean="0"/>
              <a:t>‹#›</a:t>
            </a:fld>
            <a:endParaRPr lang="en-IN"/>
          </a:p>
        </p:txBody>
      </p:sp>
    </p:spTree>
    <p:extLst>
      <p:ext uri="{BB962C8B-B14F-4D97-AF65-F5344CB8AC3E}">
        <p14:creationId xmlns:p14="http://schemas.microsoft.com/office/powerpoint/2010/main" val="2989866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4F82C2-0DBE-8FB0-D907-D7DBF2A4DD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B0DA4E-DE75-2FB6-7E6A-594D0DF410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5E956-50B4-73B9-BB2E-2ED841A16D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C89C3F-E228-441F-9FD0-201C9E744FBF}" type="datetimeFigureOut">
              <a:rPr lang="en-IN" smtClean="0"/>
              <a:t>27-02-2026</a:t>
            </a:fld>
            <a:endParaRPr lang="en-IN"/>
          </a:p>
        </p:txBody>
      </p:sp>
      <p:sp>
        <p:nvSpPr>
          <p:cNvPr id="5" name="Footer Placeholder 4">
            <a:extLst>
              <a:ext uri="{FF2B5EF4-FFF2-40B4-BE49-F238E27FC236}">
                <a16:creationId xmlns:a16="http://schemas.microsoft.com/office/drawing/2014/main" id="{F0E3382A-71C0-4685-6A16-ACDB8CED2D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DE4C9C-0754-C103-E65F-AB6281B044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61099-A006-41DF-B1B9-F2FBAEC8F79B}" type="slidenum">
              <a:rPr lang="en-IN" smtClean="0"/>
              <a:t>‹#›</a:t>
            </a:fld>
            <a:endParaRPr lang="en-IN"/>
          </a:p>
        </p:txBody>
      </p:sp>
    </p:spTree>
    <p:extLst>
      <p:ext uri="{BB962C8B-B14F-4D97-AF65-F5344CB8AC3E}">
        <p14:creationId xmlns:p14="http://schemas.microsoft.com/office/powerpoint/2010/main" val="3080545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java/java-functional-interface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35BE5-AD84-C8B5-33E8-6E2E0B5386AD}"/>
              </a:ext>
            </a:extLst>
          </p:cNvPr>
          <p:cNvSpPr>
            <a:spLocks noGrp="1"/>
          </p:cNvSpPr>
          <p:nvPr>
            <p:ph type="ctrTitle"/>
          </p:nvPr>
        </p:nvSpPr>
        <p:spPr>
          <a:xfrm>
            <a:off x="1524000" y="1122363"/>
            <a:ext cx="9144000" cy="1556829"/>
          </a:xfrm>
        </p:spPr>
        <p:txBody>
          <a:bodyPr/>
          <a:lstStyle/>
          <a:p>
            <a:r>
              <a:rPr lang="en-US" dirty="0"/>
              <a:t>UNIT-1</a:t>
            </a:r>
            <a:endParaRPr lang="en-IN" dirty="0"/>
          </a:p>
        </p:txBody>
      </p:sp>
      <p:sp>
        <p:nvSpPr>
          <p:cNvPr id="3" name="Subtitle 2">
            <a:extLst>
              <a:ext uri="{FF2B5EF4-FFF2-40B4-BE49-F238E27FC236}">
                <a16:creationId xmlns:a16="http://schemas.microsoft.com/office/drawing/2014/main" id="{52083AFA-0C7F-C1B2-9A1A-15DB909A6650}"/>
              </a:ext>
            </a:extLst>
          </p:cNvPr>
          <p:cNvSpPr>
            <a:spLocks noGrp="1"/>
          </p:cNvSpPr>
          <p:nvPr>
            <p:ph type="subTitle" idx="1"/>
          </p:nvPr>
        </p:nvSpPr>
        <p:spPr/>
        <p:txBody>
          <a:bodyPr>
            <a:normAutofit/>
          </a:bodyPr>
          <a:lstStyle/>
          <a:p>
            <a:r>
              <a:rPr lang="en-IN" sz="4000" dirty="0"/>
              <a:t>Java New Features</a:t>
            </a:r>
          </a:p>
        </p:txBody>
      </p:sp>
    </p:spTree>
    <p:extLst>
      <p:ext uri="{BB962C8B-B14F-4D97-AF65-F5344CB8AC3E}">
        <p14:creationId xmlns:p14="http://schemas.microsoft.com/office/powerpoint/2010/main" val="1736887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ADC5-49F7-2A57-87F2-49D58D904591}"/>
              </a:ext>
            </a:extLst>
          </p:cNvPr>
          <p:cNvSpPr>
            <a:spLocks noGrp="1"/>
          </p:cNvSpPr>
          <p:nvPr>
            <p:ph type="title"/>
          </p:nvPr>
        </p:nvSpPr>
        <p:spPr/>
        <p:txBody>
          <a:bodyPr/>
          <a:lstStyle/>
          <a:p>
            <a:r>
              <a:rPr lang="en-IN" dirty="0"/>
              <a:t>Functional Interface</a:t>
            </a:r>
          </a:p>
        </p:txBody>
      </p:sp>
      <p:sp>
        <p:nvSpPr>
          <p:cNvPr id="3" name="Content Placeholder 2">
            <a:extLst>
              <a:ext uri="{FF2B5EF4-FFF2-40B4-BE49-F238E27FC236}">
                <a16:creationId xmlns:a16="http://schemas.microsoft.com/office/drawing/2014/main" id="{31F15BC3-8090-05E1-0E9F-4055A167C93B}"/>
              </a:ext>
            </a:extLst>
          </p:cNvPr>
          <p:cNvSpPr>
            <a:spLocks noGrp="1"/>
          </p:cNvSpPr>
          <p:nvPr>
            <p:ph idx="1"/>
          </p:nvPr>
        </p:nvSpPr>
        <p:spPr/>
        <p:txBody>
          <a:bodyPr/>
          <a:lstStyle/>
          <a:p>
            <a:pPr marL="0" indent="0">
              <a:buNone/>
            </a:pPr>
            <a:r>
              <a:rPr lang="en-US" dirty="0"/>
              <a:t>A </a:t>
            </a:r>
            <a:r>
              <a:rPr lang="en-US" b="1" dirty="0"/>
              <a:t>Functional Interface</a:t>
            </a:r>
            <a:r>
              <a:rPr lang="en-US" dirty="0"/>
              <a:t> is an interface that contains </a:t>
            </a:r>
            <a:r>
              <a:rPr lang="en-US" b="1" dirty="0"/>
              <a:t>exactly one abstract method</a:t>
            </a:r>
            <a:r>
              <a:rPr lang="en-US" dirty="0"/>
              <a:t>.</a:t>
            </a:r>
          </a:p>
          <a:p>
            <a:pPr marL="0" indent="0">
              <a:buNone/>
            </a:pPr>
            <a:r>
              <a:rPr lang="en-US" dirty="0"/>
              <a:t>It can have:</a:t>
            </a:r>
          </a:p>
          <a:p>
            <a:r>
              <a:rPr lang="en-US" dirty="0"/>
              <a:t>Only </a:t>
            </a:r>
            <a:r>
              <a:rPr lang="en-US" b="1" dirty="0"/>
              <a:t>one abstract method</a:t>
            </a:r>
            <a:endParaRPr lang="en-US" dirty="0"/>
          </a:p>
          <a:p>
            <a:r>
              <a:rPr lang="en-US" dirty="0"/>
              <a:t>Any number of </a:t>
            </a:r>
            <a:r>
              <a:rPr lang="en-US" b="1" dirty="0"/>
              <a:t>default methods</a:t>
            </a:r>
            <a:endParaRPr lang="en-US" dirty="0"/>
          </a:p>
          <a:p>
            <a:r>
              <a:rPr lang="en-US" dirty="0"/>
              <a:t>Any number of </a:t>
            </a:r>
            <a:r>
              <a:rPr lang="en-US" b="1" dirty="0"/>
              <a:t>static methods</a:t>
            </a:r>
            <a:endParaRPr lang="en-US" dirty="0"/>
          </a:p>
          <a:p>
            <a:r>
              <a:rPr lang="en-US" dirty="0"/>
              <a:t>Methods from </a:t>
            </a:r>
            <a:r>
              <a:rPr lang="en-US" dirty="0" err="1"/>
              <a:t>java.lang.Object</a:t>
            </a:r>
            <a:r>
              <a:rPr lang="en-US" dirty="0"/>
              <a:t> (like </a:t>
            </a:r>
            <a:r>
              <a:rPr lang="en-US" dirty="0" err="1"/>
              <a:t>toString</a:t>
            </a:r>
            <a:r>
              <a:rPr lang="en-US" dirty="0"/>
              <a:t>(), equals())</a:t>
            </a:r>
          </a:p>
          <a:p>
            <a:r>
              <a:rPr lang="en-IN" dirty="0"/>
              <a:t>A</a:t>
            </a:r>
            <a:r>
              <a:rPr lang="en-IN" b="1" dirty="0"/>
              <a:t> f</a:t>
            </a:r>
            <a:r>
              <a:rPr lang="en-IN" dirty="0"/>
              <a:t>unctional interface can also extend another functional interface</a:t>
            </a:r>
            <a:r>
              <a:rPr lang="en-IN" i="1" dirty="0"/>
              <a:t>.</a:t>
            </a:r>
            <a:endParaRPr lang="en-IN" dirty="0"/>
          </a:p>
          <a:p>
            <a:endParaRPr lang="en-US" dirty="0"/>
          </a:p>
          <a:p>
            <a:pPr marL="0" indent="0">
              <a:buNone/>
            </a:pPr>
            <a:endParaRPr lang="en-IN" dirty="0"/>
          </a:p>
        </p:txBody>
      </p:sp>
    </p:spTree>
    <p:extLst>
      <p:ext uri="{BB962C8B-B14F-4D97-AF65-F5344CB8AC3E}">
        <p14:creationId xmlns:p14="http://schemas.microsoft.com/office/powerpoint/2010/main" val="675096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D9D9C-86B3-DC32-8555-6C646B4D2CFC}"/>
              </a:ext>
            </a:extLst>
          </p:cNvPr>
          <p:cNvSpPr>
            <a:spLocks noGrp="1"/>
          </p:cNvSpPr>
          <p:nvPr>
            <p:ph type="title"/>
          </p:nvPr>
        </p:nvSpPr>
        <p:spPr>
          <a:xfrm flipV="1">
            <a:off x="838200" y="319406"/>
            <a:ext cx="10515600" cy="45719"/>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8F771B0C-9C7F-F401-1DFF-D035EA66A23D}"/>
              </a:ext>
            </a:extLst>
          </p:cNvPr>
          <p:cNvSpPr>
            <a:spLocks noGrp="1"/>
          </p:cNvSpPr>
          <p:nvPr>
            <p:ph idx="1"/>
          </p:nvPr>
        </p:nvSpPr>
        <p:spPr>
          <a:xfrm>
            <a:off x="838200" y="557784"/>
            <a:ext cx="10515600" cy="5619179"/>
          </a:xfrm>
        </p:spPr>
        <p:txBody>
          <a:bodyPr/>
          <a:lstStyle/>
          <a:p>
            <a:pPr marL="0" indent="0">
              <a:buNone/>
            </a:pPr>
            <a:r>
              <a:rPr lang="en-IN" b="1" dirty="0"/>
              <a:t>Annotation</a:t>
            </a:r>
            <a:endParaRPr lang="en-IN" dirty="0"/>
          </a:p>
          <a:p>
            <a:pPr marL="0" indent="0">
              <a:buNone/>
            </a:pPr>
            <a:r>
              <a:rPr lang="en-IN" dirty="0"/>
              <a:t>@FunctionalInterface</a:t>
            </a:r>
          </a:p>
          <a:p>
            <a:pPr marL="0" indent="0">
              <a:buNone/>
            </a:pPr>
            <a:r>
              <a:rPr lang="en-IN" b="1" dirty="0"/>
              <a:t>Example</a:t>
            </a:r>
            <a:endParaRPr lang="en-IN" dirty="0"/>
          </a:p>
          <a:p>
            <a:pPr marL="0" indent="0">
              <a:buNone/>
            </a:pPr>
            <a:r>
              <a:rPr lang="en-IN" dirty="0"/>
              <a:t>@FunctionalInterface</a:t>
            </a:r>
          </a:p>
          <a:p>
            <a:pPr marL="0" indent="0">
              <a:buNone/>
            </a:pPr>
            <a:r>
              <a:rPr lang="en-IN" dirty="0"/>
              <a:t>interface </a:t>
            </a:r>
            <a:r>
              <a:rPr lang="en-IN" dirty="0" err="1"/>
              <a:t>MyInterface</a:t>
            </a:r>
            <a:r>
              <a:rPr lang="en-IN" dirty="0"/>
              <a:t> {</a:t>
            </a:r>
          </a:p>
          <a:p>
            <a:pPr marL="0" indent="0">
              <a:buNone/>
            </a:pPr>
            <a:r>
              <a:rPr lang="en-IN" dirty="0"/>
              <a:t>    void show();</a:t>
            </a:r>
          </a:p>
          <a:p>
            <a:pPr marL="0" indent="0">
              <a:buNone/>
            </a:pPr>
            <a:r>
              <a:rPr lang="en-IN" dirty="0"/>
              <a:t>}</a:t>
            </a:r>
          </a:p>
          <a:p>
            <a:pPr marL="0" indent="0">
              <a:buNone/>
            </a:pPr>
            <a:endParaRPr lang="en-IN" dirty="0"/>
          </a:p>
          <a:p>
            <a:pPr marL="0" indent="0">
              <a:buNone/>
            </a:pPr>
            <a:r>
              <a:rPr lang="en-IN" dirty="0"/>
              <a:t>(If multiple abstract methods are present, the compiler throws an “Unexpected @FunctionalInterface annotation” error)</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778152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23041-E2D3-7C15-34B7-FA11DA4C4980}"/>
              </a:ext>
            </a:extLst>
          </p:cNvPr>
          <p:cNvSpPr>
            <a:spLocks noGrp="1"/>
          </p:cNvSpPr>
          <p:nvPr>
            <p:ph type="title"/>
          </p:nvPr>
        </p:nvSpPr>
        <p:spPr>
          <a:xfrm>
            <a:off x="838200" y="365125"/>
            <a:ext cx="10515600" cy="220091"/>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87240AD7-65D8-FD6C-A4B6-9B55BAED60B2}"/>
              </a:ext>
            </a:extLst>
          </p:cNvPr>
          <p:cNvSpPr>
            <a:spLocks noGrp="1"/>
          </p:cNvSpPr>
          <p:nvPr>
            <p:ph idx="1"/>
          </p:nvPr>
        </p:nvSpPr>
        <p:spPr>
          <a:xfrm>
            <a:off x="838200" y="877824"/>
            <a:ext cx="10515600" cy="5299139"/>
          </a:xfrm>
        </p:spPr>
        <p:txBody>
          <a:bodyPr/>
          <a:lstStyle/>
          <a:p>
            <a:pPr marL="0" indent="0">
              <a:buNone/>
            </a:pPr>
            <a:r>
              <a:rPr lang="en-IN" b="1" dirty="0"/>
              <a:t>Uses</a:t>
            </a:r>
            <a:endParaRPr lang="en-IN" dirty="0"/>
          </a:p>
          <a:p>
            <a:pPr marL="0" lvl="0" indent="0">
              <a:buNone/>
            </a:pPr>
            <a:r>
              <a:rPr lang="en-IN" dirty="0"/>
              <a:t>Enables </a:t>
            </a:r>
            <a:r>
              <a:rPr lang="en-IN" b="1" dirty="0"/>
              <a:t>functional programming</a:t>
            </a:r>
            <a:endParaRPr lang="en-IN" dirty="0"/>
          </a:p>
          <a:p>
            <a:pPr marL="0" lvl="0" indent="0">
              <a:buNone/>
            </a:pPr>
            <a:r>
              <a:rPr lang="en-IN" dirty="0"/>
              <a:t>Used with </a:t>
            </a:r>
            <a:r>
              <a:rPr lang="en-IN" b="1" dirty="0"/>
              <a:t>lambda expressions</a:t>
            </a:r>
            <a:endParaRPr lang="en-IN" dirty="0"/>
          </a:p>
          <a:p>
            <a:pPr marL="0" lvl="0" indent="0">
              <a:buNone/>
            </a:pPr>
            <a:r>
              <a:rPr lang="en-IN" dirty="0"/>
              <a:t>Used in </a:t>
            </a:r>
            <a:r>
              <a:rPr lang="en-IN" b="1" dirty="0"/>
              <a:t>Stream API</a:t>
            </a:r>
          </a:p>
          <a:p>
            <a:pPr marL="0" lvl="0" indent="0">
              <a:buNone/>
            </a:pPr>
            <a:endParaRPr lang="en-IN" b="1" dirty="0"/>
          </a:p>
          <a:p>
            <a:r>
              <a:rPr lang="en-IN" b="1" dirty="0"/>
              <a:t>Advantages</a:t>
            </a:r>
            <a:endParaRPr lang="en-IN" dirty="0"/>
          </a:p>
          <a:p>
            <a:pPr marL="0" lvl="0" indent="0">
              <a:buNone/>
            </a:pPr>
            <a:r>
              <a:rPr lang="en-IN" dirty="0"/>
              <a:t>Reduces boilerplate code</a:t>
            </a:r>
          </a:p>
          <a:p>
            <a:pPr marL="0" lvl="0" indent="0">
              <a:buNone/>
            </a:pPr>
            <a:r>
              <a:rPr lang="en-IN" dirty="0"/>
              <a:t>Improves readability</a:t>
            </a:r>
          </a:p>
          <a:p>
            <a:pPr marL="0" lvl="0" indent="0">
              <a:buNone/>
            </a:pPr>
            <a:r>
              <a:rPr lang="en-IN" dirty="0"/>
              <a:t>Encourages clean design</a:t>
            </a:r>
          </a:p>
          <a:p>
            <a:pPr marL="0" lvl="0" indent="0">
              <a:buNone/>
            </a:pPr>
            <a:endParaRPr lang="en-IN" dirty="0"/>
          </a:p>
          <a:p>
            <a:pPr marL="0" indent="0">
              <a:buNone/>
            </a:pPr>
            <a:endParaRPr lang="en-IN" dirty="0"/>
          </a:p>
        </p:txBody>
      </p:sp>
    </p:spTree>
    <p:extLst>
      <p:ext uri="{BB962C8B-B14F-4D97-AF65-F5344CB8AC3E}">
        <p14:creationId xmlns:p14="http://schemas.microsoft.com/office/powerpoint/2010/main" val="1667494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FE650-3AB2-14C6-ECB6-5B49FAAB169C}"/>
              </a:ext>
            </a:extLst>
          </p:cNvPr>
          <p:cNvSpPr>
            <a:spLocks noGrp="1"/>
          </p:cNvSpPr>
          <p:nvPr>
            <p:ph type="title"/>
          </p:nvPr>
        </p:nvSpPr>
        <p:spPr>
          <a:xfrm>
            <a:off x="838200" y="365126"/>
            <a:ext cx="10515600" cy="315912"/>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691015CC-B018-10DE-C2E5-690D41B1F5FE}"/>
              </a:ext>
            </a:extLst>
          </p:cNvPr>
          <p:cNvSpPr>
            <a:spLocks noGrp="1"/>
          </p:cNvSpPr>
          <p:nvPr>
            <p:ph idx="1"/>
          </p:nvPr>
        </p:nvSpPr>
        <p:spPr>
          <a:xfrm>
            <a:off x="838200" y="539496"/>
            <a:ext cx="10515600" cy="5637467"/>
          </a:xfrm>
        </p:spPr>
        <p:txBody>
          <a:bodyPr>
            <a:normAutofit fontScale="55000" lnSpcReduction="20000"/>
          </a:bodyPr>
          <a:lstStyle/>
          <a:p>
            <a:pPr marL="0" indent="0">
              <a:buNone/>
            </a:pPr>
            <a:r>
              <a:rPr lang="en-IN" b="1" dirty="0"/>
              <a:t>EXAMPLE </a:t>
            </a:r>
            <a:endParaRPr lang="en-IN" dirty="0"/>
          </a:p>
          <a:p>
            <a:pPr marL="0" indent="0">
              <a:buNone/>
            </a:pPr>
            <a:r>
              <a:rPr lang="en-IN" dirty="0"/>
              <a:t>@FunctionalInterface</a:t>
            </a:r>
          </a:p>
          <a:p>
            <a:pPr marL="0" indent="0">
              <a:buNone/>
            </a:pPr>
            <a:r>
              <a:rPr lang="en-IN" dirty="0"/>
              <a:t> </a:t>
            </a:r>
          </a:p>
          <a:p>
            <a:pPr marL="0" indent="0">
              <a:buNone/>
            </a:pPr>
            <a:r>
              <a:rPr lang="en-IN" dirty="0"/>
              <a:t>interface Square {</a:t>
            </a:r>
          </a:p>
          <a:p>
            <a:pPr marL="0" indent="0">
              <a:buNone/>
            </a:pPr>
            <a:r>
              <a:rPr lang="en-IN" dirty="0"/>
              <a:t>    int calculate(int x);</a:t>
            </a:r>
          </a:p>
          <a:p>
            <a:pPr marL="0" indent="0">
              <a:buNone/>
            </a:pPr>
            <a:r>
              <a:rPr lang="en-IN" dirty="0"/>
              <a:t>}</a:t>
            </a:r>
          </a:p>
          <a:p>
            <a:pPr marL="0" indent="0">
              <a:buNone/>
            </a:pPr>
            <a:r>
              <a:rPr lang="en-IN" dirty="0"/>
              <a:t>class Test {</a:t>
            </a:r>
          </a:p>
          <a:p>
            <a:pPr marL="0" indent="0">
              <a:buNone/>
            </a:pPr>
            <a:r>
              <a:rPr lang="en-IN" dirty="0"/>
              <a:t>    public static void main(String </a:t>
            </a:r>
            <a:r>
              <a:rPr lang="en-IN" dirty="0" err="1"/>
              <a:t>args</a:t>
            </a:r>
            <a:r>
              <a:rPr lang="en-IN" dirty="0"/>
              <a:t>[]) {</a:t>
            </a:r>
          </a:p>
          <a:p>
            <a:pPr marL="0" indent="0">
              <a:buNone/>
            </a:pPr>
            <a:r>
              <a:rPr lang="en-IN" dirty="0"/>
              <a:t>        int a = 5;</a:t>
            </a:r>
          </a:p>
          <a:p>
            <a:pPr marL="0" indent="0">
              <a:buNone/>
            </a:pPr>
            <a:r>
              <a:rPr lang="en-IN" dirty="0"/>
              <a:t> </a:t>
            </a:r>
          </a:p>
          <a:p>
            <a:pPr marL="0" indent="0">
              <a:buNone/>
            </a:pPr>
            <a:r>
              <a:rPr lang="en-IN" dirty="0"/>
              <a:t>        // lambda expression to define the calculate method</a:t>
            </a:r>
          </a:p>
          <a:p>
            <a:pPr marL="0" indent="0">
              <a:buNone/>
            </a:pPr>
            <a:r>
              <a:rPr lang="en-IN" dirty="0"/>
              <a:t>  Square s = (int x) -&gt; x * x;</a:t>
            </a:r>
          </a:p>
          <a:p>
            <a:pPr marL="0" indent="0">
              <a:buNone/>
            </a:pPr>
            <a:r>
              <a:rPr lang="en-IN" dirty="0"/>
              <a:t> </a:t>
            </a:r>
          </a:p>
          <a:p>
            <a:pPr marL="0" indent="0">
              <a:buNone/>
            </a:pPr>
            <a:r>
              <a:rPr lang="en-IN" dirty="0"/>
              <a:t>        // parameter passed and return type must be same as defined in the prototype</a:t>
            </a:r>
          </a:p>
          <a:p>
            <a:pPr marL="0" indent="0">
              <a:buNone/>
            </a:pPr>
            <a:r>
              <a:rPr lang="en-IN" dirty="0"/>
              <a:t>        int </a:t>
            </a:r>
            <a:r>
              <a:rPr lang="en-IN" dirty="0" err="1"/>
              <a:t>ans</a:t>
            </a:r>
            <a:r>
              <a:rPr lang="en-IN" dirty="0"/>
              <a:t> = </a:t>
            </a:r>
            <a:r>
              <a:rPr lang="en-IN" dirty="0" err="1"/>
              <a:t>s.calculate</a:t>
            </a:r>
            <a:r>
              <a:rPr lang="en-IN" dirty="0"/>
              <a:t>(a);</a:t>
            </a:r>
          </a:p>
          <a:p>
            <a:pPr marL="0" indent="0">
              <a:buNone/>
            </a:pPr>
            <a:r>
              <a:rPr lang="en-IN" dirty="0"/>
              <a:t>        </a:t>
            </a:r>
            <a:r>
              <a:rPr lang="en-IN" dirty="0" err="1"/>
              <a:t>System.out.println</a:t>
            </a:r>
            <a:r>
              <a:rPr lang="en-IN" dirty="0"/>
              <a:t>(</a:t>
            </a:r>
            <a:r>
              <a:rPr lang="en-IN" dirty="0" err="1"/>
              <a:t>ans</a:t>
            </a:r>
            <a:r>
              <a:rPr lang="en-IN" dirty="0"/>
              <a:t>);</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61327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6A691-308E-48E2-F3E1-4F2B7F7BCE27}"/>
              </a:ext>
            </a:extLst>
          </p:cNvPr>
          <p:cNvSpPr>
            <a:spLocks noGrp="1"/>
          </p:cNvSpPr>
          <p:nvPr>
            <p:ph type="title"/>
          </p:nvPr>
        </p:nvSpPr>
        <p:spPr/>
        <p:txBody>
          <a:bodyPr/>
          <a:lstStyle/>
          <a:p>
            <a:r>
              <a:rPr lang="en-IN" b="1" dirty="0"/>
              <a:t>Lambda Expression</a:t>
            </a:r>
            <a:br>
              <a:rPr lang="en-IN" b="1" dirty="0"/>
            </a:br>
            <a:endParaRPr lang="en-IN" dirty="0"/>
          </a:p>
        </p:txBody>
      </p:sp>
      <p:sp>
        <p:nvSpPr>
          <p:cNvPr id="3" name="Content Placeholder 2">
            <a:extLst>
              <a:ext uri="{FF2B5EF4-FFF2-40B4-BE49-F238E27FC236}">
                <a16:creationId xmlns:a16="http://schemas.microsoft.com/office/drawing/2014/main" id="{896CD35F-FBF7-1F05-DD09-05E344E5680A}"/>
              </a:ext>
            </a:extLst>
          </p:cNvPr>
          <p:cNvSpPr>
            <a:spLocks noGrp="1"/>
          </p:cNvSpPr>
          <p:nvPr>
            <p:ph idx="1"/>
          </p:nvPr>
        </p:nvSpPr>
        <p:spPr>
          <a:xfrm>
            <a:off x="838200" y="1078992"/>
            <a:ext cx="10515600" cy="5097971"/>
          </a:xfrm>
        </p:spPr>
        <p:txBody>
          <a:bodyPr>
            <a:normAutofit fontScale="70000" lnSpcReduction="20000"/>
          </a:bodyPr>
          <a:lstStyle/>
          <a:p>
            <a:pPr marL="0" indent="0">
              <a:buNone/>
            </a:pPr>
            <a:r>
              <a:rPr lang="en-IN" dirty="0"/>
              <a:t>A </a:t>
            </a:r>
            <a:r>
              <a:rPr lang="en-IN" b="1" dirty="0"/>
              <a:t>Lambda Expression</a:t>
            </a:r>
            <a:r>
              <a:rPr lang="en-IN" dirty="0"/>
              <a:t> is an anonymous function that provides a shorter syntax to implement a functional interface.</a:t>
            </a:r>
          </a:p>
          <a:p>
            <a:pPr marL="0" indent="0">
              <a:buNone/>
            </a:pPr>
            <a:endParaRPr lang="en-IN" dirty="0"/>
          </a:p>
          <a:p>
            <a:pPr marL="0" indent="0">
              <a:buNone/>
            </a:pPr>
            <a:r>
              <a:rPr lang="en-IN" b="1" dirty="0"/>
              <a:t>Syntax of Lambda Expression</a:t>
            </a:r>
            <a:endParaRPr lang="en-IN" dirty="0"/>
          </a:p>
          <a:p>
            <a:pPr marL="0" indent="0">
              <a:buNone/>
            </a:pPr>
            <a:r>
              <a:rPr lang="en-IN" dirty="0"/>
              <a:t>A Java Lambda Expression has three main parts:</a:t>
            </a:r>
          </a:p>
          <a:p>
            <a:pPr marL="0" lvl="0" indent="0">
              <a:buNone/>
            </a:pPr>
            <a:r>
              <a:rPr lang="en-IN" b="1" dirty="0"/>
              <a:t>Parameter List</a:t>
            </a:r>
            <a:r>
              <a:rPr lang="en-IN" dirty="0"/>
              <a:t> – Input values for the expression</a:t>
            </a:r>
          </a:p>
          <a:p>
            <a:pPr marL="0" lvl="0" indent="0">
              <a:buNone/>
            </a:pPr>
            <a:r>
              <a:rPr lang="en-IN" b="1" dirty="0"/>
              <a:t>Arrow Operator (→)</a:t>
            </a:r>
            <a:r>
              <a:rPr lang="en-IN" dirty="0"/>
              <a:t> – Separates parameters and body</a:t>
            </a:r>
          </a:p>
          <a:p>
            <a:pPr marL="0" lvl="0" indent="0">
              <a:buNone/>
            </a:pPr>
            <a:r>
              <a:rPr lang="en-IN" b="1" dirty="0"/>
              <a:t>Body</a:t>
            </a:r>
            <a:r>
              <a:rPr lang="en-IN" dirty="0"/>
              <a:t> – Code to be executed</a:t>
            </a:r>
          </a:p>
          <a:p>
            <a:pPr marL="0" indent="0">
              <a:buNone/>
            </a:pPr>
            <a:r>
              <a:rPr lang="en-IN" dirty="0"/>
              <a:t>(parameters) -&gt; expression</a:t>
            </a:r>
          </a:p>
          <a:p>
            <a:pPr marL="0" indent="0">
              <a:buNone/>
            </a:pPr>
            <a:r>
              <a:rPr lang="en-IN" dirty="0"/>
              <a:t> </a:t>
            </a:r>
          </a:p>
          <a:p>
            <a:pPr marL="0" indent="0">
              <a:buNone/>
            </a:pPr>
            <a:r>
              <a:rPr lang="en-IN" dirty="0" err="1"/>
              <a:t>Eg.</a:t>
            </a:r>
            <a:r>
              <a:rPr lang="en-IN" dirty="0"/>
              <a:t> (int x.int y)-&gt;</a:t>
            </a:r>
            <a:r>
              <a:rPr lang="en-IN" dirty="0" err="1"/>
              <a:t>x+y</a:t>
            </a:r>
            <a:r>
              <a:rPr lang="en-IN" dirty="0"/>
              <a:t>;</a:t>
            </a:r>
          </a:p>
          <a:p>
            <a:pPr marL="0" indent="0">
              <a:buNone/>
            </a:pPr>
            <a:endParaRPr lang="en-IN" dirty="0"/>
          </a:p>
          <a:p>
            <a:pPr marL="0" indent="0" fontAlgn="base">
              <a:buNone/>
            </a:pPr>
            <a:r>
              <a:rPr lang="en-IN" dirty="0"/>
              <a:t>It allow developers to write concise, functional-style code by representing anonymous functions. They enable passing code as parameters or assigning it to variables, resulting in cleaner and more readable programs.</a:t>
            </a:r>
          </a:p>
          <a:p>
            <a:pPr marL="0" lvl="0" indent="0" fontAlgn="base">
              <a:buNone/>
            </a:pPr>
            <a:r>
              <a:rPr lang="en-IN" dirty="0"/>
              <a:t>Lambda expressions implement a </a:t>
            </a:r>
            <a:r>
              <a:rPr lang="en-IN" dirty="0">
                <a:hlinkClick r:id="rId2"/>
              </a:rPr>
              <a:t>functional interface</a:t>
            </a:r>
            <a:r>
              <a:rPr lang="en-IN" dirty="0"/>
              <a:t> (An interface with only one abstract function)</a:t>
            </a:r>
          </a:p>
          <a:p>
            <a:pPr marL="0" indent="0">
              <a:buNone/>
            </a:pPr>
            <a:endParaRPr lang="en-IN" dirty="0"/>
          </a:p>
        </p:txBody>
      </p:sp>
    </p:spTree>
    <p:extLst>
      <p:ext uri="{BB962C8B-B14F-4D97-AF65-F5344CB8AC3E}">
        <p14:creationId xmlns:p14="http://schemas.microsoft.com/office/powerpoint/2010/main" val="150509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2E8F-FDD5-CAFD-4F5A-844AC2FECDE4}"/>
              </a:ext>
            </a:extLst>
          </p:cNvPr>
          <p:cNvSpPr>
            <a:spLocks noGrp="1"/>
          </p:cNvSpPr>
          <p:nvPr>
            <p:ph type="title"/>
          </p:nvPr>
        </p:nvSpPr>
        <p:spPr>
          <a:xfrm>
            <a:off x="838200" y="365125"/>
            <a:ext cx="10515600" cy="741292"/>
          </a:xfrm>
        </p:spPr>
        <p:txBody>
          <a:bodyPr>
            <a:normAutofit fontScale="90000"/>
          </a:bodyPr>
          <a:lstStyle/>
          <a:p>
            <a:r>
              <a:rPr lang="en-IN" dirty="0"/>
              <a:t>Example</a:t>
            </a:r>
            <a:br>
              <a:rPr lang="en-IN" dirty="0"/>
            </a:br>
            <a:endParaRPr lang="en-IN" dirty="0"/>
          </a:p>
        </p:txBody>
      </p:sp>
      <p:sp>
        <p:nvSpPr>
          <p:cNvPr id="3" name="Content Placeholder 2">
            <a:extLst>
              <a:ext uri="{FF2B5EF4-FFF2-40B4-BE49-F238E27FC236}">
                <a16:creationId xmlns:a16="http://schemas.microsoft.com/office/drawing/2014/main" id="{730D143E-2A6E-3A6B-1842-88D346A41491}"/>
              </a:ext>
            </a:extLst>
          </p:cNvPr>
          <p:cNvSpPr>
            <a:spLocks noGrp="1"/>
          </p:cNvSpPr>
          <p:nvPr>
            <p:ph idx="1"/>
          </p:nvPr>
        </p:nvSpPr>
        <p:spPr>
          <a:xfrm>
            <a:off x="838200" y="761143"/>
            <a:ext cx="10515600" cy="5335714"/>
          </a:xfrm>
        </p:spPr>
        <p:txBody>
          <a:bodyPr>
            <a:normAutofit fontScale="55000" lnSpcReduction="20000"/>
          </a:bodyPr>
          <a:lstStyle/>
          <a:p>
            <a:pPr marL="0" indent="0" fontAlgn="base">
              <a:buNone/>
            </a:pPr>
            <a:endParaRPr lang="en-IN" dirty="0"/>
          </a:p>
          <a:p>
            <a:pPr marL="0" indent="0" fontAlgn="base">
              <a:buNone/>
            </a:pPr>
            <a:r>
              <a:rPr lang="en-IN" dirty="0"/>
              <a:t> </a:t>
            </a:r>
          </a:p>
          <a:p>
            <a:pPr marL="0" indent="0" fontAlgn="base">
              <a:buNone/>
            </a:pPr>
            <a:r>
              <a:rPr lang="en-IN" dirty="0"/>
              <a:t>interface Add{</a:t>
            </a:r>
          </a:p>
          <a:p>
            <a:pPr marL="0" indent="0" fontAlgn="base">
              <a:buNone/>
            </a:pPr>
            <a:r>
              <a:rPr lang="en-IN" dirty="0"/>
              <a:t>    </a:t>
            </a:r>
          </a:p>
          <a:p>
            <a:pPr marL="0" indent="0" fontAlgn="base">
              <a:buNone/>
            </a:pPr>
            <a:r>
              <a:rPr lang="en-IN" dirty="0"/>
              <a:t>    int addition(int a, int b);</a:t>
            </a:r>
          </a:p>
          <a:p>
            <a:pPr marL="0" indent="0" fontAlgn="base">
              <a:buNone/>
            </a:pPr>
            <a:r>
              <a:rPr lang="en-IN" dirty="0"/>
              <a:t>}</a:t>
            </a:r>
          </a:p>
          <a:p>
            <a:pPr marL="0" indent="0" fontAlgn="base">
              <a:buNone/>
            </a:pPr>
            <a:r>
              <a:rPr lang="en-IN" dirty="0"/>
              <a:t> </a:t>
            </a:r>
          </a:p>
          <a:p>
            <a:pPr marL="0" indent="0" fontAlgn="base">
              <a:buNone/>
            </a:pPr>
            <a:r>
              <a:rPr lang="en-IN" dirty="0"/>
              <a:t>public class Test{</a:t>
            </a:r>
          </a:p>
          <a:p>
            <a:pPr marL="0" indent="0" fontAlgn="base">
              <a:buNone/>
            </a:pPr>
            <a:r>
              <a:rPr lang="en-IN" dirty="0"/>
              <a:t>    </a:t>
            </a:r>
          </a:p>
          <a:p>
            <a:pPr marL="0" indent="0" fontAlgn="base">
              <a:buNone/>
            </a:pPr>
            <a:r>
              <a:rPr lang="en-IN" dirty="0"/>
              <a:t>    public static void main(String[] </a:t>
            </a:r>
            <a:r>
              <a:rPr lang="en-IN" dirty="0" err="1"/>
              <a:t>args</a:t>
            </a:r>
            <a:r>
              <a:rPr lang="en-IN" dirty="0"/>
              <a:t>){</a:t>
            </a:r>
          </a:p>
          <a:p>
            <a:pPr marL="0" indent="0" fontAlgn="base">
              <a:buNone/>
            </a:pPr>
            <a:r>
              <a:rPr lang="en-IN" dirty="0"/>
              <a:t>        </a:t>
            </a:r>
          </a:p>
          <a:p>
            <a:pPr marL="0" indent="0" fontAlgn="base">
              <a:buNone/>
            </a:pPr>
            <a:r>
              <a:rPr lang="en-IN" dirty="0"/>
              <a:t>        // Lambda expression to add two numbers</a:t>
            </a:r>
          </a:p>
          <a:p>
            <a:pPr marL="0" indent="0" fontAlgn="base">
              <a:buNone/>
            </a:pPr>
            <a:r>
              <a:rPr lang="en-IN" dirty="0"/>
              <a:t>        Add </a:t>
            </a:r>
            <a:r>
              <a:rPr lang="en-IN" dirty="0" err="1"/>
              <a:t>add</a:t>
            </a:r>
            <a:r>
              <a:rPr lang="en-IN" dirty="0"/>
              <a:t> = (a, b) -&gt; a + b;</a:t>
            </a:r>
          </a:p>
          <a:p>
            <a:pPr marL="0" indent="0" fontAlgn="base">
              <a:buNone/>
            </a:pPr>
            <a:r>
              <a:rPr lang="en-IN" dirty="0"/>
              <a:t>        </a:t>
            </a:r>
          </a:p>
          <a:p>
            <a:pPr marL="0" indent="0" fontAlgn="base">
              <a:buNone/>
            </a:pPr>
            <a:r>
              <a:rPr lang="en-IN" dirty="0"/>
              <a:t>        int result = </a:t>
            </a:r>
            <a:r>
              <a:rPr lang="en-IN" dirty="0" err="1"/>
              <a:t>add.addition</a:t>
            </a:r>
            <a:r>
              <a:rPr lang="en-IN" dirty="0"/>
              <a:t>(10, 20);</a:t>
            </a:r>
          </a:p>
          <a:p>
            <a:pPr marL="0" indent="0" fontAlgn="base">
              <a:buNone/>
            </a:pPr>
            <a:r>
              <a:rPr lang="en-IN" dirty="0"/>
              <a:t>        </a:t>
            </a:r>
            <a:r>
              <a:rPr lang="en-IN" dirty="0" err="1"/>
              <a:t>System.out.println</a:t>
            </a:r>
            <a:r>
              <a:rPr lang="en-IN" dirty="0"/>
              <a:t>("Sum: " + result);</a:t>
            </a:r>
          </a:p>
          <a:p>
            <a:pPr marL="0" indent="0" fontAlgn="base">
              <a:buNone/>
            </a:pPr>
            <a:r>
              <a:rPr lang="en-IN" dirty="0"/>
              <a:t>    }</a:t>
            </a:r>
          </a:p>
          <a:p>
            <a:pPr marL="0" indent="0" fontAlgn="base">
              <a:buNone/>
            </a:pPr>
            <a:r>
              <a:rPr lang="en-IN" dirty="0"/>
              <a:t>}</a:t>
            </a:r>
          </a:p>
          <a:p>
            <a:pPr marL="0" indent="0">
              <a:buNone/>
            </a:pPr>
            <a:endParaRPr lang="en-IN" b="1" dirty="0"/>
          </a:p>
        </p:txBody>
      </p:sp>
    </p:spTree>
    <p:extLst>
      <p:ext uri="{BB962C8B-B14F-4D97-AF65-F5344CB8AC3E}">
        <p14:creationId xmlns:p14="http://schemas.microsoft.com/office/powerpoint/2010/main" val="1612613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F8D2-C15B-69C9-A2C2-9A332B609B8F}"/>
              </a:ext>
            </a:extLst>
          </p:cNvPr>
          <p:cNvSpPr>
            <a:spLocks noGrp="1"/>
          </p:cNvSpPr>
          <p:nvPr>
            <p:ph type="title"/>
          </p:nvPr>
        </p:nvSpPr>
        <p:spPr>
          <a:xfrm>
            <a:off x="838200" y="365125"/>
            <a:ext cx="10515600" cy="768731"/>
          </a:xfrm>
        </p:spPr>
        <p:txBody>
          <a:bodyPr>
            <a:normAutofit fontScale="90000"/>
          </a:bodyPr>
          <a:lstStyle/>
          <a:p>
            <a:r>
              <a:rPr lang="en-IN" sz="2800" b="1" dirty="0"/>
              <a:t>Types of Lambda Parameters</a:t>
            </a:r>
            <a:br>
              <a:rPr lang="en-IN" sz="2800" dirty="0"/>
            </a:br>
            <a:endParaRPr lang="en-IN" dirty="0"/>
          </a:p>
        </p:txBody>
      </p:sp>
      <p:sp>
        <p:nvSpPr>
          <p:cNvPr id="3" name="Content Placeholder 2">
            <a:extLst>
              <a:ext uri="{FF2B5EF4-FFF2-40B4-BE49-F238E27FC236}">
                <a16:creationId xmlns:a16="http://schemas.microsoft.com/office/drawing/2014/main" id="{60D9C3F5-A123-87B9-390D-DF705C1EF296}"/>
              </a:ext>
            </a:extLst>
          </p:cNvPr>
          <p:cNvSpPr>
            <a:spLocks noGrp="1"/>
          </p:cNvSpPr>
          <p:nvPr>
            <p:ph idx="1"/>
          </p:nvPr>
        </p:nvSpPr>
        <p:spPr>
          <a:xfrm>
            <a:off x="838200" y="859536"/>
            <a:ext cx="10515600" cy="5317427"/>
          </a:xfrm>
        </p:spPr>
        <p:txBody>
          <a:bodyPr>
            <a:normAutofit fontScale="47500" lnSpcReduction="20000"/>
          </a:bodyPr>
          <a:lstStyle/>
          <a:p>
            <a:pPr marL="0" indent="0">
              <a:buNone/>
            </a:pPr>
            <a:r>
              <a:rPr lang="en-IN" dirty="0"/>
              <a:t>There are </a:t>
            </a:r>
            <a:r>
              <a:rPr lang="en-IN" b="1" dirty="0"/>
              <a:t>4 types of lambda expressions</a:t>
            </a:r>
            <a:r>
              <a:rPr lang="en-IN" dirty="0"/>
              <a:t> based on the number of parameters.</a:t>
            </a:r>
          </a:p>
          <a:p>
            <a:pPr marL="0" indent="0">
              <a:buNone/>
            </a:pPr>
            <a:endParaRPr lang="en-IN" dirty="0"/>
          </a:p>
          <a:p>
            <a:pPr marL="0" indent="0">
              <a:buNone/>
            </a:pPr>
            <a:r>
              <a:rPr lang="en-IN" b="1" dirty="0"/>
              <a:t>1. Lambda Expression with Zero Parameters</a:t>
            </a:r>
            <a:endParaRPr lang="en-IN" dirty="0"/>
          </a:p>
          <a:p>
            <a:pPr marL="0" indent="0">
              <a:buNone/>
            </a:pPr>
            <a:r>
              <a:rPr lang="en-IN" dirty="0"/>
              <a:t>A lambda expression that does not take any input value.</a:t>
            </a:r>
          </a:p>
          <a:p>
            <a:pPr marL="0" indent="0">
              <a:buNone/>
            </a:pPr>
            <a:r>
              <a:rPr lang="en-IN" b="1" dirty="0"/>
              <a:t>Syntax</a:t>
            </a:r>
            <a:endParaRPr lang="en-IN" dirty="0"/>
          </a:p>
          <a:p>
            <a:pPr marL="0" indent="0">
              <a:buNone/>
            </a:pPr>
            <a:r>
              <a:rPr lang="en-IN" dirty="0"/>
              <a:t>() -&gt; statement;</a:t>
            </a:r>
          </a:p>
          <a:p>
            <a:pPr marL="0" indent="0">
              <a:buNone/>
            </a:pPr>
            <a:r>
              <a:rPr lang="en-IN" b="1" dirty="0"/>
              <a:t>Example</a:t>
            </a:r>
            <a:endParaRPr lang="en-IN" dirty="0"/>
          </a:p>
          <a:p>
            <a:pPr marL="0" indent="0">
              <a:buNone/>
            </a:pPr>
            <a:r>
              <a:rPr lang="en-IN" dirty="0"/>
              <a:t>@FunctionalInterface</a:t>
            </a:r>
          </a:p>
          <a:p>
            <a:pPr marL="0" indent="0">
              <a:buNone/>
            </a:pPr>
            <a:r>
              <a:rPr lang="en-IN" dirty="0"/>
              <a:t>interface </a:t>
            </a:r>
            <a:r>
              <a:rPr lang="en-IN" dirty="0" err="1"/>
              <a:t>ZeroParameter</a:t>
            </a:r>
            <a:r>
              <a:rPr lang="en-IN" dirty="0"/>
              <a:t> {</a:t>
            </a:r>
          </a:p>
          <a:p>
            <a:pPr marL="0" indent="0">
              <a:buNone/>
            </a:pPr>
            <a:r>
              <a:rPr lang="en-IN" dirty="0"/>
              <a:t>    void display();</a:t>
            </a:r>
          </a:p>
          <a:p>
            <a:pPr marL="0" indent="0">
              <a:buNone/>
            </a:pPr>
            <a:r>
              <a:rPr lang="en-IN" dirty="0"/>
              <a:t>}</a:t>
            </a:r>
          </a:p>
          <a:p>
            <a:pPr marL="0" indent="0">
              <a:buNone/>
            </a:pPr>
            <a:r>
              <a:rPr lang="en-IN" dirty="0"/>
              <a:t> </a:t>
            </a:r>
          </a:p>
          <a:p>
            <a:pPr marL="0" indent="0">
              <a:buNone/>
            </a:pPr>
            <a:r>
              <a:rPr lang="en-IN" dirty="0"/>
              <a:t>public class Test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ZeroParameter</a:t>
            </a:r>
            <a:r>
              <a:rPr lang="en-IN" dirty="0"/>
              <a:t> </a:t>
            </a:r>
            <a:r>
              <a:rPr lang="en-IN" dirty="0" err="1"/>
              <a:t>zp</a:t>
            </a:r>
            <a:r>
              <a:rPr lang="en-IN" dirty="0"/>
              <a:t> = () -&gt; </a:t>
            </a:r>
          </a:p>
          <a:p>
            <a:pPr marL="0" indent="0">
              <a:buNone/>
            </a:pPr>
            <a:r>
              <a:rPr lang="en-IN" dirty="0"/>
              <a:t>            </a:t>
            </a:r>
            <a:r>
              <a:rPr lang="en-IN" dirty="0" err="1"/>
              <a:t>System.out.println</a:t>
            </a:r>
            <a:r>
              <a:rPr lang="en-IN" dirty="0"/>
              <a:t>("Zero parameter lambda expression");</a:t>
            </a:r>
          </a:p>
          <a:p>
            <a:pPr marL="0" indent="0">
              <a:buNone/>
            </a:pPr>
            <a:r>
              <a:rPr lang="en-IN" dirty="0"/>
              <a:t>        </a:t>
            </a:r>
            <a:r>
              <a:rPr lang="en-IN" dirty="0" err="1"/>
              <a:t>zp.display</a:t>
            </a:r>
            <a:r>
              <a:rPr lang="en-IN" dirty="0"/>
              <a:t>();</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3674093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7E0E-8F26-4EF9-17CA-D928B0CDA3E9}"/>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46FE3E3A-906D-F4DC-00BF-E4C3AB5F1F63}"/>
              </a:ext>
            </a:extLst>
          </p:cNvPr>
          <p:cNvSpPr>
            <a:spLocks noGrp="1"/>
          </p:cNvSpPr>
          <p:nvPr>
            <p:ph idx="1"/>
          </p:nvPr>
        </p:nvSpPr>
        <p:spPr>
          <a:xfrm>
            <a:off x="838200" y="694944"/>
            <a:ext cx="10515600" cy="5482019"/>
          </a:xfrm>
        </p:spPr>
        <p:txBody>
          <a:bodyPr>
            <a:normAutofit fontScale="92500" lnSpcReduction="10000"/>
          </a:bodyPr>
          <a:lstStyle/>
          <a:p>
            <a:pPr marL="0" indent="0">
              <a:buNone/>
            </a:pPr>
            <a:r>
              <a:rPr lang="en-IN" b="1" dirty="0"/>
              <a:t>2. Lambda Expression with One Parameter</a:t>
            </a:r>
            <a:endParaRPr lang="en-IN" dirty="0"/>
          </a:p>
          <a:p>
            <a:pPr marL="0" indent="0">
              <a:buNone/>
            </a:pPr>
            <a:r>
              <a:rPr lang="en-IN" dirty="0"/>
              <a:t>A lambda expression that takes only one parameter.</a:t>
            </a:r>
          </a:p>
          <a:p>
            <a:pPr marL="0" indent="0">
              <a:buNone/>
            </a:pPr>
            <a:r>
              <a:rPr lang="en-IN" b="1" dirty="0"/>
              <a:t>Syntax</a:t>
            </a:r>
            <a:endParaRPr lang="en-IN" dirty="0"/>
          </a:p>
          <a:p>
            <a:pPr marL="0" indent="0">
              <a:buNone/>
            </a:pPr>
            <a:r>
              <a:rPr lang="en-IN" dirty="0"/>
              <a:t>p -&gt; statement;</a:t>
            </a:r>
          </a:p>
          <a:p>
            <a:pPr marL="0" indent="0">
              <a:buNone/>
            </a:pPr>
            <a:r>
              <a:rPr lang="en-IN" dirty="0"/>
              <a:t>Parentheses are optional if there is only one parameter.</a:t>
            </a:r>
          </a:p>
          <a:p>
            <a:pPr marL="0" indent="0">
              <a:buNone/>
            </a:pPr>
            <a:r>
              <a:rPr lang="en-IN" b="1" dirty="0"/>
              <a:t>Example</a:t>
            </a:r>
            <a:endParaRPr lang="en-IN" dirty="0"/>
          </a:p>
          <a:p>
            <a:pPr marL="0" indent="0">
              <a:buNone/>
            </a:pPr>
            <a:r>
              <a:rPr lang="en-IN" dirty="0" err="1"/>
              <a:t>list.forEach</a:t>
            </a:r>
            <a:r>
              <a:rPr lang="en-IN" dirty="0"/>
              <a:t>(n -&gt; </a:t>
            </a:r>
            <a:r>
              <a:rPr lang="en-IN" dirty="0" err="1"/>
              <a:t>System.out.println</a:t>
            </a:r>
            <a:r>
              <a:rPr lang="en-IN" dirty="0"/>
              <a:t>(n));</a:t>
            </a:r>
          </a:p>
          <a:p>
            <a:pPr marL="0" indent="0">
              <a:buNone/>
            </a:pPr>
            <a:r>
              <a:rPr lang="en-IN" b="1" dirty="0"/>
              <a:t>Example with Condition</a:t>
            </a:r>
            <a:endParaRPr lang="en-IN" dirty="0"/>
          </a:p>
          <a:p>
            <a:pPr marL="0" indent="0">
              <a:buNone/>
            </a:pPr>
            <a:r>
              <a:rPr lang="en-IN" dirty="0" err="1"/>
              <a:t>list.forEach</a:t>
            </a:r>
            <a:r>
              <a:rPr lang="en-IN" dirty="0"/>
              <a:t>(n -&gt; {</a:t>
            </a:r>
          </a:p>
          <a:p>
            <a:pPr marL="0" indent="0">
              <a:buNone/>
            </a:pPr>
            <a:r>
              <a:rPr lang="en-IN" dirty="0"/>
              <a:t>    if (n % 2 == 0)</a:t>
            </a:r>
          </a:p>
          <a:p>
            <a:pPr marL="0" indent="0">
              <a:buNone/>
            </a:pPr>
            <a:r>
              <a:rPr lang="en-IN" dirty="0"/>
              <a:t>        </a:t>
            </a:r>
            <a:r>
              <a:rPr lang="en-IN" dirty="0" err="1"/>
              <a:t>System.out.println</a:t>
            </a:r>
            <a:r>
              <a:rPr lang="en-IN" dirty="0"/>
              <a:t>(n);</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617649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B201-D2F7-3465-18B3-22A92F91FC19}"/>
              </a:ext>
            </a:extLst>
          </p:cNvPr>
          <p:cNvSpPr>
            <a:spLocks noGrp="1"/>
          </p:cNvSpPr>
          <p:nvPr>
            <p:ph type="title"/>
          </p:nvPr>
        </p:nvSpPr>
        <p:spPr>
          <a:xfrm flipV="1">
            <a:off x="838200" y="319406"/>
            <a:ext cx="10515600" cy="45719"/>
          </a:xfrm>
        </p:spPr>
        <p:txBody>
          <a:bodyPr>
            <a:normAutofit fontScale="90000"/>
          </a:bodyPr>
          <a:lstStyle/>
          <a:p>
            <a:r>
              <a:rPr lang="en-IN" dirty="0"/>
              <a:t>.</a:t>
            </a:r>
          </a:p>
        </p:txBody>
      </p:sp>
      <p:sp>
        <p:nvSpPr>
          <p:cNvPr id="3" name="Content Placeholder 2">
            <a:extLst>
              <a:ext uri="{FF2B5EF4-FFF2-40B4-BE49-F238E27FC236}">
                <a16:creationId xmlns:a16="http://schemas.microsoft.com/office/drawing/2014/main" id="{0EFA95FE-039C-7C3C-E5E3-73658811E42A}"/>
              </a:ext>
            </a:extLst>
          </p:cNvPr>
          <p:cNvSpPr>
            <a:spLocks noGrp="1"/>
          </p:cNvSpPr>
          <p:nvPr>
            <p:ph idx="1"/>
          </p:nvPr>
        </p:nvSpPr>
        <p:spPr>
          <a:xfrm>
            <a:off x="838200" y="740663"/>
            <a:ext cx="10515600" cy="5436300"/>
          </a:xfrm>
        </p:spPr>
        <p:txBody>
          <a:bodyPr>
            <a:normAutofit fontScale="55000" lnSpcReduction="20000"/>
          </a:bodyPr>
          <a:lstStyle/>
          <a:p>
            <a:pPr marL="0" indent="0">
              <a:buNone/>
            </a:pPr>
            <a:r>
              <a:rPr lang="en-IN" b="1" dirty="0"/>
              <a:t>3. Lambda Expression with Multiple Parameters</a:t>
            </a:r>
            <a:endParaRPr lang="en-IN" dirty="0"/>
          </a:p>
          <a:p>
            <a:pPr marL="0" indent="0">
              <a:buNone/>
            </a:pPr>
            <a:r>
              <a:rPr lang="en-IN" dirty="0"/>
              <a:t>A lambda expression that takes two or more parameters.</a:t>
            </a:r>
          </a:p>
          <a:p>
            <a:pPr marL="0" indent="0">
              <a:buNone/>
            </a:pPr>
            <a:r>
              <a:rPr lang="en-IN" b="1" dirty="0"/>
              <a:t>Syntax</a:t>
            </a:r>
            <a:endParaRPr lang="en-IN" dirty="0"/>
          </a:p>
          <a:p>
            <a:pPr marL="0" indent="0">
              <a:buNone/>
            </a:pPr>
            <a:r>
              <a:rPr lang="en-IN" dirty="0"/>
              <a:t>(p1, p2) -&gt; statement;</a:t>
            </a:r>
          </a:p>
          <a:p>
            <a:pPr marL="0" indent="0">
              <a:buNone/>
            </a:pPr>
            <a:r>
              <a:rPr lang="en-IN" b="1" dirty="0"/>
              <a:t>Example</a:t>
            </a:r>
            <a:endParaRPr lang="en-IN" dirty="0"/>
          </a:p>
          <a:p>
            <a:pPr marL="0" indent="0">
              <a:buNone/>
            </a:pPr>
            <a:r>
              <a:rPr lang="en-IN" dirty="0"/>
              <a:t>@FunctionalInterface</a:t>
            </a:r>
          </a:p>
          <a:p>
            <a:pPr marL="0" indent="0">
              <a:buNone/>
            </a:pPr>
            <a:r>
              <a:rPr lang="en-IN" dirty="0"/>
              <a:t>interface Operation {</a:t>
            </a:r>
          </a:p>
          <a:p>
            <a:pPr marL="0" indent="0">
              <a:buNone/>
            </a:pPr>
            <a:r>
              <a:rPr lang="en-IN" dirty="0"/>
              <a:t>    int calculate(int a, int b);</a:t>
            </a:r>
          </a:p>
          <a:p>
            <a:pPr marL="0" indent="0">
              <a:buNone/>
            </a:pPr>
            <a:r>
              <a:rPr lang="en-IN" dirty="0"/>
              <a:t>}</a:t>
            </a:r>
          </a:p>
          <a:p>
            <a:pPr marL="0" indent="0">
              <a:buNone/>
            </a:pPr>
            <a:r>
              <a:rPr lang="en-IN" dirty="0"/>
              <a:t> </a:t>
            </a:r>
          </a:p>
          <a:p>
            <a:pPr marL="0" indent="0">
              <a:buNone/>
            </a:pPr>
            <a:r>
              <a:rPr lang="en-IN" dirty="0"/>
              <a:t>public class Test {</a:t>
            </a:r>
          </a:p>
          <a:p>
            <a:pPr marL="0" indent="0">
              <a:buNone/>
            </a:pPr>
            <a:r>
              <a:rPr lang="en-IN" dirty="0"/>
              <a:t>    public static void main(String[] </a:t>
            </a:r>
            <a:r>
              <a:rPr lang="en-IN" dirty="0" err="1"/>
              <a:t>args</a:t>
            </a:r>
            <a:r>
              <a:rPr lang="en-IN" dirty="0"/>
              <a:t>) {</a:t>
            </a:r>
          </a:p>
          <a:p>
            <a:pPr marL="0" indent="0">
              <a:buNone/>
            </a:pPr>
            <a:r>
              <a:rPr lang="en-IN" dirty="0"/>
              <a:t>        Operation add = (a, b) -&gt; a + b;</a:t>
            </a:r>
          </a:p>
          <a:p>
            <a:pPr marL="0" indent="0">
              <a:buNone/>
            </a:pPr>
            <a:r>
              <a:rPr lang="en-IN" dirty="0"/>
              <a:t>        Operation multiply = (a, b) -&gt; a * b;</a:t>
            </a:r>
          </a:p>
          <a:p>
            <a:pPr marL="0" indent="0">
              <a:buNone/>
            </a:pPr>
            <a:r>
              <a:rPr lang="en-IN" dirty="0"/>
              <a:t> </a:t>
            </a:r>
          </a:p>
          <a:p>
            <a:pPr marL="0" indent="0">
              <a:buNone/>
            </a:pPr>
            <a:r>
              <a:rPr lang="en-IN" dirty="0"/>
              <a:t>        </a:t>
            </a:r>
            <a:r>
              <a:rPr lang="en-IN" dirty="0" err="1"/>
              <a:t>System.out.println</a:t>
            </a:r>
            <a:r>
              <a:rPr lang="en-IN" dirty="0"/>
              <a:t>(</a:t>
            </a:r>
            <a:r>
              <a:rPr lang="en-IN" dirty="0" err="1"/>
              <a:t>add.calculate</a:t>
            </a:r>
            <a:r>
              <a:rPr lang="en-IN" dirty="0"/>
              <a:t>(6, 3));</a:t>
            </a:r>
          </a:p>
          <a:p>
            <a:pPr marL="0" indent="0">
              <a:buNone/>
            </a:pPr>
            <a:r>
              <a:rPr lang="en-IN" dirty="0"/>
              <a:t>        </a:t>
            </a:r>
            <a:r>
              <a:rPr lang="en-IN" dirty="0" err="1"/>
              <a:t>System.out.println</a:t>
            </a:r>
            <a:r>
              <a:rPr lang="en-IN" dirty="0"/>
              <a:t>(</a:t>
            </a:r>
            <a:r>
              <a:rPr lang="en-IN" dirty="0" err="1"/>
              <a:t>multiply.calculate</a:t>
            </a:r>
            <a:r>
              <a:rPr lang="en-IN" dirty="0"/>
              <a:t>(4, 5));</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520330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8F09D-9C20-888C-1F78-88F8FE1A5603}"/>
              </a:ext>
            </a:extLst>
          </p:cNvPr>
          <p:cNvSpPr>
            <a:spLocks noGrp="1"/>
          </p:cNvSpPr>
          <p:nvPr>
            <p:ph type="title"/>
          </p:nvPr>
        </p:nvSpPr>
        <p:spPr>
          <a:xfrm>
            <a:off x="838200" y="365126"/>
            <a:ext cx="10515600" cy="439208"/>
          </a:xfrm>
        </p:spPr>
        <p:txBody>
          <a:bodyPr>
            <a:normAutofit fontScale="90000"/>
          </a:bodyPr>
          <a:lstStyle/>
          <a:p>
            <a:r>
              <a:rPr lang="en-IN" sz="2000" b="1" dirty="0"/>
              <a:t>4. Lambda Expression with return statement</a:t>
            </a:r>
            <a:br>
              <a:rPr lang="en-IN" sz="2000" dirty="0"/>
            </a:br>
            <a:endParaRPr lang="en-IN" sz="2000" dirty="0"/>
          </a:p>
        </p:txBody>
      </p:sp>
      <p:sp>
        <p:nvSpPr>
          <p:cNvPr id="3" name="Content Placeholder 2">
            <a:extLst>
              <a:ext uri="{FF2B5EF4-FFF2-40B4-BE49-F238E27FC236}">
                <a16:creationId xmlns:a16="http://schemas.microsoft.com/office/drawing/2014/main" id="{E2F37546-C3AB-6DD3-D0A3-50FD4C940A8B}"/>
              </a:ext>
            </a:extLst>
          </p:cNvPr>
          <p:cNvSpPr>
            <a:spLocks noGrp="1"/>
          </p:cNvSpPr>
          <p:nvPr>
            <p:ph idx="1"/>
          </p:nvPr>
        </p:nvSpPr>
        <p:spPr>
          <a:xfrm>
            <a:off x="838200" y="973667"/>
            <a:ext cx="10515600" cy="5203296"/>
          </a:xfrm>
        </p:spPr>
        <p:txBody>
          <a:bodyPr>
            <a:normAutofit fontScale="55000" lnSpcReduction="20000"/>
          </a:bodyPr>
          <a:lstStyle/>
          <a:p>
            <a:pPr marL="0" indent="0">
              <a:buNone/>
            </a:pPr>
            <a:endParaRPr lang="en-IN" dirty="0"/>
          </a:p>
          <a:p>
            <a:pPr marL="0" indent="0">
              <a:buNone/>
            </a:pPr>
            <a:r>
              <a:rPr lang="en-IN" dirty="0"/>
              <a:t>A lambda expression that returns a value.</a:t>
            </a:r>
          </a:p>
          <a:p>
            <a:pPr marL="0" indent="0">
              <a:buNone/>
            </a:pPr>
            <a:r>
              <a:rPr lang="en-IN" b="1" dirty="0"/>
              <a:t>Syntax</a:t>
            </a:r>
            <a:endParaRPr lang="en-IN" dirty="0"/>
          </a:p>
          <a:p>
            <a:pPr marL="0" indent="0">
              <a:buNone/>
            </a:pPr>
            <a:r>
              <a:rPr lang="en-IN" dirty="0"/>
              <a:t>(p1, p2) -&gt; {return statement;}</a:t>
            </a:r>
          </a:p>
          <a:p>
            <a:pPr marL="0" indent="0">
              <a:buNone/>
            </a:pPr>
            <a:r>
              <a:rPr lang="en-IN" b="1" dirty="0"/>
              <a:t>Example</a:t>
            </a:r>
            <a:endParaRPr lang="en-IN" dirty="0"/>
          </a:p>
          <a:p>
            <a:pPr marL="0" indent="0">
              <a:buNone/>
            </a:pPr>
            <a:r>
              <a:rPr lang="en-IN" dirty="0"/>
              <a:t>@FunctionalInterface</a:t>
            </a:r>
          </a:p>
          <a:p>
            <a:pPr marL="0" indent="0">
              <a:buNone/>
            </a:pPr>
            <a:r>
              <a:rPr lang="en-IN" dirty="0"/>
              <a:t>interface Operation {</a:t>
            </a:r>
          </a:p>
          <a:p>
            <a:pPr marL="0" indent="0">
              <a:buNone/>
            </a:pPr>
            <a:r>
              <a:rPr lang="en-IN" dirty="0"/>
              <a:t>    int calculate(int a, int b);</a:t>
            </a:r>
          </a:p>
          <a:p>
            <a:pPr marL="0" indent="0">
              <a:buNone/>
            </a:pPr>
            <a:r>
              <a:rPr lang="en-IN" dirty="0"/>
              <a:t>}</a:t>
            </a:r>
          </a:p>
          <a:p>
            <a:pPr marL="0" indent="0">
              <a:buNone/>
            </a:pPr>
            <a:r>
              <a:rPr lang="en-IN" dirty="0"/>
              <a:t> public class Test {</a:t>
            </a:r>
          </a:p>
          <a:p>
            <a:pPr marL="0" indent="0">
              <a:buNone/>
            </a:pPr>
            <a:r>
              <a:rPr lang="en-IN" dirty="0"/>
              <a:t>    public static void main(String[] </a:t>
            </a:r>
            <a:r>
              <a:rPr lang="en-IN" dirty="0" err="1"/>
              <a:t>args</a:t>
            </a:r>
            <a:r>
              <a:rPr lang="en-IN" dirty="0"/>
              <a:t>) {</a:t>
            </a:r>
          </a:p>
          <a:p>
            <a:pPr marL="0" indent="0">
              <a:buNone/>
            </a:pPr>
            <a:r>
              <a:rPr lang="en-IN" dirty="0"/>
              <a:t>        Operation add = (a, b) -&gt; {</a:t>
            </a:r>
          </a:p>
          <a:p>
            <a:pPr marL="0" indent="0">
              <a:buNone/>
            </a:pPr>
            <a:r>
              <a:rPr lang="en-IN" dirty="0"/>
              <a:t> </a:t>
            </a:r>
            <a:r>
              <a:rPr lang="en-IN" dirty="0" err="1"/>
              <a:t>System.out.println</a:t>
            </a:r>
            <a:r>
              <a:rPr lang="en-IN" dirty="0"/>
              <a:t>(“addition”);</a:t>
            </a:r>
          </a:p>
          <a:p>
            <a:pPr marL="0" indent="0">
              <a:buNone/>
            </a:pPr>
            <a:r>
              <a:rPr lang="en-IN" dirty="0"/>
              <a:t> return a + b; };</a:t>
            </a:r>
          </a:p>
          <a:p>
            <a:pPr marL="0" indent="0">
              <a:buNone/>
            </a:pPr>
            <a:r>
              <a:rPr lang="en-IN" dirty="0"/>
              <a:t>        </a:t>
            </a:r>
            <a:r>
              <a:rPr lang="en-IN" dirty="0" err="1"/>
              <a:t>System.out.println</a:t>
            </a:r>
            <a:r>
              <a:rPr lang="en-IN" dirty="0"/>
              <a:t>(</a:t>
            </a:r>
            <a:r>
              <a:rPr lang="en-IN" dirty="0" err="1"/>
              <a:t>add.calculate</a:t>
            </a:r>
            <a:r>
              <a:rPr lang="en-IN" dirty="0"/>
              <a:t>(6, 3));</a:t>
            </a:r>
          </a:p>
          <a:p>
            <a:pPr marL="0" indent="0">
              <a:buNone/>
            </a:pPr>
            <a:r>
              <a:rPr lang="en-IN" dirty="0"/>
              <a:t>}</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456562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423EB-2CAF-BF94-6C2A-D7BB4E0AA7E6}"/>
              </a:ext>
            </a:extLst>
          </p:cNvPr>
          <p:cNvSpPr>
            <a:spLocks noGrp="1"/>
          </p:cNvSpPr>
          <p:nvPr>
            <p:ph type="title"/>
          </p:nvPr>
        </p:nvSpPr>
        <p:spPr>
          <a:xfrm>
            <a:off x="838200" y="365125"/>
            <a:ext cx="10515600" cy="594995"/>
          </a:xfrm>
        </p:spPr>
        <p:txBody>
          <a:bodyPr/>
          <a:lstStyle/>
          <a:p>
            <a:r>
              <a:rPr lang="en-IN" sz="3200" dirty="0"/>
              <a:t>Practice Question</a:t>
            </a:r>
            <a:endParaRPr lang="en-IN" dirty="0"/>
          </a:p>
        </p:txBody>
      </p:sp>
      <p:sp>
        <p:nvSpPr>
          <p:cNvPr id="3" name="Content Placeholder 2">
            <a:extLst>
              <a:ext uri="{FF2B5EF4-FFF2-40B4-BE49-F238E27FC236}">
                <a16:creationId xmlns:a16="http://schemas.microsoft.com/office/drawing/2014/main" id="{29118E9A-4863-3AE7-74D5-4E654D07DE9A}"/>
              </a:ext>
            </a:extLst>
          </p:cNvPr>
          <p:cNvSpPr>
            <a:spLocks noGrp="1"/>
          </p:cNvSpPr>
          <p:nvPr>
            <p:ph idx="1"/>
          </p:nvPr>
        </p:nvSpPr>
        <p:spPr>
          <a:xfrm>
            <a:off x="838200" y="1060704"/>
            <a:ext cx="10515600" cy="5116259"/>
          </a:xfrm>
        </p:spPr>
        <p:txBody>
          <a:bodyPr>
            <a:normAutofit fontScale="85000" lnSpcReduction="20000"/>
          </a:bodyPr>
          <a:lstStyle/>
          <a:p>
            <a:pPr marL="514350" lvl="0" indent="-514350">
              <a:buFont typeface="+mj-lt"/>
              <a:buAutoNum type="arabicPeriod"/>
            </a:pPr>
            <a:r>
              <a:rPr lang="en-IN" dirty="0"/>
              <a:t>Write a lambda expression to implement the </a:t>
            </a:r>
            <a:r>
              <a:rPr lang="en-IN" dirty="0" err="1"/>
              <a:t>MathOperation</a:t>
            </a:r>
            <a:r>
              <a:rPr lang="en-IN" dirty="0"/>
              <a:t> functional interface that returns the square of a given integer.</a:t>
            </a:r>
          </a:p>
          <a:p>
            <a:pPr marL="514350" lvl="0" indent="-514350">
              <a:buFont typeface="+mj-lt"/>
              <a:buAutoNum type="arabicPeriod"/>
            </a:pPr>
            <a:r>
              <a:rPr lang="en-IN" dirty="0"/>
              <a:t>Write a lambda expression to find the </a:t>
            </a:r>
            <a:r>
              <a:rPr lang="en-IN" b="1" dirty="0"/>
              <a:t>maximum</a:t>
            </a:r>
            <a:r>
              <a:rPr lang="en-IN" dirty="0"/>
              <a:t> of two numbers.</a:t>
            </a:r>
          </a:p>
          <a:p>
            <a:pPr marL="514350" lvl="0" indent="-514350">
              <a:buFont typeface="+mj-lt"/>
              <a:buAutoNum type="arabicPeriod"/>
            </a:pPr>
            <a:r>
              <a:rPr lang="en-IN" dirty="0"/>
              <a:t>Use a lambda to join two strings.</a:t>
            </a:r>
          </a:p>
          <a:p>
            <a:pPr marL="514350" lvl="0" indent="-514350">
              <a:buFont typeface="+mj-lt"/>
              <a:buAutoNum type="arabicPeriod"/>
            </a:pPr>
            <a:r>
              <a:rPr lang="en-IN" dirty="0"/>
              <a:t>Use a lambda to Check if a Number is Divisible by 3</a:t>
            </a:r>
            <a:endParaRPr lang="en-IN" b="1" dirty="0"/>
          </a:p>
          <a:p>
            <a:pPr marL="514350" lvl="0" indent="-514350">
              <a:buFont typeface="+mj-lt"/>
              <a:buAutoNum type="arabicPeriod"/>
            </a:pPr>
            <a:r>
              <a:rPr lang="en-IN" b="1" dirty="0"/>
              <a:t>Given the following functional interface:</a:t>
            </a:r>
          </a:p>
          <a:p>
            <a:pPr marL="457200" lvl="1" indent="0">
              <a:buNone/>
            </a:pPr>
            <a:r>
              <a:rPr lang="en-IN" dirty="0"/>
              <a:t>interface </a:t>
            </a:r>
            <a:r>
              <a:rPr lang="en-IN" dirty="0" err="1"/>
              <a:t>CheckNumber</a:t>
            </a:r>
            <a:r>
              <a:rPr lang="en-IN" dirty="0"/>
              <a:t> {</a:t>
            </a:r>
          </a:p>
          <a:p>
            <a:pPr marL="457200" lvl="1" indent="0">
              <a:buNone/>
            </a:pPr>
            <a:r>
              <a:rPr lang="en-IN" dirty="0" err="1"/>
              <a:t>boolean</a:t>
            </a:r>
            <a:r>
              <a:rPr lang="en-IN" dirty="0"/>
              <a:t> </a:t>
            </a:r>
            <a:r>
              <a:rPr lang="en-IN" dirty="0" err="1"/>
              <a:t>isGreaterThanTen</a:t>
            </a:r>
            <a:r>
              <a:rPr lang="en-IN" dirty="0"/>
              <a:t>(int n);</a:t>
            </a:r>
          </a:p>
          <a:p>
            <a:pPr marL="457200" lvl="1" indent="0">
              <a:buNone/>
            </a:pPr>
            <a:r>
              <a:rPr lang="en-IN" dirty="0"/>
              <a:t>}</a:t>
            </a:r>
          </a:p>
          <a:p>
            <a:pPr marL="457200" lvl="1" indent="0">
              <a:buNone/>
            </a:pPr>
            <a:r>
              <a:rPr lang="en-IN" dirty="0"/>
              <a:t>Write a lambda expression that implements </a:t>
            </a:r>
            <a:r>
              <a:rPr lang="en-IN" dirty="0" err="1"/>
              <a:t>CheckNumber</a:t>
            </a:r>
            <a:r>
              <a:rPr lang="en-IN" dirty="0"/>
              <a:t> and returns true if the input integer is greater than 10, and false otherwise.</a:t>
            </a:r>
          </a:p>
          <a:p>
            <a:pPr marL="514350" lvl="0" indent="-514350">
              <a:buFont typeface="+mj-lt"/>
              <a:buAutoNum type="arabicPeriod"/>
            </a:pPr>
            <a:r>
              <a:rPr lang="en-IN" dirty="0"/>
              <a:t>Write a lambda expression that takes no arguments and returns the string "Hello Lambda!".</a:t>
            </a:r>
          </a:p>
          <a:p>
            <a:pPr marL="514350" lvl="0" indent="-514350">
              <a:buFont typeface="+mj-lt"/>
              <a:buAutoNum type="arabicPeriod"/>
            </a:pPr>
            <a:r>
              <a:rPr lang="en-IN" dirty="0"/>
              <a:t>Write a lambda expression that implements </a:t>
            </a:r>
            <a:r>
              <a:rPr lang="en-IN" dirty="0" err="1"/>
              <a:t>IsPositive</a:t>
            </a:r>
            <a:r>
              <a:rPr lang="en-IN" dirty="0"/>
              <a:t> and returns true if he integer is positive (greater than zero), and false otherwise.</a:t>
            </a:r>
          </a:p>
          <a:p>
            <a:pPr marL="0" indent="0">
              <a:buNone/>
            </a:pPr>
            <a:endParaRPr lang="en-IN" dirty="0"/>
          </a:p>
        </p:txBody>
      </p:sp>
    </p:spTree>
    <p:extLst>
      <p:ext uri="{BB962C8B-B14F-4D97-AF65-F5344CB8AC3E}">
        <p14:creationId xmlns:p14="http://schemas.microsoft.com/office/powerpoint/2010/main" val="2092697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01AA0-E6C7-B88A-BDFC-6832BC49ACF1}"/>
              </a:ext>
            </a:extLst>
          </p:cNvPr>
          <p:cNvSpPr>
            <a:spLocks noGrp="1"/>
          </p:cNvSpPr>
          <p:nvPr>
            <p:ph type="title"/>
          </p:nvPr>
        </p:nvSpPr>
        <p:spPr/>
        <p:txBody>
          <a:bodyPr/>
          <a:lstStyle/>
          <a:p>
            <a:r>
              <a:rPr lang="en-IN" b="1" dirty="0"/>
              <a:t>Method Reference</a:t>
            </a:r>
            <a:endParaRPr lang="en-IN" dirty="0"/>
          </a:p>
        </p:txBody>
      </p:sp>
      <p:sp>
        <p:nvSpPr>
          <p:cNvPr id="3" name="Content Placeholder 2">
            <a:extLst>
              <a:ext uri="{FF2B5EF4-FFF2-40B4-BE49-F238E27FC236}">
                <a16:creationId xmlns:a16="http://schemas.microsoft.com/office/drawing/2014/main" id="{7B9E12DF-EF4A-EBE3-82C4-A444F1A64E50}"/>
              </a:ext>
            </a:extLst>
          </p:cNvPr>
          <p:cNvSpPr>
            <a:spLocks noGrp="1"/>
          </p:cNvSpPr>
          <p:nvPr>
            <p:ph idx="1"/>
          </p:nvPr>
        </p:nvSpPr>
        <p:spPr/>
        <p:txBody>
          <a:bodyPr/>
          <a:lstStyle/>
          <a:p>
            <a:pPr marL="0" indent="0">
              <a:buNone/>
            </a:pPr>
            <a:r>
              <a:rPr lang="en-IN" b="1" dirty="0"/>
              <a:t>What is a Method Reference?</a:t>
            </a:r>
          </a:p>
          <a:p>
            <a:pPr marL="0" indent="0">
              <a:buNone/>
            </a:pPr>
            <a:r>
              <a:rPr lang="en-IN" dirty="0"/>
              <a:t>A </a:t>
            </a:r>
            <a:r>
              <a:rPr lang="en-IN" b="1" dirty="0"/>
              <a:t>method reference</a:t>
            </a:r>
            <a:r>
              <a:rPr lang="en-IN" dirty="0"/>
              <a:t> is a shorthand notation of a lambda expression that calls an existing method.</a:t>
            </a:r>
          </a:p>
          <a:p>
            <a:pPr marL="0" indent="0">
              <a:buNone/>
            </a:pPr>
            <a:r>
              <a:rPr lang="en-IN" b="1" u="sng" dirty="0"/>
              <a:t>Without method reference (using lambda)</a:t>
            </a:r>
            <a:endParaRPr lang="en-IN" dirty="0"/>
          </a:p>
          <a:p>
            <a:pPr marL="0" indent="0">
              <a:buNone/>
            </a:pPr>
            <a:r>
              <a:rPr lang="en-IN" dirty="0"/>
              <a:t>() -&gt; </a:t>
            </a:r>
            <a:r>
              <a:rPr lang="en-IN" dirty="0" err="1"/>
              <a:t>System.out.println</a:t>
            </a:r>
            <a:r>
              <a:rPr lang="en-IN" dirty="0"/>
              <a:t>("Hello")</a:t>
            </a:r>
          </a:p>
          <a:p>
            <a:pPr marL="0" indent="0">
              <a:buNone/>
            </a:pPr>
            <a:r>
              <a:rPr lang="en-IN" b="1" u="sng" dirty="0"/>
              <a:t>With method reference</a:t>
            </a:r>
            <a:endParaRPr lang="en-IN" dirty="0"/>
          </a:p>
          <a:p>
            <a:pPr marL="0" indent="0">
              <a:buNone/>
            </a:pPr>
            <a:r>
              <a:rPr lang="en-IN" dirty="0" err="1"/>
              <a:t>System.out</a:t>
            </a:r>
            <a:r>
              <a:rPr lang="en-IN" dirty="0"/>
              <a:t>::</a:t>
            </a:r>
            <a:r>
              <a:rPr lang="en-IN" dirty="0" err="1"/>
              <a:t>println</a:t>
            </a: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980997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687A9-1FF0-AA51-AB45-2F86003B0856}"/>
              </a:ext>
            </a:extLst>
          </p:cNvPr>
          <p:cNvSpPr>
            <a:spLocks noGrp="1"/>
          </p:cNvSpPr>
          <p:nvPr>
            <p:ph type="title"/>
          </p:nvPr>
        </p:nvSpPr>
        <p:spPr/>
        <p:txBody>
          <a:bodyPr>
            <a:normAutofit/>
          </a:bodyPr>
          <a:lstStyle/>
          <a:p>
            <a:r>
              <a:rPr lang="en-IN" sz="3600" b="1" dirty="0"/>
              <a:t>Why Was Method Reference Introduced?</a:t>
            </a:r>
            <a:br>
              <a:rPr lang="en-IN" sz="3600" dirty="0"/>
            </a:br>
            <a:endParaRPr lang="en-IN" sz="3600" dirty="0"/>
          </a:p>
        </p:txBody>
      </p:sp>
      <p:sp>
        <p:nvSpPr>
          <p:cNvPr id="3" name="Content Placeholder 2">
            <a:extLst>
              <a:ext uri="{FF2B5EF4-FFF2-40B4-BE49-F238E27FC236}">
                <a16:creationId xmlns:a16="http://schemas.microsoft.com/office/drawing/2014/main" id="{5E298595-076F-FD09-EB3C-FD3739AAB10B}"/>
              </a:ext>
            </a:extLst>
          </p:cNvPr>
          <p:cNvSpPr>
            <a:spLocks noGrp="1"/>
          </p:cNvSpPr>
          <p:nvPr>
            <p:ph idx="1"/>
          </p:nvPr>
        </p:nvSpPr>
        <p:spPr/>
        <p:txBody>
          <a:bodyPr/>
          <a:lstStyle/>
          <a:p>
            <a:r>
              <a:rPr lang="en-IN" dirty="0"/>
              <a:t>Removes unnecessary code</a:t>
            </a:r>
          </a:p>
          <a:p>
            <a:r>
              <a:rPr lang="en-IN" dirty="0"/>
              <a:t>Improves readability</a:t>
            </a:r>
          </a:p>
          <a:p>
            <a:r>
              <a:rPr lang="en-IN" dirty="0"/>
              <a:t>Reuses existing methods</a:t>
            </a:r>
          </a:p>
          <a:p>
            <a:r>
              <a:rPr lang="en-IN" dirty="0"/>
              <a:t>Works perfectly with </a:t>
            </a:r>
            <a:r>
              <a:rPr lang="en-IN" b="1" dirty="0"/>
              <a:t>functional interfaces</a:t>
            </a:r>
            <a:endParaRPr lang="en-IN" dirty="0"/>
          </a:p>
          <a:p>
            <a:pPr marL="0" indent="0">
              <a:buNone/>
            </a:pPr>
            <a:endParaRPr lang="en-IN" dirty="0"/>
          </a:p>
        </p:txBody>
      </p:sp>
    </p:spTree>
    <p:extLst>
      <p:ext uri="{BB962C8B-B14F-4D97-AF65-F5344CB8AC3E}">
        <p14:creationId xmlns:p14="http://schemas.microsoft.com/office/powerpoint/2010/main" val="1832933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98356-6F93-51CB-7B9B-B343AE7B0062}"/>
              </a:ext>
            </a:extLst>
          </p:cNvPr>
          <p:cNvSpPr>
            <a:spLocks noGrp="1"/>
          </p:cNvSpPr>
          <p:nvPr>
            <p:ph type="title"/>
          </p:nvPr>
        </p:nvSpPr>
        <p:spPr/>
        <p:txBody>
          <a:bodyPr/>
          <a:lstStyle/>
          <a:p>
            <a:r>
              <a:rPr lang="en-IN" sz="4000" b="1" dirty="0"/>
              <a:t>Rules for Using Method References</a:t>
            </a:r>
            <a:endParaRPr lang="en-IN" dirty="0"/>
          </a:p>
        </p:txBody>
      </p:sp>
      <p:sp>
        <p:nvSpPr>
          <p:cNvPr id="3" name="Content Placeholder 2">
            <a:extLst>
              <a:ext uri="{FF2B5EF4-FFF2-40B4-BE49-F238E27FC236}">
                <a16:creationId xmlns:a16="http://schemas.microsoft.com/office/drawing/2014/main" id="{AFC2C8C6-7136-BA84-8B46-1B447B3C04D0}"/>
              </a:ext>
            </a:extLst>
          </p:cNvPr>
          <p:cNvSpPr>
            <a:spLocks noGrp="1"/>
          </p:cNvSpPr>
          <p:nvPr>
            <p:ph idx="1"/>
          </p:nvPr>
        </p:nvSpPr>
        <p:spPr>
          <a:xfrm>
            <a:off x="838200" y="1554480"/>
            <a:ext cx="10515600" cy="4622483"/>
          </a:xfrm>
        </p:spPr>
        <p:txBody>
          <a:bodyPr>
            <a:normAutofit fontScale="70000" lnSpcReduction="20000"/>
          </a:bodyPr>
          <a:lstStyle/>
          <a:p>
            <a:pPr marL="0" indent="0">
              <a:buNone/>
            </a:pPr>
            <a:endParaRPr lang="en-IN" dirty="0"/>
          </a:p>
          <a:p>
            <a:pPr marL="0" indent="0">
              <a:buNone/>
            </a:pPr>
            <a:r>
              <a:rPr lang="en-IN" dirty="0"/>
              <a:t>For a method reference to work:</a:t>
            </a:r>
          </a:p>
          <a:p>
            <a:pPr marL="0" indent="0">
              <a:buNone/>
            </a:pPr>
            <a:r>
              <a:rPr lang="en-IN" b="1" dirty="0"/>
              <a:t>Rule 1: It must refer to an existing method</a:t>
            </a:r>
            <a:endParaRPr lang="en-IN" dirty="0"/>
          </a:p>
          <a:p>
            <a:pPr marL="0" indent="0">
              <a:buNone/>
            </a:pPr>
            <a:r>
              <a:rPr lang="en-IN" dirty="0"/>
              <a:t>You cannot create new logic inside a method reference.</a:t>
            </a:r>
          </a:p>
          <a:p>
            <a:pPr marL="0" indent="0">
              <a:buNone/>
            </a:pPr>
            <a:endParaRPr lang="en-IN" dirty="0"/>
          </a:p>
          <a:p>
            <a:pPr marL="0" indent="0">
              <a:buNone/>
            </a:pPr>
            <a:r>
              <a:rPr lang="en-IN" b="1" dirty="0"/>
              <a:t>Rule 2: Method signature must match the functional interface method</a:t>
            </a:r>
            <a:endParaRPr lang="en-IN" dirty="0"/>
          </a:p>
          <a:p>
            <a:pPr marL="0" indent="0">
              <a:buNone/>
            </a:pPr>
            <a:r>
              <a:rPr lang="en-IN" dirty="0"/>
              <a:t>Example:</a:t>
            </a:r>
          </a:p>
          <a:p>
            <a:pPr marL="0" indent="0">
              <a:buNone/>
            </a:pPr>
            <a:r>
              <a:rPr lang="en-IN" dirty="0"/>
              <a:t>interface Sayable { void say(); }</a:t>
            </a:r>
          </a:p>
          <a:p>
            <a:pPr marL="0" indent="0">
              <a:buNone/>
            </a:pPr>
            <a:r>
              <a:rPr lang="en-IN" dirty="0"/>
              <a:t>Then the method reference must refer to a method with:</a:t>
            </a:r>
          </a:p>
          <a:p>
            <a:pPr marL="0" indent="0">
              <a:buNone/>
            </a:pPr>
            <a:r>
              <a:rPr lang="en-IN" dirty="0"/>
              <a:t>return type → void  </a:t>
            </a:r>
          </a:p>
          <a:p>
            <a:pPr marL="0" indent="0">
              <a:buNone/>
            </a:pPr>
            <a:r>
              <a:rPr lang="en-IN" dirty="0"/>
              <a:t>parameters → 0</a:t>
            </a:r>
          </a:p>
          <a:p>
            <a:pPr marL="0" indent="0">
              <a:buNone/>
            </a:pPr>
            <a:endParaRPr lang="en-IN" dirty="0"/>
          </a:p>
          <a:p>
            <a:pPr marL="0" indent="0">
              <a:buNone/>
            </a:pPr>
            <a:r>
              <a:rPr lang="en-IN" b="1" dirty="0"/>
              <a:t>Rule 3: Only applicable when lambda calls one method only</a:t>
            </a:r>
            <a:endParaRPr lang="en-IN" dirty="0"/>
          </a:p>
          <a:p>
            <a:pPr marL="0" indent="0">
              <a:buNone/>
            </a:pPr>
            <a:endParaRPr lang="en-IN" dirty="0"/>
          </a:p>
        </p:txBody>
      </p:sp>
    </p:spTree>
    <p:extLst>
      <p:ext uri="{BB962C8B-B14F-4D97-AF65-F5344CB8AC3E}">
        <p14:creationId xmlns:p14="http://schemas.microsoft.com/office/powerpoint/2010/main" val="2801623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33DBD-441C-DAF2-2E4C-6EF57E370D80}"/>
              </a:ext>
            </a:extLst>
          </p:cNvPr>
          <p:cNvSpPr>
            <a:spLocks noGrp="1"/>
          </p:cNvSpPr>
          <p:nvPr>
            <p:ph type="title"/>
          </p:nvPr>
        </p:nvSpPr>
        <p:spPr/>
        <p:txBody>
          <a:bodyPr>
            <a:normAutofit/>
          </a:bodyPr>
          <a:lstStyle/>
          <a:p>
            <a:r>
              <a:rPr lang="en-IN" sz="3600" b="1" dirty="0"/>
              <a:t>Four Types of Method References</a:t>
            </a:r>
            <a:endParaRPr lang="en-IN" sz="3600" dirty="0"/>
          </a:p>
        </p:txBody>
      </p:sp>
      <p:sp>
        <p:nvSpPr>
          <p:cNvPr id="3" name="Content Placeholder 2">
            <a:extLst>
              <a:ext uri="{FF2B5EF4-FFF2-40B4-BE49-F238E27FC236}">
                <a16:creationId xmlns:a16="http://schemas.microsoft.com/office/drawing/2014/main" id="{DDEBD7A9-8B0F-AA2B-B0E1-A96E67031E51}"/>
              </a:ext>
            </a:extLst>
          </p:cNvPr>
          <p:cNvSpPr>
            <a:spLocks noGrp="1"/>
          </p:cNvSpPr>
          <p:nvPr>
            <p:ph idx="1"/>
          </p:nvPr>
        </p:nvSpPr>
        <p:spPr>
          <a:xfrm>
            <a:off x="838200" y="1591056"/>
            <a:ext cx="10515600" cy="4750499"/>
          </a:xfrm>
        </p:spPr>
        <p:txBody>
          <a:bodyPr>
            <a:normAutofit/>
          </a:bodyPr>
          <a:lstStyle/>
          <a:p>
            <a:pPr marL="514350" lvl="0" indent="-514350">
              <a:buAutoNum type="arabicPeriod"/>
            </a:pPr>
            <a:r>
              <a:rPr lang="en-IN" b="1" dirty="0"/>
              <a:t>Static Method Reference</a:t>
            </a:r>
          </a:p>
          <a:p>
            <a:pPr marL="514350" lvl="0" indent="-514350">
              <a:buAutoNum type="arabicPeriod"/>
            </a:pPr>
            <a:r>
              <a:rPr lang="en-IN" b="1" dirty="0"/>
              <a:t>Instance Method Reference (of a particular object)</a:t>
            </a:r>
          </a:p>
          <a:p>
            <a:pPr marL="514350" lvl="0" indent="-514350">
              <a:buAutoNum type="arabicPeriod"/>
            </a:pPr>
            <a:r>
              <a:rPr lang="en-IN" b="1" dirty="0"/>
              <a:t>Reference to an Instance Method of an Arbitrary Object</a:t>
            </a:r>
          </a:p>
          <a:p>
            <a:pPr marL="514350" lvl="0" indent="-514350">
              <a:buAutoNum type="arabicPeriod"/>
            </a:pPr>
            <a:r>
              <a:rPr lang="en-IN" b="1" dirty="0"/>
              <a:t>Constructor Reference</a:t>
            </a:r>
            <a:br>
              <a:rPr lang="en-IN" b="1" dirty="0"/>
            </a:br>
            <a:endParaRPr lang="en-IN" b="1" dirty="0"/>
          </a:p>
          <a:p>
            <a:pPr marL="0" lvl="0" indent="0">
              <a:buNone/>
            </a:pPr>
            <a:endParaRPr lang="en-IN" dirty="0"/>
          </a:p>
        </p:txBody>
      </p:sp>
    </p:spTree>
    <p:extLst>
      <p:ext uri="{BB962C8B-B14F-4D97-AF65-F5344CB8AC3E}">
        <p14:creationId xmlns:p14="http://schemas.microsoft.com/office/powerpoint/2010/main" val="4068523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4A5B1F-471F-7A22-3FF1-AA92577F8B70}"/>
              </a:ext>
            </a:extLst>
          </p:cNvPr>
          <p:cNvSpPr>
            <a:spLocks noGrp="1"/>
          </p:cNvSpPr>
          <p:nvPr>
            <p:ph type="title"/>
          </p:nvPr>
        </p:nvSpPr>
        <p:spPr>
          <a:xfrm>
            <a:off x="838200" y="365126"/>
            <a:ext cx="10515600" cy="315912"/>
          </a:xfrm>
        </p:spPr>
        <p:txBody>
          <a:bodyPr>
            <a:normAutofit fontScale="90000"/>
          </a:bodyPr>
          <a:lstStyle/>
          <a:p>
            <a:r>
              <a:rPr lang="en-IN" b="1" dirty="0"/>
              <a:t>1. Static Method Reference</a:t>
            </a:r>
            <a:br>
              <a:rPr lang="en-IN" dirty="0"/>
            </a:br>
            <a:endParaRPr lang="en-IN" dirty="0"/>
          </a:p>
        </p:txBody>
      </p:sp>
      <p:sp>
        <p:nvSpPr>
          <p:cNvPr id="5" name="Content Placeholder 4">
            <a:extLst>
              <a:ext uri="{FF2B5EF4-FFF2-40B4-BE49-F238E27FC236}">
                <a16:creationId xmlns:a16="http://schemas.microsoft.com/office/drawing/2014/main" id="{29E60077-BED2-9379-C184-E28795CB0FE1}"/>
              </a:ext>
            </a:extLst>
          </p:cNvPr>
          <p:cNvSpPr>
            <a:spLocks noGrp="1"/>
          </p:cNvSpPr>
          <p:nvPr>
            <p:ph sz="half" idx="1"/>
          </p:nvPr>
        </p:nvSpPr>
        <p:spPr>
          <a:xfrm>
            <a:off x="838200" y="932688"/>
            <a:ext cx="5181600" cy="5244275"/>
          </a:xfrm>
        </p:spPr>
        <p:txBody>
          <a:bodyPr>
            <a:normAutofit fontScale="85000" lnSpcReduction="10000"/>
          </a:bodyPr>
          <a:lstStyle/>
          <a:p>
            <a:pPr marL="0" indent="0">
              <a:buNone/>
            </a:pPr>
            <a:r>
              <a:rPr lang="en-IN" b="1" dirty="0"/>
              <a:t>Syntax:</a:t>
            </a:r>
            <a:endParaRPr lang="en-IN" dirty="0"/>
          </a:p>
          <a:p>
            <a:pPr marL="0" indent="0">
              <a:buNone/>
            </a:pPr>
            <a:r>
              <a:rPr lang="en-IN" dirty="0" err="1"/>
              <a:t>ClassName</a:t>
            </a:r>
            <a:r>
              <a:rPr lang="en-IN" dirty="0"/>
              <a:t>::</a:t>
            </a:r>
            <a:r>
              <a:rPr lang="en-IN" dirty="0" err="1"/>
              <a:t>staticMethodName</a:t>
            </a:r>
            <a:endParaRPr lang="en-IN" dirty="0"/>
          </a:p>
          <a:p>
            <a:pPr marL="0" indent="0">
              <a:buNone/>
            </a:pPr>
            <a:r>
              <a:rPr lang="en-IN" b="1" dirty="0"/>
              <a:t>Example:</a:t>
            </a:r>
            <a:endParaRPr lang="en-IN" dirty="0"/>
          </a:p>
          <a:p>
            <a:pPr marL="0" indent="0">
              <a:buNone/>
            </a:pPr>
            <a:r>
              <a:rPr lang="en-IN" dirty="0"/>
              <a:t>class </a:t>
            </a:r>
            <a:r>
              <a:rPr lang="en-IN" dirty="0" err="1"/>
              <a:t>MathUtil</a:t>
            </a:r>
            <a:r>
              <a:rPr lang="en-IN" dirty="0"/>
              <a:t> {</a:t>
            </a:r>
          </a:p>
          <a:p>
            <a:pPr marL="0" indent="0">
              <a:buNone/>
            </a:pPr>
            <a:r>
              <a:rPr lang="en-IN" dirty="0"/>
              <a:t>    public static int square(int x) {</a:t>
            </a:r>
          </a:p>
          <a:p>
            <a:pPr marL="0" indent="0">
              <a:buNone/>
            </a:pPr>
            <a:r>
              <a:rPr lang="en-IN" dirty="0"/>
              <a:t>        return x * x;</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interface Calculator {</a:t>
            </a:r>
          </a:p>
          <a:p>
            <a:pPr marL="0" indent="0">
              <a:buNone/>
            </a:pPr>
            <a:r>
              <a:rPr lang="en-IN" dirty="0"/>
              <a:t>    int calc(int a);</a:t>
            </a:r>
          </a:p>
          <a:p>
            <a:pPr marL="0" indent="0">
              <a:buNone/>
            </a:pPr>
            <a:r>
              <a:rPr lang="en-IN" dirty="0"/>
              <a:t>}</a:t>
            </a:r>
          </a:p>
          <a:p>
            <a:pPr marL="0" indent="0">
              <a:buNone/>
            </a:pPr>
            <a:endParaRPr lang="en-IN" dirty="0"/>
          </a:p>
        </p:txBody>
      </p:sp>
      <p:sp>
        <p:nvSpPr>
          <p:cNvPr id="6" name="Content Placeholder 5">
            <a:extLst>
              <a:ext uri="{FF2B5EF4-FFF2-40B4-BE49-F238E27FC236}">
                <a16:creationId xmlns:a16="http://schemas.microsoft.com/office/drawing/2014/main" id="{3257B923-E5D1-D58B-7B81-DF9D75871B8C}"/>
              </a:ext>
            </a:extLst>
          </p:cNvPr>
          <p:cNvSpPr>
            <a:spLocks noGrp="1"/>
          </p:cNvSpPr>
          <p:nvPr>
            <p:ph sz="half" idx="2"/>
          </p:nvPr>
        </p:nvSpPr>
        <p:spPr>
          <a:xfrm>
            <a:off x="6172200" y="813816"/>
            <a:ext cx="5181600" cy="5363147"/>
          </a:xfrm>
        </p:spPr>
        <p:txBody>
          <a:bodyPr>
            <a:normAutofit fontScale="85000" lnSpcReduction="10000"/>
          </a:bodyPr>
          <a:lstStyle/>
          <a:p>
            <a:pPr marL="0" indent="0">
              <a:buNone/>
            </a:pPr>
            <a:r>
              <a:rPr lang="en-IN" dirty="0"/>
              <a:t>public class Test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 Lambda</a:t>
            </a:r>
          </a:p>
          <a:p>
            <a:pPr marL="0" indent="0">
              <a:buNone/>
            </a:pPr>
            <a:r>
              <a:rPr lang="en-IN" dirty="0"/>
              <a:t>        Calculator c1 = (a) -&gt; </a:t>
            </a:r>
            <a:r>
              <a:rPr lang="en-IN" dirty="0" err="1"/>
              <a:t>MathUtil.square</a:t>
            </a:r>
            <a:r>
              <a:rPr lang="en-IN" dirty="0"/>
              <a:t>(a);</a:t>
            </a:r>
          </a:p>
          <a:p>
            <a:pPr marL="0" indent="0">
              <a:buNone/>
            </a:pPr>
            <a:r>
              <a:rPr lang="en-IN" dirty="0"/>
              <a:t> </a:t>
            </a:r>
          </a:p>
          <a:p>
            <a:pPr marL="0" indent="0">
              <a:buNone/>
            </a:pPr>
            <a:r>
              <a:rPr lang="en-IN" dirty="0"/>
              <a:t>        // Method Reference</a:t>
            </a:r>
          </a:p>
          <a:p>
            <a:pPr marL="0" indent="0">
              <a:buNone/>
            </a:pPr>
            <a:r>
              <a:rPr lang="en-IN" dirty="0"/>
              <a:t>        Calculator c2 = </a:t>
            </a:r>
            <a:r>
              <a:rPr lang="en-IN" dirty="0" err="1"/>
              <a:t>MathUtil</a:t>
            </a:r>
            <a:r>
              <a:rPr lang="en-IN" dirty="0"/>
              <a:t>::square;</a:t>
            </a:r>
          </a:p>
          <a:p>
            <a:pPr marL="0" indent="0">
              <a:buNone/>
            </a:pPr>
            <a:r>
              <a:rPr lang="en-IN" dirty="0"/>
              <a:t> </a:t>
            </a:r>
          </a:p>
          <a:p>
            <a:pPr marL="0" indent="0">
              <a:buNone/>
            </a:pPr>
            <a:r>
              <a:rPr lang="en-IN" dirty="0"/>
              <a:t>        </a:t>
            </a:r>
            <a:r>
              <a:rPr lang="en-IN" dirty="0" err="1"/>
              <a:t>System.out.println</a:t>
            </a:r>
            <a:r>
              <a:rPr lang="en-IN" dirty="0"/>
              <a:t>(c2.calc(5));</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8836554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A28B0-8DFA-9598-6ED0-216BBBBF52AE}"/>
              </a:ext>
            </a:extLst>
          </p:cNvPr>
          <p:cNvSpPr>
            <a:spLocks noGrp="1"/>
          </p:cNvSpPr>
          <p:nvPr>
            <p:ph type="title"/>
          </p:nvPr>
        </p:nvSpPr>
        <p:spPr/>
        <p:txBody>
          <a:bodyPr>
            <a:normAutofit/>
          </a:bodyPr>
          <a:lstStyle/>
          <a:p>
            <a:r>
              <a:rPr lang="en-IN" sz="2400" dirty="0"/>
              <a:t>2.</a:t>
            </a:r>
            <a:r>
              <a:rPr lang="en-IN" sz="2400" b="1" dirty="0"/>
              <a:t> Instance Method Reference (of a particular object)</a:t>
            </a:r>
            <a:endParaRPr lang="en-IN" sz="2400" dirty="0"/>
          </a:p>
        </p:txBody>
      </p:sp>
      <p:sp>
        <p:nvSpPr>
          <p:cNvPr id="3" name="Content Placeholder 2">
            <a:extLst>
              <a:ext uri="{FF2B5EF4-FFF2-40B4-BE49-F238E27FC236}">
                <a16:creationId xmlns:a16="http://schemas.microsoft.com/office/drawing/2014/main" id="{D3334973-FC11-CD2E-24E2-866234AF82CD}"/>
              </a:ext>
            </a:extLst>
          </p:cNvPr>
          <p:cNvSpPr>
            <a:spLocks noGrp="1"/>
          </p:cNvSpPr>
          <p:nvPr>
            <p:ph sz="half" idx="1"/>
          </p:nvPr>
        </p:nvSpPr>
        <p:spPr/>
        <p:txBody>
          <a:bodyPr>
            <a:normAutofit fontScale="55000" lnSpcReduction="20000"/>
          </a:bodyPr>
          <a:lstStyle/>
          <a:p>
            <a:pPr marL="0" indent="0">
              <a:buNone/>
            </a:pPr>
            <a:r>
              <a:rPr lang="en-IN" b="1" dirty="0"/>
              <a:t>Syntax:</a:t>
            </a:r>
            <a:endParaRPr lang="en-IN" dirty="0"/>
          </a:p>
          <a:p>
            <a:pPr marL="0" indent="0">
              <a:buNone/>
            </a:pPr>
            <a:r>
              <a:rPr lang="en-IN" dirty="0"/>
              <a:t>object::</a:t>
            </a:r>
            <a:r>
              <a:rPr lang="en-IN" dirty="0" err="1"/>
              <a:t>instanceMethodName</a:t>
            </a:r>
            <a:endParaRPr lang="en-IN" dirty="0"/>
          </a:p>
          <a:p>
            <a:pPr marL="0" indent="0">
              <a:buNone/>
            </a:pPr>
            <a:r>
              <a:rPr lang="en-IN" b="1" dirty="0"/>
              <a:t>Example</a:t>
            </a:r>
          </a:p>
          <a:p>
            <a:pPr marL="0" indent="0">
              <a:buNone/>
            </a:pPr>
            <a:r>
              <a:rPr lang="en-IN" dirty="0"/>
              <a:t>class Message {</a:t>
            </a:r>
          </a:p>
          <a:p>
            <a:pPr marL="0" indent="0">
              <a:buNone/>
            </a:pPr>
            <a:r>
              <a:rPr lang="en-IN" dirty="0"/>
              <a:t>    public void show() {</a:t>
            </a:r>
          </a:p>
          <a:p>
            <a:pPr marL="0" indent="0">
              <a:buNone/>
            </a:pPr>
            <a:r>
              <a:rPr lang="en-IN" dirty="0"/>
              <a:t>        </a:t>
            </a:r>
            <a:r>
              <a:rPr lang="en-IN" dirty="0" err="1"/>
              <a:t>System.out.println</a:t>
            </a:r>
            <a:r>
              <a:rPr lang="en-IN" dirty="0"/>
              <a:t>("Hello from object");</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interface </a:t>
            </a:r>
            <a:r>
              <a:rPr lang="en-IN" dirty="0" err="1"/>
              <a:t>MyInterface</a:t>
            </a:r>
            <a:r>
              <a:rPr lang="en-IN" dirty="0"/>
              <a:t> {</a:t>
            </a:r>
          </a:p>
          <a:p>
            <a:pPr marL="0" indent="0">
              <a:buNone/>
            </a:pPr>
            <a:r>
              <a:rPr lang="en-IN" dirty="0"/>
              <a:t>    void display();</a:t>
            </a:r>
          </a:p>
          <a:p>
            <a:pPr marL="0" indent="0">
              <a:buNone/>
            </a:pPr>
            <a:r>
              <a:rPr lang="en-IN" dirty="0"/>
              <a:t>}</a:t>
            </a:r>
          </a:p>
          <a:p>
            <a:pPr marL="0" indent="0">
              <a:buNone/>
            </a:pPr>
            <a:endParaRPr lang="en-IN" b="1" dirty="0"/>
          </a:p>
        </p:txBody>
      </p:sp>
      <p:sp>
        <p:nvSpPr>
          <p:cNvPr id="4" name="Content Placeholder 3">
            <a:extLst>
              <a:ext uri="{FF2B5EF4-FFF2-40B4-BE49-F238E27FC236}">
                <a16:creationId xmlns:a16="http://schemas.microsoft.com/office/drawing/2014/main" id="{818AC4BC-892E-7A69-1980-05FA6395AAD4}"/>
              </a:ext>
            </a:extLst>
          </p:cNvPr>
          <p:cNvSpPr>
            <a:spLocks noGrp="1"/>
          </p:cNvSpPr>
          <p:nvPr>
            <p:ph sz="half" idx="2"/>
          </p:nvPr>
        </p:nvSpPr>
        <p:spPr/>
        <p:txBody>
          <a:bodyPr>
            <a:normAutofit fontScale="55000" lnSpcReduction="20000"/>
          </a:bodyPr>
          <a:lstStyle/>
          <a:p>
            <a:pPr marL="0" indent="0">
              <a:buNone/>
            </a:pPr>
            <a:r>
              <a:rPr lang="en-IN" dirty="0"/>
              <a:t>public class Test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Message </a:t>
            </a:r>
            <a:r>
              <a:rPr lang="en-IN" dirty="0" err="1"/>
              <a:t>msg</a:t>
            </a:r>
            <a:r>
              <a:rPr lang="en-IN" dirty="0"/>
              <a:t> = new Message();</a:t>
            </a:r>
          </a:p>
          <a:p>
            <a:pPr marL="0" indent="0">
              <a:buNone/>
            </a:pPr>
            <a:r>
              <a:rPr lang="en-IN" dirty="0"/>
              <a:t> </a:t>
            </a:r>
          </a:p>
          <a:p>
            <a:pPr marL="0" indent="0">
              <a:buNone/>
            </a:pPr>
            <a:r>
              <a:rPr lang="en-IN" dirty="0"/>
              <a:t>        // Lambda</a:t>
            </a:r>
          </a:p>
          <a:p>
            <a:pPr marL="0" indent="0">
              <a:buNone/>
            </a:pPr>
            <a:r>
              <a:rPr lang="en-IN" dirty="0"/>
              <a:t>        </a:t>
            </a:r>
            <a:r>
              <a:rPr lang="en-IN" dirty="0" err="1"/>
              <a:t>MyInterface</a:t>
            </a:r>
            <a:r>
              <a:rPr lang="en-IN" dirty="0"/>
              <a:t> obj1 = () -&gt; </a:t>
            </a:r>
            <a:r>
              <a:rPr lang="en-IN" dirty="0" err="1"/>
              <a:t>msg.show</a:t>
            </a:r>
            <a:r>
              <a:rPr lang="en-IN" dirty="0"/>
              <a:t>();</a:t>
            </a:r>
          </a:p>
          <a:p>
            <a:pPr marL="0" indent="0">
              <a:buNone/>
            </a:pPr>
            <a:r>
              <a:rPr lang="en-IN" dirty="0"/>
              <a:t> </a:t>
            </a:r>
          </a:p>
          <a:p>
            <a:pPr marL="0" indent="0">
              <a:buNone/>
            </a:pPr>
            <a:r>
              <a:rPr lang="en-IN" dirty="0"/>
              <a:t>        // Method reference</a:t>
            </a:r>
          </a:p>
          <a:p>
            <a:pPr marL="0" indent="0">
              <a:buNone/>
            </a:pPr>
            <a:r>
              <a:rPr lang="en-IN" dirty="0"/>
              <a:t>        </a:t>
            </a:r>
            <a:r>
              <a:rPr lang="en-IN" dirty="0" err="1"/>
              <a:t>MyInterface</a:t>
            </a:r>
            <a:r>
              <a:rPr lang="en-IN" dirty="0"/>
              <a:t> obj2 = </a:t>
            </a:r>
            <a:r>
              <a:rPr lang="en-IN" dirty="0" err="1"/>
              <a:t>msg</a:t>
            </a:r>
            <a:r>
              <a:rPr lang="en-IN" dirty="0"/>
              <a:t>::show;</a:t>
            </a:r>
          </a:p>
          <a:p>
            <a:pPr marL="0" indent="0">
              <a:buNone/>
            </a:pPr>
            <a:r>
              <a:rPr lang="en-IN" dirty="0"/>
              <a:t> </a:t>
            </a:r>
          </a:p>
          <a:p>
            <a:pPr marL="0" indent="0">
              <a:buNone/>
            </a:pPr>
            <a:r>
              <a:rPr lang="en-IN" dirty="0"/>
              <a:t>        obj2.display();</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073735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005D0-98F4-CA1C-AE4F-D866233890EF}"/>
              </a:ext>
            </a:extLst>
          </p:cNvPr>
          <p:cNvSpPr>
            <a:spLocks noGrp="1"/>
          </p:cNvSpPr>
          <p:nvPr>
            <p:ph type="title"/>
          </p:nvPr>
        </p:nvSpPr>
        <p:spPr/>
        <p:txBody>
          <a:bodyPr>
            <a:normAutofit/>
          </a:bodyPr>
          <a:lstStyle/>
          <a:p>
            <a:r>
              <a:rPr lang="en-IN" sz="2400" b="1" dirty="0"/>
              <a:t>3. Reference to an Instance Method of an Arbitrary Object</a:t>
            </a:r>
            <a:br>
              <a:rPr lang="en-IN" sz="2400" b="1" dirty="0"/>
            </a:br>
            <a:endParaRPr lang="en-IN" dirty="0"/>
          </a:p>
        </p:txBody>
      </p:sp>
      <p:sp>
        <p:nvSpPr>
          <p:cNvPr id="3" name="Content Placeholder 2">
            <a:extLst>
              <a:ext uri="{FF2B5EF4-FFF2-40B4-BE49-F238E27FC236}">
                <a16:creationId xmlns:a16="http://schemas.microsoft.com/office/drawing/2014/main" id="{CAE53DB6-4605-E050-8E40-82B93B9556F6}"/>
              </a:ext>
            </a:extLst>
          </p:cNvPr>
          <p:cNvSpPr>
            <a:spLocks noGrp="1"/>
          </p:cNvSpPr>
          <p:nvPr>
            <p:ph sz="half" idx="1"/>
          </p:nvPr>
        </p:nvSpPr>
        <p:spPr/>
        <p:txBody>
          <a:bodyPr>
            <a:normAutofit fontScale="77500" lnSpcReduction="20000"/>
          </a:bodyPr>
          <a:lstStyle/>
          <a:p>
            <a:pPr marL="0" indent="0">
              <a:buNone/>
            </a:pPr>
            <a:r>
              <a:rPr lang="en-IN" b="1" dirty="0"/>
              <a:t>Syntax:</a:t>
            </a:r>
            <a:endParaRPr lang="en-IN" dirty="0"/>
          </a:p>
          <a:p>
            <a:pPr marL="0" indent="0">
              <a:buNone/>
            </a:pPr>
            <a:r>
              <a:rPr lang="en-IN" dirty="0" err="1"/>
              <a:t>ClassName</a:t>
            </a:r>
            <a:r>
              <a:rPr lang="en-IN" dirty="0"/>
              <a:t>::</a:t>
            </a:r>
            <a:r>
              <a:rPr lang="en-IN" dirty="0" err="1"/>
              <a:t>instanceMethodName</a:t>
            </a:r>
            <a:endParaRPr lang="en-IN" dirty="0"/>
          </a:p>
          <a:p>
            <a:pPr marL="0" indent="0" fontAlgn="base">
              <a:buNone/>
            </a:pPr>
            <a:r>
              <a:rPr lang="en-IN" dirty="0"/>
              <a:t>@FunctionalInterface</a:t>
            </a:r>
          </a:p>
          <a:p>
            <a:pPr marL="0" indent="0" fontAlgn="base">
              <a:buNone/>
            </a:pPr>
            <a:r>
              <a:rPr lang="en-IN" dirty="0"/>
              <a:t>interface </a:t>
            </a:r>
            <a:r>
              <a:rPr lang="en-IN" dirty="0" err="1"/>
              <a:t>MyInterface</a:t>
            </a:r>
            <a:r>
              <a:rPr lang="en-IN" dirty="0"/>
              <a:t> {</a:t>
            </a:r>
          </a:p>
          <a:p>
            <a:pPr marL="0" indent="0" fontAlgn="base">
              <a:buNone/>
            </a:pPr>
            <a:r>
              <a:rPr lang="en-IN" dirty="0"/>
              <a:t>    void show(String </a:t>
            </a:r>
            <a:r>
              <a:rPr lang="en-IN" dirty="0" err="1"/>
              <a:t>msg</a:t>
            </a:r>
            <a:r>
              <a:rPr lang="en-IN" dirty="0"/>
              <a:t>);</a:t>
            </a:r>
          </a:p>
          <a:p>
            <a:pPr marL="0" indent="0" fontAlgn="base">
              <a:buNone/>
            </a:pPr>
            <a:r>
              <a:rPr lang="en-IN" dirty="0"/>
              <a:t>}</a:t>
            </a:r>
          </a:p>
          <a:p>
            <a:pPr marL="0" indent="0" fontAlgn="base">
              <a:buNone/>
            </a:pPr>
            <a:r>
              <a:rPr lang="en-IN" dirty="0"/>
              <a:t> </a:t>
            </a:r>
          </a:p>
          <a:p>
            <a:pPr marL="0" indent="0" fontAlgn="base">
              <a:buNone/>
            </a:pPr>
            <a:r>
              <a:rPr lang="en-IN" dirty="0"/>
              <a:t>public class Test {</a:t>
            </a:r>
          </a:p>
          <a:p>
            <a:pPr marL="0" indent="0">
              <a:buNone/>
            </a:pPr>
            <a:endParaRPr lang="en-IN" dirty="0"/>
          </a:p>
        </p:txBody>
      </p:sp>
      <p:sp>
        <p:nvSpPr>
          <p:cNvPr id="4" name="Content Placeholder 3">
            <a:extLst>
              <a:ext uri="{FF2B5EF4-FFF2-40B4-BE49-F238E27FC236}">
                <a16:creationId xmlns:a16="http://schemas.microsoft.com/office/drawing/2014/main" id="{838F3282-79C3-0A29-3609-EFF121448D85}"/>
              </a:ext>
            </a:extLst>
          </p:cNvPr>
          <p:cNvSpPr>
            <a:spLocks noGrp="1"/>
          </p:cNvSpPr>
          <p:nvPr>
            <p:ph sz="half" idx="2"/>
          </p:nvPr>
        </p:nvSpPr>
        <p:spPr/>
        <p:txBody>
          <a:bodyPr>
            <a:normAutofit fontScale="77500" lnSpcReduction="20000"/>
          </a:bodyPr>
          <a:lstStyle/>
          <a:p>
            <a:pPr marL="0" indent="0" fontAlgn="base">
              <a:buNone/>
            </a:pPr>
            <a:r>
              <a:rPr lang="en-IN" dirty="0"/>
              <a:t> public static void main(String[] </a:t>
            </a:r>
            <a:r>
              <a:rPr lang="en-IN" dirty="0" err="1"/>
              <a:t>args</a:t>
            </a:r>
            <a:r>
              <a:rPr lang="en-IN" dirty="0"/>
              <a:t>) {</a:t>
            </a:r>
          </a:p>
          <a:p>
            <a:pPr marL="0" indent="0" fontAlgn="base">
              <a:buNone/>
            </a:pPr>
            <a:r>
              <a:rPr lang="en-IN" dirty="0"/>
              <a:t> </a:t>
            </a:r>
          </a:p>
          <a:p>
            <a:pPr marL="0" indent="0" fontAlgn="base">
              <a:buNone/>
            </a:pPr>
            <a:r>
              <a:rPr lang="en-IN" dirty="0"/>
              <a:t>        // Instance method reference of arbitrary object</a:t>
            </a:r>
          </a:p>
          <a:p>
            <a:pPr marL="0" indent="0" fontAlgn="base">
              <a:buNone/>
            </a:pPr>
            <a:r>
              <a:rPr lang="en-IN" dirty="0"/>
              <a:t>        </a:t>
            </a:r>
            <a:r>
              <a:rPr lang="en-IN" dirty="0" err="1"/>
              <a:t>MyInterface</a:t>
            </a:r>
            <a:r>
              <a:rPr lang="en-IN" dirty="0"/>
              <a:t> ref = String::</a:t>
            </a:r>
            <a:r>
              <a:rPr lang="en-IN" dirty="0" err="1"/>
              <a:t>toUpperCase</a:t>
            </a:r>
            <a:r>
              <a:rPr lang="en-IN" dirty="0"/>
              <a:t>;</a:t>
            </a:r>
          </a:p>
          <a:p>
            <a:pPr marL="0" indent="0" fontAlgn="base">
              <a:buNone/>
            </a:pPr>
            <a:r>
              <a:rPr lang="en-IN" dirty="0"/>
              <a:t> </a:t>
            </a:r>
          </a:p>
          <a:p>
            <a:pPr marL="0" indent="0" fontAlgn="base">
              <a:buNone/>
            </a:pPr>
            <a:r>
              <a:rPr lang="en-IN" dirty="0"/>
              <a:t>        // Method call</a:t>
            </a:r>
          </a:p>
          <a:p>
            <a:pPr marL="0" indent="0" fontAlgn="base">
              <a:buNone/>
            </a:pPr>
            <a:r>
              <a:rPr lang="en-IN" dirty="0"/>
              <a:t>        </a:t>
            </a:r>
            <a:r>
              <a:rPr lang="en-IN" dirty="0" err="1"/>
              <a:t>ref.show</a:t>
            </a:r>
            <a:r>
              <a:rPr lang="en-IN" dirty="0"/>
              <a:t>("java");</a:t>
            </a:r>
          </a:p>
          <a:p>
            <a:pPr marL="0" indent="0" fontAlgn="base">
              <a:buNone/>
            </a:pPr>
            <a:r>
              <a:rPr lang="en-IN" dirty="0"/>
              <a:t>    }</a:t>
            </a:r>
          </a:p>
          <a:p>
            <a:pPr marL="0" indent="0" fontAlgn="base">
              <a:buNone/>
            </a:pPr>
            <a:r>
              <a:rPr lang="en-IN" dirty="0"/>
              <a:t>}</a:t>
            </a:r>
          </a:p>
          <a:p>
            <a:pPr marL="0" indent="0" fontAlgn="base">
              <a:buNone/>
            </a:pPr>
            <a:r>
              <a:rPr lang="en-IN" dirty="0"/>
              <a:t>(Here JVM supplies the object automatically.)</a:t>
            </a:r>
          </a:p>
          <a:p>
            <a:pPr marL="0" indent="0" fontAlgn="base">
              <a:buNone/>
            </a:pPr>
            <a:endParaRPr lang="en-IN" dirty="0"/>
          </a:p>
        </p:txBody>
      </p:sp>
    </p:spTree>
    <p:extLst>
      <p:ext uri="{BB962C8B-B14F-4D97-AF65-F5344CB8AC3E}">
        <p14:creationId xmlns:p14="http://schemas.microsoft.com/office/powerpoint/2010/main" val="309575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A4AD3-28B8-C9B5-B701-A7464640850C}"/>
              </a:ext>
            </a:extLst>
          </p:cNvPr>
          <p:cNvSpPr>
            <a:spLocks noGrp="1"/>
          </p:cNvSpPr>
          <p:nvPr>
            <p:ph type="title"/>
          </p:nvPr>
        </p:nvSpPr>
        <p:spPr/>
        <p:txBody>
          <a:bodyPr/>
          <a:lstStyle/>
          <a:p>
            <a:r>
              <a:rPr lang="en-IN" sz="3200" b="1" dirty="0"/>
              <a:t>4. Constructor Reference</a:t>
            </a:r>
            <a:br>
              <a:rPr lang="en-IN" dirty="0"/>
            </a:br>
            <a:endParaRPr lang="en-IN" dirty="0"/>
          </a:p>
        </p:txBody>
      </p:sp>
      <p:sp>
        <p:nvSpPr>
          <p:cNvPr id="3" name="Content Placeholder 2">
            <a:extLst>
              <a:ext uri="{FF2B5EF4-FFF2-40B4-BE49-F238E27FC236}">
                <a16:creationId xmlns:a16="http://schemas.microsoft.com/office/drawing/2014/main" id="{1765C7B6-8765-B3E1-6372-13C1D4573840}"/>
              </a:ext>
            </a:extLst>
          </p:cNvPr>
          <p:cNvSpPr>
            <a:spLocks noGrp="1"/>
          </p:cNvSpPr>
          <p:nvPr>
            <p:ph sz="half" idx="1"/>
          </p:nvPr>
        </p:nvSpPr>
        <p:spPr/>
        <p:txBody>
          <a:bodyPr>
            <a:normAutofit fontScale="62500" lnSpcReduction="20000"/>
          </a:bodyPr>
          <a:lstStyle/>
          <a:p>
            <a:pPr marL="0" indent="0">
              <a:buNone/>
            </a:pPr>
            <a:r>
              <a:rPr lang="en-IN" b="1" dirty="0"/>
              <a:t>Syntax:</a:t>
            </a:r>
            <a:endParaRPr lang="en-IN" dirty="0"/>
          </a:p>
          <a:p>
            <a:pPr marL="0" indent="0">
              <a:buNone/>
            </a:pPr>
            <a:r>
              <a:rPr lang="en-IN" dirty="0" err="1"/>
              <a:t>ClassName</a:t>
            </a:r>
            <a:r>
              <a:rPr lang="en-IN" dirty="0"/>
              <a:t>::new</a:t>
            </a:r>
          </a:p>
          <a:p>
            <a:pPr marL="0" indent="0">
              <a:buNone/>
            </a:pPr>
            <a:r>
              <a:rPr lang="en-IN" b="1" dirty="0"/>
              <a:t>Example:</a:t>
            </a:r>
            <a:endParaRPr lang="en-IN" dirty="0"/>
          </a:p>
          <a:p>
            <a:pPr marL="0" indent="0">
              <a:buNone/>
            </a:pPr>
            <a:r>
              <a:rPr lang="en-IN" dirty="0"/>
              <a:t>class Student {</a:t>
            </a:r>
          </a:p>
          <a:p>
            <a:pPr marL="0" indent="0">
              <a:buNone/>
            </a:pPr>
            <a:r>
              <a:rPr lang="en-IN" dirty="0"/>
              <a:t>    Student(String name) {</a:t>
            </a:r>
          </a:p>
          <a:p>
            <a:pPr marL="0" indent="0">
              <a:buNone/>
            </a:pPr>
            <a:r>
              <a:rPr lang="en-IN" dirty="0"/>
              <a:t>        </a:t>
            </a:r>
            <a:r>
              <a:rPr lang="en-IN" dirty="0" err="1"/>
              <a:t>System.out.println</a:t>
            </a:r>
            <a:r>
              <a:rPr lang="en-IN" dirty="0"/>
              <a:t>("Welcome " + name);</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interface </a:t>
            </a:r>
            <a:r>
              <a:rPr lang="en-IN" dirty="0" err="1"/>
              <a:t>StudentFactory</a:t>
            </a:r>
            <a:r>
              <a:rPr lang="en-IN" dirty="0"/>
              <a:t> {</a:t>
            </a:r>
          </a:p>
          <a:p>
            <a:pPr marL="0" indent="0">
              <a:buNone/>
            </a:pPr>
            <a:r>
              <a:rPr lang="en-IN" dirty="0"/>
              <a:t>    Student create(String name);</a:t>
            </a:r>
          </a:p>
          <a:p>
            <a:pPr marL="0" indent="0">
              <a:buNone/>
            </a:pPr>
            <a:r>
              <a:rPr lang="en-IN" dirty="0"/>
              <a:t>}</a:t>
            </a:r>
          </a:p>
          <a:p>
            <a:pPr marL="0" indent="0">
              <a:buNone/>
            </a:pPr>
            <a:r>
              <a:rPr lang="en-IN" dirty="0"/>
              <a:t> </a:t>
            </a:r>
          </a:p>
          <a:p>
            <a:pPr marL="0" indent="0">
              <a:buNone/>
            </a:pPr>
            <a:endParaRPr lang="en-IN" dirty="0"/>
          </a:p>
        </p:txBody>
      </p:sp>
      <p:sp>
        <p:nvSpPr>
          <p:cNvPr id="4" name="Content Placeholder 3">
            <a:extLst>
              <a:ext uri="{FF2B5EF4-FFF2-40B4-BE49-F238E27FC236}">
                <a16:creationId xmlns:a16="http://schemas.microsoft.com/office/drawing/2014/main" id="{EEEFC2B3-A2FB-73A7-8A9E-98AE30AA8980}"/>
              </a:ext>
            </a:extLst>
          </p:cNvPr>
          <p:cNvSpPr>
            <a:spLocks noGrp="1"/>
          </p:cNvSpPr>
          <p:nvPr>
            <p:ph sz="half" idx="2"/>
          </p:nvPr>
        </p:nvSpPr>
        <p:spPr/>
        <p:txBody>
          <a:bodyPr>
            <a:normAutofit fontScale="62500" lnSpcReduction="20000"/>
          </a:bodyPr>
          <a:lstStyle/>
          <a:p>
            <a:pPr marL="0" indent="0">
              <a:buNone/>
            </a:pPr>
            <a:r>
              <a:rPr lang="en-IN" dirty="0"/>
              <a:t>public class Test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 Lambda</a:t>
            </a:r>
          </a:p>
          <a:p>
            <a:pPr marL="0" indent="0">
              <a:buNone/>
            </a:pPr>
            <a:r>
              <a:rPr lang="en-IN" dirty="0"/>
              <a:t>        </a:t>
            </a:r>
            <a:r>
              <a:rPr lang="en-IN" dirty="0" err="1"/>
              <a:t>StudentFactory</a:t>
            </a:r>
            <a:r>
              <a:rPr lang="en-IN" dirty="0"/>
              <a:t> f1 = (name) -&gt; new Student(name);</a:t>
            </a:r>
          </a:p>
          <a:p>
            <a:pPr marL="0" indent="0">
              <a:buNone/>
            </a:pPr>
            <a:r>
              <a:rPr lang="en-IN" dirty="0"/>
              <a:t> </a:t>
            </a:r>
          </a:p>
          <a:p>
            <a:pPr marL="0" indent="0">
              <a:buNone/>
            </a:pPr>
            <a:r>
              <a:rPr lang="en-IN" dirty="0"/>
              <a:t>        // Constructor Reference</a:t>
            </a:r>
          </a:p>
          <a:p>
            <a:pPr marL="0" indent="0">
              <a:buNone/>
            </a:pPr>
            <a:r>
              <a:rPr lang="en-IN" dirty="0"/>
              <a:t>        </a:t>
            </a:r>
            <a:r>
              <a:rPr lang="en-IN" dirty="0" err="1"/>
              <a:t>StudentFactory</a:t>
            </a:r>
            <a:r>
              <a:rPr lang="en-IN" dirty="0"/>
              <a:t> f2 = Student::new;</a:t>
            </a:r>
          </a:p>
          <a:p>
            <a:pPr marL="0" indent="0">
              <a:buNone/>
            </a:pPr>
            <a:r>
              <a:rPr lang="en-IN" dirty="0"/>
              <a:t> </a:t>
            </a:r>
          </a:p>
          <a:p>
            <a:pPr marL="0" indent="0">
              <a:buNone/>
            </a:pPr>
            <a:r>
              <a:rPr lang="en-IN" dirty="0"/>
              <a:t>        f2.create("Sonam");</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697697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023147-B7E2-D3E6-01F7-B14F54FDBFB4}"/>
              </a:ext>
            </a:extLst>
          </p:cNvPr>
          <p:cNvSpPr>
            <a:spLocks noGrp="1"/>
          </p:cNvSpPr>
          <p:nvPr>
            <p:ph type="title"/>
          </p:nvPr>
        </p:nvSpPr>
        <p:spPr/>
        <p:txBody>
          <a:bodyPr/>
          <a:lstStyle/>
          <a:p>
            <a:r>
              <a:rPr lang="en-IN" b="1" dirty="0"/>
              <a:t>Method references</a:t>
            </a:r>
            <a:br>
              <a:rPr lang="en-IN" dirty="0"/>
            </a:br>
            <a:endParaRPr lang="en-IN" dirty="0"/>
          </a:p>
        </p:txBody>
      </p:sp>
      <p:sp>
        <p:nvSpPr>
          <p:cNvPr id="6" name="Content Placeholder 5">
            <a:extLst>
              <a:ext uri="{FF2B5EF4-FFF2-40B4-BE49-F238E27FC236}">
                <a16:creationId xmlns:a16="http://schemas.microsoft.com/office/drawing/2014/main" id="{4756F23D-F58B-2B87-E752-EAEF9B6DE1C2}"/>
              </a:ext>
            </a:extLst>
          </p:cNvPr>
          <p:cNvSpPr>
            <a:spLocks noGrp="1"/>
          </p:cNvSpPr>
          <p:nvPr>
            <p:ph idx="1"/>
          </p:nvPr>
        </p:nvSpPr>
        <p:spPr/>
        <p:txBody>
          <a:bodyPr/>
          <a:lstStyle/>
          <a:p>
            <a:pPr lvl="0"/>
            <a:r>
              <a:rPr lang="en-IN" dirty="0"/>
              <a:t>Create a class Greeter with a method </a:t>
            </a:r>
            <a:r>
              <a:rPr lang="en-IN" dirty="0" err="1"/>
              <a:t>sayHello</a:t>
            </a:r>
            <a:r>
              <a:rPr lang="en-IN" dirty="0"/>
              <a:t>(String name) and call it via method reference.</a:t>
            </a:r>
          </a:p>
          <a:p>
            <a:pPr lvl="0"/>
            <a:r>
              <a:rPr lang="en-IN" dirty="0"/>
              <a:t>Create a functional interface that takes a String and returns its length. Then, use the method reference String::length to implement this interface.</a:t>
            </a:r>
          </a:p>
          <a:p>
            <a:pPr marL="0" indent="0">
              <a:buNone/>
            </a:pPr>
            <a:endParaRPr lang="en-IN" dirty="0"/>
          </a:p>
        </p:txBody>
      </p:sp>
    </p:spTree>
    <p:extLst>
      <p:ext uri="{BB962C8B-B14F-4D97-AF65-F5344CB8AC3E}">
        <p14:creationId xmlns:p14="http://schemas.microsoft.com/office/powerpoint/2010/main" val="888288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A6EF-3FEF-31B8-9005-A7377F8D2245}"/>
              </a:ext>
            </a:extLst>
          </p:cNvPr>
          <p:cNvSpPr>
            <a:spLocks noGrp="1"/>
          </p:cNvSpPr>
          <p:nvPr>
            <p:ph type="title"/>
          </p:nvPr>
        </p:nvSpPr>
        <p:spPr/>
        <p:txBody>
          <a:bodyPr/>
          <a:lstStyle/>
          <a:p>
            <a:r>
              <a:rPr lang="en-IN" sz="3600" b="1" dirty="0"/>
              <a:t>Default Methods </a:t>
            </a:r>
            <a:br>
              <a:rPr lang="en-IN" b="1" dirty="0"/>
            </a:br>
            <a:endParaRPr lang="en-IN" dirty="0"/>
          </a:p>
        </p:txBody>
      </p:sp>
      <p:sp>
        <p:nvSpPr>
          <p:cNvPr id="5" name="Content Placeholder 4">
            <a:extLst>
              <a:ext uri="{FF2B5EF4-FFF2-40B4-BE49-F238E27FC236}">
                <a16:creationId xmlns:a16="http://schemas.microsoft.com/office/drawing/2014/main" id="{F87495DC-0FA4-4BFF-317F-E2B53D36F1CB}"/>
              </a:ext>
            </a:extLst>
          </p:cNvPr>
          <p:cNvSpPr>
            <a:spLocks noGrp="1"/>
          </p:cNvSpPr>
          <p:nvPr>
            <p:ph idx="1"/>
          </p:nvPr>
        </p:nvSpPr>
        <p:spPr/>
        <p:txBody>
          <a:bodyPr/>
          <a:lstStyle/>
          <a:p>
            <a:r>
              <a:rPr lang="en-IN" dirty="0"/>
              <a:t>Before Java 8, interfaces in Java could only have abstract methods (methods without a body). </a:t>
            </a:r>
          </a:p>
          <a:p>
            <a:r>
              <a:rPr lang="en-IN" dirty="0"/>
              <a:t>Java 8 introduced default methods in interfaces, allowing methods with a body (implementation).</a:t>
            </a:r>
          </a:p>
        </p:txBody>
      </p:sp>
    </p:spTree>
    <p:extLst>
      <p:ext uri="{BB962C8B-B14F-4D97-AF65-F5344CB8AC3E}">
        <p14:creationId xmlns:p14="http://schemas.microsoft.com/office/powerpoint/2010/main" val="2006589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6C60-D4E8-4828-2053-1BC11F2C495C}"/>
              </a:ext>
            </a:extLst>
          </p:cNvPr>
          <p:cNvSpPr>
            <a:spLocks noGrp="1"/>
          </p:cNvSpPr>
          <p:nvPr>
            <p:ph type="title"/>
          </p:nvPr>
        </p:nvSpPr>
        <p:spPr/>
        <p:txBody>
          <a:bodyPr/>
          <a:lstStyle/>
          <a:p>
            <a:r>
              <a:rPr lang="en-IN" b="1" dirty="0"/>
              <a:t>Key Features</a:t>
            </a:r>
            <a:br>
              <a:rPr lang="en-IN" b="1" dirty="0"/>
            </a:br>
            <a:endParaRPr lang="en-IN" dirty="0"/>
          </a:p>
        </p:txBody>
      </p:sp>
      <p:sp>
        <p:nvSpPr>
          <p:cNvPr id="3" name="Content Placeholder 2">
            <a:extLst>
              <a:ext uri="{FF2B5EF4-FFF2-40B4-BE49-F238E27FC236}">
                <a16:creationId xmlns:a16="http://schemas.microsoft.com/office/drawing/2014/main" id="{76AAD1C4-DAD5-D5B6-CB49-4CA1AC492FDC}"/>
              </a:ext>
            </a:extLst>
          </p:cNvPr>
          <p:cNvSpPr>
            <a:spLocks noGrp="1"/>
          </p:cNvSpPr>
          <p:nvPr>
            <p:ph idx="1"/>
          </p:nvPr>
        </p:nvSpPr>
        <p:spPr/>
        <p:txBody>
          <a:bodyPr/>
          <a:lstStyle/>
          <a:p>
            <a:pPr lvl="0" fontAlgn="base"/>
            <a:r>
              <a:rPr lang="en-IN" dirty="0"/>
              <a:t>Interfaces can now have both abstract and default methods.</a:t>
            </a:r>
          </a:p>
          <a:p>
            <a:pPr lvl="0" fontAlgn="base"/>
            <a:r>
              <a:rPr lang="en-IN" dirty="0"/>
              <a:t>Default methods provide backward compatibility without breaking existing code.</a:t>
            </a:r>
          </a:p>
          <a:p>
            <a:pPr lvl="0" fontAlgn="base"/>
            <a:r>
              <a:rPr lang="en-IN" dirty="0"/>
              <a:t>They support new features like Streams and Lambdas.</a:t>
            </a:r>
          </a:p>
          <a:p>
            <a:pPr lvl="0" fontAlgn="base"/>
            <a:r>
              <a:rPr lang="en-IN" dirty="0"/>
              <a:t>Default methods were introduced to provide backward compatibility for old interfaces so that they can have new methods without affecting existing code.</a:t>
            </a:r>
          </a:p>
          <a:p>
            <a:pPr marL="0" indent="0">
              <a:buNone/>
            </a:pPr>
            <a:endParaRPr lang="en-IN" dirty="0"/>
          </a:p>
        </p:txBody>
      </p:sp>
    </p:spTree>
    <p:extLst>
      <p:ext uri="{BB962C8B-B14F-4D97-AF65-F5344CB8AC3E}">
        <p14:creationId xmlns:p14="http://schemas.microsoft.com/office/powerpoint/2010/main" val="1719239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038F-7888-0EEA-5336-94040EF3A680}"/>
              </a:ext>
            </a:extLst>
          </p:cNvPr>
          <p:cNvSpPr>
            <a:spLocks noGrp="1"/>
          </p:cNvSpPr>
          <p:nvPr>
            <p:ph type="title"/>
          </p:nvPr>
        </p:nvSpPr>
        <p:spPr/>
        <p:txBody>
          <a:bodyPr/>
          <a:lstStyle/>
          <a:p>
            <a:r>
              <a:rPr lang="en-IN" sz="3200" dirty="0"/>
              <a:t>Example</a:t>
            </a:r>
            <a:br>
              <a:rPr lang="en-IN" sz="3200" dirty="0"/>
            </a:br>
            <a:endParaRPr lang="en-IN" dirty="0"/>
          </a:p>
        </p:txBody>
      </p:sp>
      <p:sp>
        <p:nvSpPr>
          <p:cNvPr id="4" name="Content Placeholder 3">
            <a:extLst>
              <a:ext uri="{FF2B5EF4-FFF2-40B4-BE49-F238E27FC236}">
                <a16:creationId xmlns:a16="http://schemas.microsoft.com/office/drawing/2014/main" id="{A89AA0EB-55DC-ECE3-1174-0CF2D2D76E57}"/>
              </a:ext>
            </a:extLst>
          </p:cNvPr>
          <p:cNvSpPr>
            <a:spLocks noGrp="1"/>
          </p:cNvSpPr>
          <p:nvPr>
            <p:ph sz="half" idx="1"/>
          </p:nvPr>
        </p:nvSpPr>
        <p:spPr/>
        <p:txBody>
          <a:bodyPr>
            <a:normAutofit fontScale="77500" lnSpcReduction="20000"/>
          </a:bodyPr>
          <a:lstStyle/>
          <a:p>
            <a:pPr marL="0" indent="0" fontAlgn="base">
              <a:buNone/>
            </a:pPr>
            <a:r>
              <a:rPr lang="en-IN" dirty="0"/>
              <a:t>interface Printer {</a:t>
            </a:r>
          </a:p>
          <a:p>
            <a:pPr marL="0" indent="0" fontAlgn="base">
              <a:buNone/>
            </a:pPr>
            <a:r>
              <a:rPr lang="en-IN" dirty="0"/>
              <a:t>    default void status() {</a:t>
            </a:r>
          </a:p>
          <a:p>
            <a:pPr marL="0" indent="0" fontAlgn="base">
              <a:buNone/>
            </a:pPr>
            <a:r>
              <a:rPr lang="en-IN" dirty="0"/>
              <a:t>        </a:t>
            </a:r>
            <a:r>
              <a:rPr lang="en-IN" dirty="0" err="1"/>
              <a:t>System.out.println</a:t>
            </a:r>
            <a:r>
              <a:rPr lang="en-IN" dirty="0"/>
              <a:t>("Printer is ready");</a:t>
            </a:r>
          </a:p>
          <a:p>
            <a:pPr marL="0" indent="0" fontAlgn="base">
              <a:buNone/>
            </a:pPr>
            <a:r>
              <a:rPr lang="en-IN" dirty="0"/>
              <a:t>    }</a:t>
            </a:r>
          </a:p>
          <a:p>
            <a:pPr marL="0" indent="0" fontAlgn="base">
              <a:buNone/>
            </a:pPr>
            <a:r>
              <a:rPr lang="en-IN" dirty="0"/>
              <a:t> </a:t>
            </a:r>
          </a:p>
          <a:p>
            <a:pPr marL="0" indent="0" fontAlgn="base">
              <a:buNone/>
            </a:pPr>
            <a:r>
              <a:rPr lang="en-IN" dirty="0"/>
              <a:t>    void print();   // abstract method</a:t>
            </a:r>
          </a:p>
          <a:p>
            <a:pPr marL="0" indent="0" fontAlgn="base">
              <a:buNone/>
            </a:pPr>
            <a:r>
              <a:rPr lang="en-IN" dirty="0"/>
              <a:t>}</a:t>
            </a:r>
          </a:p>
          <a:p>
            <a:pPr marL="0" indent="0" fontAlgn="base">
              <a:buNone/>
            </a:pPr>
            <a:r>
              <a:rPr lang="en-IN" dirty="0"/>
              <a:t> </a:t>
            </a:r>
          </a:p>
          <a:p>
            <a:pPr marL="0" indent="0">
              <a:buNone/>
            </a:pPr>
            <a:endParaRPr lang="en-IN" dirty="0"/>
          </a:p>
        </p:txBody>
      </p:sp>
      <p:sp>
        <p:nvSpPr>
          <p:cNvPr id="5" name="Content Placeholder 4">
            <a:extLst>
              <a:ext uri="{FF2B5EF4-FFF2-40B4-BE49-F238E27FC236}">
                <a16:creationId xmlns:a16="http://schemas.microsoft.com/office/drawing/2014/main" id="{550F8365-58C2-3DEC-DF13-8FE66A56C51C}"/>
              </a:ext>
            </a:extLst>
          </p:cNvPr>
          <p:cNvSpPr>
            <a:spLocks noGrp="1"/>
          </p:cNvSpPr>
          <p:nvPr>
            <p:ph sz="half" idx="2"/>
          </p:nvPr>
        </p:nvSpPr>
        <p:spPr/>
        <p:txBody>
          <a:bodyPr>
            <a:normAutofit fontScale="77500" lnSpcReduction="20000"/>
          </a:bodyPr>
          <a:lstStyle/>
          <a:p>
            <a:pPr marL="0" indent="0" fontAlgn="base">
              <a:buNone/>
            </a:pPr>
            <a:r>
              <a:rPr lang="en-IN" dirty="0"/>
              <a:t>class HP implements Printer {</a:t>
            </a:r>
          </a:p>
          <a:p>
            <a:pPr marL="0" indent="0" fontAlgn="base">
              <a:buNone/>
            </a:pPr>
            <a:r>
              <a:rPr lang="en-IN" dirty="0"/>
              <a:t>    public void print() {</a:t>
            </a:r>
          </a:p>
          <a:p>
            <a:pPr marL="0" indent="0" fontAlgn="base">
              <a:buNone/>
            </a:pPr>
            <a:r>
              <a:rPr lang="en-IN" dirty="0"/>
              <a:t>        </a:t>
            </a:r>
            <a:r>
              <a:rPr lang="en-IN" dirty="0" err="1"/>
              <a:t>System.out.println</a:t>
            </a:r>
            <a:r>
              <a:rPr lang="en-IN" dirty="0"/>
              <a:t>("Printing document");</a:t>
            </a:r>
          </a:p>
          <a:p>
            <a:pPr marL="0" indent="0" fontAlgn="base">
              <a:buNone/>
            </a:pPr>
            <a:r>
              <a:rPr lang="en-IN" dirty="0"/>
              <a:t>    }</a:t>
            </a:r>
          </a:p>
          <a:p>
            <a:pPr marL="0" indent="0" fontAlgn="base">
              <a:buNone/>
            </a:pPr>
            <a:r>
              <a:rPr lang="en-IN" dirty="0"/>
              <a:t> </a:t>
            </a:r>
          </a:p>
          <a:p>
            <a:pPr marL="0" indent="0" fontAlgn="base">
              <a:buNone/>
            </a:pPr>
            <a:r>
              <a:rPr lang="en-IN" dirty="0"/>
              <a:t>    public static void main(String[] </a:t>
            </a:r>
            <a:r>
              <a:rPr lang="en-IN" dirty="0" err="1"/>
              <a:t>args</a:t>
            </a:r>
            <a:r>
              <a:rPr lang="en-IN" dirty="0"/>
              <a:t>) {</a:t>
            </a:r>
          </a:p>
          <a:p>
            <a:pPr marL="0" indent="0" fontAlgn="base">
              <a:buNone/>
            </a:pPr>
            <a:r>
              <a:rPr lang="en-IN" dirty="0"/>
              <a:t>        HP </a:t>
            </a:r>
            <a:r>
              <a:rPr lang="en-IN" dirty="0" err="1"/>
              <a:t>obj</a:t>
            </a:r>
            <a:r>
              <a:rPr lang="en-IN" dirty="0"/>
              <a:t> = new HP();</a:t>
            </a:r>
          </a:p>
          <a:p>
            <a:pPr marL="0" indent="0" fontAlgn="base">
              <a:buNone/>
            </a:pPr>
            <a:r>
              <a:rPr lang="en-IN" dirty="0"/>
              <a:t>        </a:t>
            </a:r>
            <a:r>
              <a:rPr lang="en-IN" dirty="0" err="1"/>
              <a:t>obj.status</a:t>
            </a:r>
            <a:r>
              <a:rPr lang="en-IN" dirty="0"/>
              <a:t>();</a:t>
            </a:r>
          </a:p>
          <a:p>
            <a:pPr marL="0" indent="0" fontAlgn="base">
              <a:buNone/>
            </a:pPr>
            <a:r>
              <a:rPr lang="en-IN" dirty="0"/>
              <a:t>        </a:t>
            </a:r>
            <a:r>
              <a:rPr lang="en-IN" dirty="0" err="1"/>
              <a:t>obj.print</a:t>
            </a:r>
            <a:r>
              <a:rPr lang="en-IN" dirty="0"/>
              <a:t>();</a:t>
            </a:r>
          </a:p>
          <a:p>
            <a:pPr marL="0" indent="0" fontAlgn="base">
              <a:buNone/>
            </a:pPr>
            <a:r>
              <a:rPr lang="en-IN" dirty="0"/>
              <a:t>    }</a:t>
            </a:r>
          </a:p>
          <a:p>
            <a:pPr marL="0" indent="0" fontAlgn="base">
              <a:buNone/>
            </a:pPr>
            <a:r>
              <a:rPr lang="en-IN" dirty="0"/>
              <a:t>}</a:t>
            </a:r>
          </a:p>
          <a:p>
            <a:pPr marL="0" indent="0">
              <a:buNone/>
            </a:pPr>
            <a:endParaRPr lang="en-IN" dirty="0"/>
          </a:p>
        </p:txBody>
      </p:sp>
    </p:spTree>
    <p:extLst>
      <p:ext uri="{BB962C8B-B14F-4D97-AF65-F5344CB8AC3E}">
        <p14:creationId xmlns:p14="http://schemas.microsoft.com/office/powerpoint/2010/main" val="684320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9B07F-5728-C75E-A94B-2D3570AF03CD}"/>
              </a:ext>
            </a:extLst>
          </p:cNvPr>
          <p:cNvSpPr>
            <a:spLocks noGrp="1"/>
          </p:cNvSpPr>
          <p:nvPr>
            <p:ph type="title"/>
          </p:nvPr>
        </p:nvSpPr>
        <p:spPr/>
        <p:txBody>
          <a:bodyPr>
            <a:normAutofit/>
          </a:bodyPr>
          <a:lstStyle/>
          <a:p>
            <a:r>
              <a:rPr lang="en-IN" sz="2000" b="1" dirty="0"/>
              <a:t>In case both the implemented interfaces contain default methods with same method signature, the implementing class should explicitly specify which default method is to be used or it should override the default method.</a:t>
            </a:r>
            <a:br>
              <a:rPr lang="en-IN" sz="2000" b="1" dirty="0"/>
            </a:br>
            <a:endParaRPr lang="en-IN" sz="2000" b="1" dirty="0"/>
          </a:p>
        </p:txBody>
      </p:sp>
      <p:sp>
        <p:nvSpPr>
          <p:cNvPr id="3" name="Content Placeholder 2">
            <a:extLst>
              <a:ext uri="{FF2B5EF4-FFF2-40B4-BE49-F238E27FC236}">
                <a16:creationId xmlns:a16="http://schemas.microsoft.com/office/drawing/2014/main" id="{D7611BC1-B814-CB28-0AE9-CD535658B1A2}"/>
              </a:ext>
            </a:extLst>
          </p:cNvPr>
          <p:cNvSpPr>
            <a:spLocks noGrp="1"/>
          </p:cNvSpPr>
          <p:nvPr>
            <p:ph sz="half" idx="1"/>
          </p:nvPr>
        </p:nvSpPr>
        <p:spPr/>
        <p:txBody>
          <a:bodyPr>
            <a:normAutofit fontScale="62500" lnSpcReduction="20000"/>
          </a:bodyPr>
          <a:lstStyle/>
          <a:p>
            <a:pPr marL="0" indent="0">
              <a:buNone/>
            </a:pPr>
            <a:r>
              <a:rPr lang="en-IN" dirty="0"/>
              <a:t>interface </a:t>
            </a:r>
            <a:r>
              <a:rPr lang="en-IN" dirty="0" err="1"/>
              <a:t>InterfaceA</a:t>
            </a:r>
            <a:r>
              <a:rPr lang="en-IN" dirty="0"/>
              <a:t> {</a:t>
            </a:r>
          </a:p>
          <a:p>
            <a:pPr marL="0" indent="0">
              <a:buNone/>
            </a:pPr>
            <a:r>
              <a:rPr lang="en-IN" dirty="0"/>
              <a:t>    default void display() {</a:t>
            </a:r>
          </a:p>
          <a:p>
            <a:pPr marL="0" indent="0">
              <a:buNone/>
            </a:pPr>
            <a:r>
              <a:rPr lang="en-IN" dirty="0"/>
              <a:t>        </a:t>
            </a:r>
            <a:r>
              <a:rPr lang="en-IN" dirty="0" err="1"/>
              <a:t>System.out.println</a:t>
            </a:r>
            <a:r>
              <a:rPr lang="en-IN" dirty="0"/>
              <a:t>("Display from </a:t>
            </a:r>
            <a:r>
              <a:rPr lang="en-IN" dirty="0" err="1"/>
              <a:t>InterfaceA</a:t>
            </a:r>
            <a:r>
              <a:rPr lang="en-IN" dirty="0"/>
              <a:t>");</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interface </a:t>
            </a:r>
            <a:r>
              <a:rPr lang="en-IN" dirty="0" err="1"/>
              <a:t>InterfaceB</a:t>
            </a:r>
            <a:r>
              <a:rPr lang="en-IN" dirty="0"/>
              <a:t> {</a:t>
            </a:r>
          </a:p>
          <a:p>
            <a:pPr marL="0" indent="0">
              <a:buNone/>
            </a:pPr>
            <a:r>
              <a:rPr lang="en-IN" dirty="0"/>
              <a:t>    default void display() {</a:t>
            </a:r>
          </a:p>
          <a:p>
            <a:pPr marL="0" indent="0">
              <a:buNone/>
            </a:pPr>
            <a:r>
              <a:rPr lang="en-IN" dirty="0"/>
              <a:t>        </a:t>
            </a:r>
            <a:r>
              <a:rPr lang="en-IN" dirty="0" err="1"/>
              <a:t>System.out.println</a:t>
            </a:r>
            <a:r>
              <a:rPr lang="en-IN" dirty="0"/>
              <a:t>("Display from </a:t>
            </a:r>
            <a:r>
              <a:rPr lang="en-IN" dirty="0" err="1"/>
              <a:t>InterfaceB</a:t>
            </a:r>
            <a:r>
              <a:rPr lang="en-IN" dirty="0"/>
              <a:t>");</a:t>
            </a:r>
          </a:p>
          <a:p>
            <a:pPr marL="0" indent="0">
              <a:buNone/>
            </a:pPr>
            <a:r>
              <a:rPr lang="en-IN" dirty="0"/>
              <a:t>    }</a:t>
            </a:r>
          </a:p>
          <a:p>
            <a:pPr marL="0" indent="0">
              <a:buNone/>
            </a:pPr>
            <a:r>
              <a:rPr lang="en-IN" dirty="0"/>
              <a:t>}</a:t>
            </a:r>
          </a:p>
          <a:p>
            <a:pPr marL="0" indent="0">
              <a:buNone/>
            </a:pPr>
            <a:endParaRPr lang="en-IN" dirty="0"/>
          </a:p>
        </p:txBody>
      </p:sp>
      <p:sp>
        <p:nvSpPr>
          <p:cNvPr id="4" name="Content Placeholder 3">
            <a:extLst>
              <a:ext uri="{FF2B5EF4-FFF2-40B4-BE49-F238E27FC236}">
                <a16:creationId xmlns:a16="http://schemas.microsoft.com/office/drawing/2014/main" id="{F01C194C-8950-CC9B-009C-D08DA056A953}"/>
              </a:ext>
            </a:extLst>
          </p:cNvPr>
          <p:cNvSpPr>
            <a:spLocks noGrp="1"/>
          </p:cNvSpPr>
          <p:nvPr>
            <p:ph sz="half" idx="2"/>
          </p:nvPr>
        </p:nvSpPr>
        <p:spPr/>
        <p:txBody>
          <a:bodyPr>
            <a:normAutofit fontScale="62500" lnSpcReduction="20000"/>
          </a:bodyPr>
          <a:lstStyle/>
          <a:p>
            <a:pPr marL="0" indent="0">
              <a:buNone/>
            </a:pPr>
            <a:r>
              <a:rPr lang="en-IN" dirty="0"/>
              <a:t>class Demo implements </a:t>
            </a:r>
            <a:r>
              <a:rPr lang="en-IN" dirty="0" err="1"/>
              <a:t>InterfaceA</a:t>
            </a:r>
            <a:r>
              <a:rPr lang="en-IN" dirty="0"/>
              <a:t>, </a:t>
            </a:r>
            <a:r>
              <a:rPr lang="en-IN" dirty="0" err="1"/>
              <a:t>InterfaceB</a:t>
            </a:r>
            <a:r>
              <a:rPr lang="en-IN" dirty="0"/>
              <a:t> {</a:t>
            </a:r>
          </a:p>
          <a:p>
            <a:pPr marL="0" indent="0">
              <a:buNone/>
            </a:pPr>
            <a:r>
              <a:rPr lang="en-IN" dirty="0"/>
              <a:t>       public void display() {</a:t>
            </a:r>
          </a:p>
          <a:p>
            <a:pPr marL="0" indent="0">
              <a:buNone/>
            </a:pPr>
            <a:r>
              <a:rPr lang="en-IN" dirty="0"/>
              <a:t> </a:t>
            </a:r>
          </a:p>
          <a:p>
            <a:pPr marL="0" indent="0">
              <a:buNone/>
            </a:pPr>
            <a:r>
              <a:rPr lang="en-IN" dirty="0"/>
              <a:t>        </a:t>
            </a:r>
            <a:r>
              <a:rPr lang="en-IN" dirty="0" err="1"/>
              <a:t>InterfaceA.super.display</a:t>
            </a:r>
            <a:r>
              <a:rPr lang="en-IN" dirty="0"/>
              <a:t>();</a:t>
            </a:r>
          </a:p>
          <a:p>
            <a:pPr marL="0" indent="0">
              <a:buNone/>
            </a:pPr>
            <a:r>
              <a:rPr lang="en-IN" dirty="0"/>
              <a:t>        </a:t>
            </a:r>
            <a:r>
              <a:rPr lang="en-IN" dirty="0" err="1"/>
              <a:t>InterfaceB.super.display</a:t>
            </a:r>
            <a:r>
              <a:rPr lang="en-IN" dirty="0"/>
              <a:t>();</a:t>
            </a:r>
          </a:p>
          <a:p>
            <a:pPr marL="0" indent="0">
              <a:buNone/>
            </a:pPr>
            <a:r>
              <a:rPr lang="en-IN" dirty="0"/>
              <a:t>    }</a:t>
            </a:r>
          </a:p>
          <a:p>
            <a:pPr marL="0" indent="0">
              <a:buNone/>
            </a:pP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Demo </a:t>
            </a:r>
            <a:r>
              <a:rPr lang="en-IN" dirty="0" err="1"/>
              <a:t>obj</a:t>
            </a:r>
            <a:r>
              <a:rPr lang="en-IN" dirty="0"/>
              <a:t> = new Demo();</a:t>
            </a:r>
          </a:p>
          <a:p>
            <a:pPr marL="0" indent="0">
              <a:buNone/>
            </a:pPr>
            <a:r>
              <a:rPr lang="en-IN" dirty="0"/>
              <a:t>        </a:t>
            </a:r>
            <a:r>
              <a:rPr lang="en-IN" dirty="0" err="1"/>
              <a:t>obj.display</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348524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4A25-A432-4881-7ADC-4C41886B5F5B}"/>
              </a:ext>
            </a:extLst>
          </p:cNvPr>
          <p:cNvSpPr>
            <a:spLocks noGrp="1"/>
          </p:cNvSpPr>
          <p:nvPr>
            <p:ph type="title"/>
          </p:nvPr>
        </p:nvSpPr>
        <p:spPr/>
        <p:txBody>
          <a:bodyPr/>
          <a:lstStyle/>
          <a:p>
            <a:r>
              <a:rPr lang="en-IN" b="1" dirty="0"/>
              <a:t>Static Methods </a:t>
            </a:r>
            <a:br>
              <a:rPr lang="en-IN" b="1" dirty="0"/>
            </a:br>
            <a:endParaRPr lang="en-IN" dirty="0"/>
          </a:p>
        </p:txBody>
      </p:sp>
      <p:sp>
        <p:nvSpPr>
          <p:cNvPr id="5" name="Content Placeholder 4">
            <a:extLst>
              <a:ext uri="{FF2B5EF4-FFF2-40B4-BE49-F238E27FC236}">
                <a16:creationId xmlns:a16="http://schemas.microsoft.com/office/drawing/2014/main" id="{F167FD59-11D1-0B0B-7D80-7457726EEB5B}"/>
              </a:ext>
            </a:extLst>
          </p:cNvPr>
          <p:cNvSpPr>
            <a:spLocks noGrp="1"/>
          </p:cNvSpPr>
          <p:nvPr>
            <p:ph idx="1"/>
          </p:nvPr>
        </p:nvSpPr>
        <p:spPr/>
        <p:txBody>
          <a:bodyPr/>
          <a:lstStyle/>
          <a:p>
            <a:r>
              <a:rPr lang="en-IN" dirty="0"/>
              <a:t>In </a:t>
            </a:r>
            <a:r>
              <a:rPr lang="en-IN" b="1" dirty="0"/>
              <a:t>Java 8</a:t>
            </a:r>
            <a:r>
              <a:rPr lang="en-IN" dirty="0"/>
              <a:t>, interfaces were enhanced to include </a:t>
            </a:r>
            <a:r>
              <a:rPr lang="en-IN" b="1" dirty="0"/>
              <a:t>static methods</a:t>
            </a:r>
            <a:r>
              <a:rPr lang="en-IN" dirty="0"/>
              <a:t>.</a:t>
            </a:r>
          </a:p>
          <a:p>
            <a:r>
              <a:rPr lang="en-IN" dirty="0"/>
              <a:t>A static method in an interface contains </a:t>
            </a:r>
            <a:r>
              <a:rPr lang="en-IN" b="1" dirty="0"/>
              <a:t>complete implementation</a:t>
            </a:r>
            <a:r>
              <a:rPr lang="en-IN" dirty="0"/>
              <a:t> and belongs </a:t>
            </a:r>
            <a:r>
              <a:rPr lang="en-IN" b="1" dirty="0"/>
              <a:t>only to the interface</a:t>
            </a:r>
            <a:r>
              <a:rPr lang="en-IN" dirty="0"/>
              <a:t>, not to the implementing class.</a:t>
            </a:r>
          </a:p>
          <a:p>
            <a:pPr lvl="0"/>
            <a:r>
              <a:rPr lang="en-IN" dirty="0"/>
              <a:t>Is defined using the static keyword</a:t>
            </a:r>
          </a:p>
          <a:p>
            <a:pPr lvl="0"/>
            <a:r>
              <a:rPr lang="en-IN" dirty="0"/>
              <a:t>Has a complete method body</a:t>
            </a:r>
          </a:p>
          <a:p>
            <a:pPr lvl="0"/>
            <a:r>
              <a:rPr lang="en-IN" dirty="0"/>
              <a:t>Can be called </a:t>
            </a:r>
            <a:r>
              <a:rPr lang="en-IN" b="1" dirty="0"/>
              <a:t>only using the interface name</a:t>
            </a:r>
            <a:endParaRPr lang="en-IN" dirty="0"/>
          </a:p>
          <a:p>
            <a:pPr lvl="0"/>
            <a:r>
              <a:rPr lang="en-IN" dirty="0"/>
              <a:t>Called using:</a:t>
            </a:r>
          </a:p>
          <a:p>
            <a:pPr marL="0" indent="0">
              <a:buNone/>
            </a:pPr>
            <a:r>
              <a:rPr lang="en-IN" b="1" dirty="0" err="1"/>
              <a:t>InterfaceName.methodName</a:t>
            </a:r>
            <a:r>
              <a:rPr lang="en-IN" b="1" dirty="0"/>
              <a:t>();</a:t>
            </a:r>
          </a:p>
          <a:p>
            <a:endParaRPr lang="en-IN" dirty="0"/>
          </a:p>
          <a:p>
            <a:pPr marL="0" indent="0">
              <a:buNone/>
            </a:pPr>
            <a:endParaRPr lang="en-IN" dirty="0"/>
          </a:p>
        </p:txBody>
      </p:sp>
    </p:spTree>
    <p:extLst>
      <p:ext uri="{BB962C8B-B14F-4D97-AF65-F5344CB8AC3E}">
        <p14:creationId xmlns:p14="http://schemas.microsoft.com/office/powerpoint/2010/main" val="3875673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0DC8-FA65-4724-B92B-71824AB0EDCE}"/>
              </a:ext>
            </a:extLst>
          </p:cNvPr>
          <p:cNvSpPr>
            <a:spLocks noGrp="1"/>
          </p:cNvSpPr>
          <p:nvPr>
            <p:ph type="title"/>
          </p:nvPr>
        </p:nvSpPr>
        <p:spPr>
          <a:xfrm>
            <a:off x="838200" y="365125"/>
            <a:ext cx="10515600" cy="530987"/>
          </a:xfrm>
        </p:spPr>
        <p:txBody>
          <a:bodyPr>
            <a:noAutofit/>
          </a:bodyPr>
          <a:lstStyle/>
          <a:p>
            <a:r>
              <a:rPr lang="en-IN" sz="2000" dirty="0"/>
              <a:t>Example-</a:t>
            </a:r>
            <a:br>
              <a:rPr lang="en-IN" sz="2000" dirty="0"/>
            </a:br>
            <a:endParaRPr lang="en-IN" sz="2000" dirty="0"/>
          </a:p>
        </p:txBody>
      </p:sp>
      <p:sp>
        <p:nvSpPr>
          <p:cNvPr id="3" name="Content Placeholder 2">
            <a:extLst>
              <a:ext uri="{FF2B5EF4-FFF2-40B4-BE49-F238E27FC236}">
                <a16:creationId xmlns:a16="http://schemas.microsoft.com/office/drawing/2014/main" id="{07C0561D-969E-F5D0-6FA5-011E0341DA5E}"/>
              </a:ext>
            </a:extLst>
          </p:cNvPr>
          <p:cNvSpPr>
            <a:spLocks noGrp="1"/>
          </p:cNvSpPr>
          <p:nvPr>
            <p:ph idx="1"/>
          </p:nvPr>
        </p:nvSpPr>
        <p:spPr>
          <a:xfrm>
            <a:off x="838200" y="896112"/>
            <a:ext cx="10515600" cy="5280851"/>
          </a:xfrm>
        </p:spPr>
        <p:txBody>
          <a:bodyPr>
            <a:normAutofit fontScale="62500" lnSpcReduction="20000"/>
          </a:bodyPr>
          <a:lstStyle/>
          <a:p>
            <a:pPr marL="0" indent="0">
              <a:buNone/>
            </a:pPr>
            <a:r>
              <a:rPr lang="en-IN" dirty="0"/>
              <a:t>interface Message {</a:t>
            </a:r>
          </a:p>
          <a:p>
            <a:pPr marL="0" indent="0">
              <a:buNone/>
            </a:pPr>
            <a:r>
              <a:rPr lang="en-IN" dirty="0"/>
              <a:t> </a:t>
            </a:r>
          </a:p>
          <a:p>
            <a:pPr marL="0" indent="0">
              <a:buNone/>
            </a:pPr>
            <a:r>
              <a:rPr lang="en-IN" dirty="0"/>
              <a:t>    // Static method</a:t>
            </a:r>
          </a:p>
          <a:p>
            <a:pPr marL="0" indent="0">
              <a:buNone/>
            </a:pPr>
            <a:r>
              <a:rPr lang="en-IN" dirty="0"/>
              <a:t>    static void greet() {</a:t>
            </a:r>
          </a:p>
          <a:p>
            <a:pPr marL="0" indent="0">
              <a:buNone/>
            </a:pPr>
            <a:r>
              <a:rPr lang="en-IN" dirty="0"/>
              <a:t>        </a:t>
            </a:r>
            <a:r>
              <a:rPr lang="en-IN" dirty="0" err="1"/>
              <a:t>System.out.println</a:t>
            </a:r>
            <a:r>
              <a:rPr lang="en-IN" dirty="0"/>
              <a:t>("Hello from Interface");</a:t>
            </a:r>
          </a:p>
          <a:p>
            <a:pPr marL="0" indent="0">
              <a:buNone/>
            </a:pPr>
            <a:r>
              <a:rPr lang="en-IN" dirty="0"/>
              <a:t>    }</a:t>
            </a:r>
          </a:p>
          <a:p>
            <a:pPr marL="0" indent="0">
              <a:buNone/>
            </a:pPr>
            <a:r>
              <a:rPr lang="en-IN" dirty="0"/>
              <a:t>}</a:t>
            </a:r>
          </a:p>
          <a:p>
            <a:pPr marL="0" indent="0">
              <a:buNone/>
            </a:pPr>
            <a:r>
              <a:rPr lang="en-IN" dirty="0"/>
              <a:t> </a:t>
            </a:r>
          </a:p>
          <a:p>
            <a:pPr marL="0" indent="0">
              <a:buNone/>
            </a:pPr>
            <a:r>
              <a:rPr lang="en-IN" dirty="0"/>
              <a:t>class Demo implements Message {</a:t>
            </a:r>
          </a:p>
          <a:p>
            <a:pPr marL="0" indent="0">
              <a:buNone/>
            </a:pP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 Calling static method using interface name</a:t>
            </a:r>
          </a:p>
          <a:p>
            <a:pPr marL="0" indent="0">
              <a:buNone/>
            </a:pPr>
            <a:r>
              <a:rPr lang="en-IN" dirty="0"/>
              <a:t>        </a:t>
            </a:r>
            <a:r>
              <a:rPr lang="en-IN" dirty="0" err="1"/>
              <a:t>Message.greet</a:t>
            </a:r>
            <a:r>
              <a:rPr lang="en-IN" dirty="0"/>
              <a:t>();</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831662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245FE-57A5-6CC7-1145-144D65E57D9A}"/>
              </a:ext>
            </a:extLst>
          </p:cNvPr>
          <p:cNvSpPr>
            <a:spLocks noGrp="1"/>
          </p:cNvSpPr>
          <p:nvPr>
            <p:ph type="title"/>
          </p:nvPr>
        </p:nvSpPr>
        <p:spPr/>
        <p:txBody>
          <a:bodyPr/>
          <a:lstStyle/>
          <a:p>
            <a:r>
              <a:rPr lang="en-IN" dirty="0"/>
              <a:t>Private Methods in Interface</a:t>
            </a:r>
            <a:br>
              <a:rPr lang="en-IN" b="1" dirty="0"/>
            </a:br>
            <a:endParaRPr lang="en-IN" dirty="0"/>
          </a:p>
        </p:txBody>
      </p:sp>
      <p:sp>
        <p:nvSpPr>
          <p:cNvPr id="3" name="Content Placeholder 2">
            <a:extLst>
              <a:ext uri="{FF2B5EF4-FFF2-40B4-BE49-F238E27FC236}">
                <a16:creationId xmlns:a16="http://schemas.microsoft.com/office/drawing/2014/main" id="{F7CCD684-DE8E-30CB-87D7-4E8F76615813}"/>
              </a:ext>
            </a:extLst>
          </p:cNvPr>
          <p:cNvSpPr>
            <a:spLocks noGrp="1"/>
          </p:cNvSpPr>
          <p:nvPr>
            <p:ph idx="1"/>
          </p:nvPr>
        </p:nvSpPr>
        <p:spPr/>
        <p:txBody>
          <a:bodyPr/>
          <a:lstStyle/>
          <a:p>
            <a:pPr marL="0" indent="0">
              <a:buNone/>
            </a:pPr>
            <a:r>
              <a:rPr lang="en-IN" dirty="0"/>
              <a:t>In java 9, a </a:t>
            </a:r>
            <a:r>
              <a:rPr lang="en-IN" b="1" dirty="0"/>
              <a:t>private method</a:t>
            </a:r>
            <a:r>
              <a:rPr lang="en-IN" dirty="0"/>
              <a:t> is used </a:t>
            </a:r>
            <a:r>
              <a:rPr lang="en-IN" b="1" dirty="0"/>
              <a:t>inside an interface only</a:t>
            </a:r>
            <a:r>
              <a:rPr lang="en-IN" dirty="0"/>
              <a:t> to support default and static methods.</a:t>
            </a:r>
          </a:p>
          <a:p>
            <a:pPr lvl="0"/>
            <a:r>
              <a:rPr lang="en-IN" dirty="0"/>
              <a:t>Cannot be accessed outside the interface</a:t>
            </a:r>
          </a:p>
          <a:p>
            <a:pPr lvl="0"/>
            <a:r>
              <a:rPr lang="en-IN" dirty="0"/>
              <a:t>Cannot be overridden</a:t>
            </a:r>
          </a:p>
          <a:p>
            <a:pPr lvl="0"/>
            <a:r>
              <a:rPr lang="en-IN" dirty="0"/>
              <a:t>Used only for code reuse inside interface</a:t>
            </a:r>
          </a:p>
          <a:p>
            <a:pPr marL="0" indent="0">
              <a:buNone/>
            </a:pPr>
            <a:endParaRPr lang="en-IN" dirty="0"/>
          </a:p>
        </p:txBody>
      </p:sp>
    </p:spTree>
    <p:extLst>
      <p:ext uri="{BB962C8B-B14F-4D97-AF65-F5344CB8AC3E}">
        <p14:creationId xmlns:p14="http://schemas.microsoft.com/office/powerpoint/2010/main" val="616658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A351C-B932-14B2-1D8B-AA2620700CF3}"/>
              </a:ext>
            </a:extLst>
          </p:cNvPr>
          <p:cNvSpPr>
            <a:spLocks noGrp="1"/>
          </p:cNvSpPr>
          <p:nvPr>
            <p:ph type="title"/>
          </p:nvPr>
        </p:nvSpPr>
        <p:spPr/>
        <p:txBody>
          <a:bodyPr/>
          <a:lstStyle/>
          <a:p>
            <a:r>
              <a:rPr lang="en-IN" sz="3200" dirty="0"/>
              <a:t>Example-</a:t>
            </a:r>
            <a:br>
              <a:rPr lang="en-IN" dirty="0"/>
            </a:br>
            <a:endParaRPr lang="en-IN" dirty="0"/>
          </a:p>
        </p:txBody>
      </p:sp>
      <p:sp>
        <p:nvSpPr>
          <p:cNvPr id="3" name="Content Placeholder 2">
            <a:extLst>
              <a:ext uri="{FF2B5EF4-FFF2-40B4-BE49-F238E27FC236}">
                <a16:creationId xmlns:a16="http://schemas.microsoft.com/office/drawing/2014/main" id="{91C9DE47-2E33-D0B0-DAA1-2F3B41142B77}"/>
              </a:ext>
            </a:extLst>
          </p:cNvPr>
          <p:cNvSpPr>
            <a:spLocks noGrp="1"/>
          </p:cNvSpPr>
          <p:nvPr>
            <p:ph sz="half" idx="1"/>
          </p:nvPr>
        </p:nvSpPr>
        <p:spPr/>
        <p:txBody>
          <a:bodyPr>
            <a:normAutofit fontScale="92500" lnSpcReduction="10000"/>
          </a:bodyPr>
          <a:lstStyle/>
          <a:p>
            <a:pPr marL="0" indent="0">
              <a:buNone/>
            </a:pPr>
            <a:r>
              <a:rPr lang="en-IN" sz="2000" dirty="0"/>
              <a:t>interface Bank {</a:t>
            </a:r>
          </a:p>
          <a:p>
            <a:pPr marL="0" indent="0">
              <a:buNone/>
            </a:pPr>
            <a:r>
              <a:rPr lang="en-IN" sz="2000" dirty="0"/>
              <a:t> </a:t>
            </a:r>
          </a:p>
          <a:p>
            <a:pPr marL="0" indent="0">
              <a:buNone/>
            </a:pPr>
            <a:r>
              <a:rPr lang="en-IN" sz="2000" dirty="0"/>
              <a:t>    private void connect() {</a:t>
            </a:r>
          </a:p>
          <a:p>
            <a:pPr marL="0" indent="0">
              <a:buNone/>
            </a:pPr>
            <a:r>
              <a:rPr lang="en-IN" sz="2000" dirty="0"/>
              <a:t>        </a:t>
            </a:r>
            <a:r>
              <a:rPr lang="en-IN" sz="2000" dirty="0" err="1"/>
              <a:t>System.out.println</a:t>
            </a:r>
            <a:r>
              <a:rPr lang="en-IN" sz="2000" dirty="0"/>
              <a:t>("Connecting to server");</a:t>
            </a:r>
          </a:p>
          <a:p>
            <a:pPr marL="0" indent="0">
              <a:buNone/>
            </a:pPr>
            <a:r>
              <a:rPr lang="en-IN" sz="2000" dirty="0"/>
              <a:t>    }</a:t>
            </a:r>
          </a:p>
          <a:p>
            <a:pPr marL="0" indent="0">
              <a:buNone/>
            </a:pPr>
            <a:r>
              <a:rPr lang="en-IN" sz="2000" dirty="0"/>
              <a:t> </a:t>
            </a:r>
          </a:p>
          <a:p>
            <a:pPr marL="0" indent="0">
              <a:buNone/>
            </a:pPr>
            <a:r>
              <a:rPr lang="en-IN" sz="2000" dirty="0"/>
              <a:t>    default void withdraw() {</a:t>
            </a:r>
          </a:p>
          <a:p>
            <a:pPr marL="0" indent="0">
              <a:buNone/>
            </a:pPr>
            <a:r>
              <a:rPr lang="en-IN" sz="2000" dirty="0"/>
              <a:t>        connect();</a:t>
            </a:r>
          </a:p>
          <a:p>
            <a:pPr marL="0" indent="0">
              <a:buNone/>
            </a:pPr>
            <a:r>
              <a:rPr lang="en-IN" sz="2000" dirty="0"/>
              <a:t>        </a:t>
            </a:r>
            <a:r>
              <a:rPr lang="en-IN" sz="2000" dirty="0" err="1"/>
              <a:t>System.out.println</a:t>
            </a:r>
            <a:r>
              <a:rPr lang="en-IN" sz="2000" dirty="0"/>
              <a:t>("Withdrawal successful");</a:t>
            </a:r>
          </a:p>
          <a:p>
            <a:pPr marL="0" indent="0">
              <a:buNone/>
            </a:pPr>
            <a:r>
              <a:rPr lang="en-IN" sz="2000" dirty="0"/>
              <a:t>    }</a:t>
            </a:r>
          </a:p>
          <a:p>
            <a:pPr marL="0" indent="0">
              <a:buNone/>
            </a:pPr>
            <a:r>
              <a:rPr lang="en-IN" sz="2000" dirty="0"/>
              <a:t>}</a:t>
            </a:r>
          </a:p>
          <a:p>
            <a:pPr marL="0" indent="0">
              <a:buNone/>
            </a:pPr>
            <a:r>
              <a:rPr lang="en-IN" sz="2000" dirty="0"/>
              <a:t> </a:t>
            </a:r>
          </a:p>
          <a:p>
            <a:pPr marL="0" indent="0">
              <a:buNone/>
            </a:pPr>
            <a:endParaRPr lang="en-IN" dirty="0"/>
          </a:p>
        </p:txBody>
      </p:sp>
      <p:sp>
        <p:nvSpPr>
          <p:cNvPr id="4" name="Content Placeholder 3">
            <a:extLst>
              <a:ext uri="{FF2B5EF4-FFF2-40B4-BE49-F238E27FC236}">
                <a16:creationId xmlns:a16="http://schemas.microsoft.com/office/drawing/2014/main" id="{9DCD3968-9AF8-666A-443A-D975A05CA166}"/>
              </a:ext>
            </a:extLst>
          </p:cNvPr>
          <p:cNvSpPr>
            <a:spLocks noGrp="1"/>
          </p:cNvSpPr>
          <p:nvPr>
            <p:ph sz="half" idx="2"/>
          </p:nvPr>
        </p:nvSpPr>
        <p:spPr/>
        <p:txBody>
          <a:bodyPr>
            <a:normAutofit fontScale="92500" lnSpcReduction="10000"/>
          </a:bodyPr>
          <a:lstStyle/>
          <a:p>
            <a:pPr marL="0" indent="0">
              <a:buNone/>
            </a:pPr>
            <a:r>
              <a:rPr lang="en-IN" dirty="0"/>
              <a:t>class User implements Bank {</a:t>
            </a:r>
          </a:p>
          <a:p>
            <a:pPr marL="0" indent="0">
              <a:buNone/>
            </a:pPr>
            <a:r>
              <a:rPr lang="en-IN" dirty="0"/>
              <a:t>    public static void main(String[] </a:t>
            </a:r>
            <a:r>
              <a:rPr lang="en-IN" dirty="0" err="1"/>
              <a:t>args</a:t>
            </a:r>
            <a:r>
              <a:rPr lang="en-IN" dirty="0"/>
              <a:t>) {</a:t>
            </a:r>
          </a:p>
          <a:p>
            <a:pPr marL="0" indent="0">
              <a:buNone/>
            </a:pPr>
            <a:r>
              <a:rPr lang="en-IN" dirty="0"/>
              <a:t>        User u = new User();</a:t>
            </a:r>
          </a:p>
          <a:p>
            <a:pPr marL="0" indent="0">
              <a:buNone/>
            </a:pPr>
            <a:r>
              <a:rPr lang="en-IN" dirty="0"/>
              <a:t>        </a:t>
            </a:r>
            <a:r>
              <a:rPr lang="en-IN" dirty="0" err="1"/>
              <a:t>u.withdraw</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621937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9A027-C82C-E520-EEF1-9834F7E9055F}"/>
              </a:ext>
            </a:extLst>
          </p:cNvPr>
          <p:cNvSpPr>
            <a:spLocks noGrp="1"/>
          </p:cNvSpPr>
          <p:nvPr>
            <p:ph type="title"/>
          </p:nvPr>
        </p:nvSpPr>
        <p:spPr/>
        <p:txBody>
          <a:bodyPr/>
          <a:lstStyle/>
          <a:p>
            <a:r>
              <a:rPr lang="en-IN" b="1" dirty="0" err="1"/>
              <a:t>forEach</a:t>
            </a:r>
            <a:r>
              <a:rPr lang="en-IN" b="1" dirty="0"/>
              <a:t>() Method </a:t>
            </a:r>
            <a:br>
              <a:rPr lang="en-IN" b="1" dirty="0"/>
            </a:br>
            <a:endParaRPr lang="en-IN" dirty="0"/>
          </a:p>
        </p:txBody>
      </p:sp>
      <p:sp>
        <p:nvSpPr>
          <p:cNvPr id="5" name="Content Placeholder 4">
            <a:extLst>
              <a:ext uri="{FF2B5EF4-FFF2-40B4-BE49-F238E27FC236}">
                <a16:creationId xmlns:a16="http://schemas.microsoft.com/office/drawing/2014/main" id="{B651CF33-DD33-58DF-5E8A-F8FDA55C0B1D}"/>
              </a:ext>
            </a:extLst>
          </p:cNvPr>
          <p:cNvSpPr>
            <a:spLocks noGrp="1"/>
          </p:cNvSpPr>
          <p:nvPr>
            <p:ph idx="1"/>
          </p:nvPr>
        </p:nvSpPr>
        <p:spPr>
          <a:xfrm>
            <a:off x="838200" y="1417320"/>
            <a:ext cx="10515600" cy="4759643"/>
          </a:xfrm>
        </p:spPr>
        <p:txBody>
          <a:bodyPr>
            <a:normAutofit fontScale="92500"/>
          </a:bodyPr>
          <a:lstStyle/>
          <a:p>
            <a:r>
              <a:rPr lang="en-US" dirty="0" err="1"/>
              <a:t>forEach</a:t>
            </a:r>
            <a:r>
              <a:rPr lang="en-US" dirty="0"/>
              <a:t>() is a method introduced mainly for </a:t>
            </a:r>
            <a:r>
              <a:rPr lang="en-US" b="1" dirty="0"/>
              <a:t>Collections</a:t>
            </a:r>
            <a:r>
              <a:rPr lang="en-US" dirty="0"/>
              <a:t> and </a:t>
            </a:r>
            <a:r>
              <a:rPr lang="en-US" b="1" dirty="0"/>
              <a:t>Streams</a:t>
            </a:r>
            <a:r>
              <a:rPr lang="en-US" dirty="0"/>
              <a:t> to iterate elements using </a:t>
            </a:r>
            <a:r>
              <a:rPr lang="en-US" b="1" dirty="0"/>
              <a:t>lambda expressions </a:t>
            </a:r>
            <a:r>
              <a:rPr lang="en-US" dirty="0"/>
              <a:t>and</a:t>
            </a:r>
            <a:r>
              <a:rPr lang="en-US" b="1" dirty="0"/>
              <a:t> </a:t>
            </a:r>
            <a:r>
              <a:rPr lang="en-IN" b="1" dirty="0"/>
              <a:t>Method references</a:t>
            </a:r>
            <a:endParaRPr lang="en-US" b="1" dirty="0"/>
          </a:p>
          <a:p>
            <a:pPr marL="0" indent="0">
              <a:buNone/>
            </a:pPr>
            <a:endParaRPr lang="en-US" dirty="0"/>
          </a:p>
          <a:p>
            <a:r>
              <a:rPr lang="en-IN" dirty="0"/>
              <a:t>The </a:t>
            </a:r>
            <a:r>
              <a:rPr lang="en-IN" dirty="0" err="1"/>
              <a:t>forEach</a:t>
            </a:r>
            <a:r>
              <a:rPr lang="en-IN" dirty="0"/>
              <a:t>() method was introduced in </a:t>
            </a:r>
            <a:r>
              <a:rPr lang="en-IN" b="1" dirty="0"/>
              <a:t>Java 8</a:t>
            </a:r>
            <a:r>
              <a:rPr lang="en-IN" dirty="0"/>
              <a:t> to </a:t>
            </a:r>
            <a:r>
              <a:rPr lang="en-IN" b="1" dirty="0"/>
              <a:t>iterate over elements</a:t>
            </a:r>
            <a:r>
              <a:rPr lang="en-IN" dirty="0"/>
              <a:t> in a simple and readable way.</a:t>
            </a:r>
            <a:br>
              <a:rPr lang="en-IN" dirty="0"/>
            </a:br>
            <a:r>
              <a:rPr lang="en-IN" dirty="0"/>
              <a:t>It follows </a:t>
            </a:r>
            <a:r>
              <a:rPr lang="en-IN" b="1" dirty="0"/>
              <a:t>functional programming style</a:t>
            </a:r>
            <a:r>
              <a:rPr lang="en-IN" dirty="0"/>
              <a:t> and internally uses a </a:t>
            </a:r>
            <a:r>
              <a:rPr lang="en-IN" b="1" dirty="0"/>
              <a:t>lambda expression </a:t>
            </a:r>
            <a:r>
              <a:rPr lang="en-IN" dirty="0"/>
              <a:t>and </a:t>
            </a:r>
            <a:r>
              <a:rPr lang="en-IN" b="1" dirty="0"/>
              <a:t>Method references.</a:t>
            </a:r>
          </a:p>
          <a:p>
            <a:pPr marL="0" indent="0">
              <a:buNone/>
            </a:pPr>
            <a:endParaRPr lang="en-IN" dirty="0"/>
          </a:p>
          <a:p>
            <a:pPr lvl="1">
              <a:buFont typeface="Wingdings" panose="05000000000000000000" pitchFamily="2" charset="2"/>
              <a:buChar char="Ø"/>
            </a:pPr>
            <a:r>
              <a:rPr lang="en-IN" dirty="0" err="1"/>
              <a:t>forEach</a:t>
            </a:r>
            <a:r>
              <a:rPr lang="en-IN" dirty="0"/>
              <a:t>() is a </a:t>
            </a:r>
            <a:r>
              <a:rPr lang="en-IN" b="1" dirty="0"/>
              <a:t>default method</a:t>
            </a:r>
            <a:r>
              <a:rPr lang="en-IN" dirty="0"/>
              <a:t> provided in the </a:t>
            </a:r>
            <a:r>
              <a:rPr lang="en-IN" dirty="0" err="1"/>
              <a:t>Iterable</a:t>
            </a:r>
            <a:r>
              <a:rPr lang="en-IN" dirty="0"/>
              <a:t> interface.</a:t>
            </a:r>
          </a:p>
          <a:p>
            <a:pPr lvl="1">
              <a:buFont typeface="Wingdings" panose="05000000000000000000" pitchFamily="2" charset="2"/>
              <a:buChar char="Ø"/>
            </a:pPr>
            <a:r>
              <a:rPr lang="en-IN" dirty="0" err="1"/>
              <a:t>forEach</a:t>
            </a:r>
            <a:r>
              <a:rPr lang="en-IN" dirty="0"/>
              <a:t>() method is used to perform an action on each element of a collection.</a:t>
            </a:r>
          </a:p>
          <a:p>
            <a:pPr lvl="1">
              <a:buFont typeface="Wingdings" panose="05000000000000000000" pitchFamily="2" charset="2"/>
              <a:buChar char="Ø"/>
            </a:pPr>
            <a:r>
              <a:rPr lang="en-IN" dirty="0"/>
              <a:t>Not suitable when index is required</a:t>
            </a:r>
          </a:p>
          <a:p>
            <a:pPr marL="0" indent="0">
              <a:buNone/>
            </a:pPr>
            <a:endParaRPr lang="en-IN" dirty="0"/>
          </a:p>
        </p:txBody>
      </p:sp>
    </p:spTree>
    <p:extLst>
      <p:ext uri="{BB962C8B-B14F-4D97-AF65-F5344CB8AC3E}">
        <p14:creationId xmlns:p14="http://schemas.microsoft.com/office/powerpoint/2010/main" val="2692543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6323C-394A-9C5A-28F0-A586D3557A9F}"/>
              </a:ext>
            </a:extLst>
          </p:cNvPr>
          <p:cNvSpPr>
            <a:spLocks noGrp="1"/>
          </p:cNvSpPr>
          <p:nvPr>
            <p:ph type="title"/>
          </p:nvPr>
        </p:nvSpPr>
        <p:spPr/>
        <p:txBody>
          <a:bodyPr/>
          <a:lstStyle/>
          <a:p>
            <a:r>
              <a:rPr lang="en-IN" dirty="0"/>
              <a:t>Using </a:t>
            </a:r>
            <a:r>
              <a:rPr lang="en-IN" dirty="0" err="1"/>
              <a:t>forEach</a:t>
            </a:r>
            <a:r>
              <a:rPr lang="en-IN" dirty="0"/>
              <a:t> with List</a:t>
            </a:r>
          </a:p>
        </p:txBody>
      </p:sp>
      <p:sp>
        <p:nvSpPr>
          <p:cNvPr id="3" name="Content Placeholder 2">
            <a:extLst>
              <a:ext uri="{FF2B5EF4-FFF2-40B4-BE49-F238E27FC236}">
                <a16:creationId xmlns:a16="http://schemas.microsoft.com/office/drawing/2014/main" id="{93D7757D-D2D8-A80B-3F92-517BA4E5B683}"/>
              </a:ext>
            </a:extLst>
          </p:cNvPr>
          <p:cNvSpPr>
            <a:spLocks noGrp="1"/>
          </p:cNvSpPr>
          <p:nvPr>
            <p:ph idx="1"/>
          </p:nvPr>
        </p:nvSpPr>
        <p:spPr/>
        <p:txBody>
          <a:bodyPr>
            <a:normAutofit fontScale="85000" lnSpcReduction="20000"/>
          </a:bodyPr>
          <a:lstStyle/>
          <a:p>
            <a:pPr marL="0" indent="0">
              <a:buNone/>
            </a:pPr>
            <a:r>
              <a:rPr lang="en-IN" dirty="0"/>
              <a:t>import </a:t>
            </a:r>
            <a:r>
              <a:rPr lang="en-IN" dirty="0" err="1"/>
              <a:t>java.util</a:t>
            </a:r>
            <a:r>
              <a:rPr lang="en-IN" dirty="0"/>
              <a:t>.*;</a:t>
            </a:r>
          </a:p>
          <a:p>
            <a:pPr marL="0" indent="0">
              <a:buNone/>
            </a:pPr>
            <a:endParaRPr lang="en-IN" dirty="0"/>
          </a:p>
          <a:p>
            <a:pPr marL="0" indent="0">
              <a:buNone/>
            </a:pPr>
            <a:r>
              <a:rPr lang="en-IN" dirty="0"/>
              <a:t>public class Main {</a:t>
            </a:r>
          </a:p>
          <a:p>
            <a:pPr marL="0" indent="0">
              <a:buNone/>
            </a:pPr>
            <a:r>
              <a:rPr lang="en-IN" dirty="0"/>
              <a:t>    public static void main(String[] </a:t>
            </a:r>
            <a:r>
              <a:rPr lang="en-IN" dirty="0" err="1"/>
              <a:t>args</a:t>
            </a:r>
            <a:r>
              <a:rPr lang="en-IN" dirty="0"/>
              <a:t>) {</a:t>
            </a:r>
          </a:p>
          <a:p>
            <a:pPr marL="0" indent="0">
              <a:buNone/>
            </a:pPr>
            <a:r>
              <a:rPr lang="en-IN" dirty="0"/>
              <a:t>        List&lt;String&gt; names = </a:t>
            </a:r>
            <a:r>
              <a:rPr lang="en-IN" dirty="0" err="1"/>
              <a:t>Arrays.asList</a:t>
            </a:r>
            <a:r>
              <a:rPr lang="en-IN" dirty="0"/>
              <a:t>(“Sanyam", "Yogita", "Riya");</a:t>
            </a:r>
          </a:p>
          <a:p>
            <a:pPr marL="0" indent="0">
              <a:buNone/>
            </a:pPr>
            <a:endParaRPr lang="en-IN" dirty="0"/>
          </a:p>
          <a:p>
            <a:pPr marL="0" indent="0">
              <a:buNone/>
            </a:pPr>
            <a:r>
              <a:rPr lang="en-IN" dirty="0"/>
              <a:t>        </a:t>
            </a:r>
            <a:r>
              <a:rPr lang="en-IN" dirty="0" err="1"/>
              <a:t>names.forEach</a:t>
            </a:r>
            <a:r>
              <a:rPr lang="en-IN" dirty="0"/>
              <a:t>(name -&gt; {</a:t>
            </a:r>
          </a:p>
          <a:p>
            <a:pPr marL="0" indent="0">
              <a:buNone/>
            </a:pPr>
            <a:r>
              <a:rPr lang="en-IN" dirty="0"/>
              <a:t>            </a:t>
            </a:r>
            <a:r>
              <a:rPr lang="en-IN" dirty="0" err="1"/>
              <a:t>System.out.println</a:t>
            </a:r>
            <a:r>
              <a:rPr lang="en-IN" dirty="0"/>
              <a:t>(name);</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0262440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5D4B4-BC27-0604-FC25-9A67070A9032}"/>
              </a:ext>
            </a:extLst>
          </p:cNvPr>
          <p:cNvSpPr>
            <a:spLocks noGrp="1"/>
          </p:cNvSpPr>
          <p:nvPr>
            <p:ph type="title"/>
          </p:nvPr>
        </p:nvSpPr>
        <p:spPr/>
        <p:txBody>
          <a:bodyPr/>
          <a:lstStyle/>
          <a:p>
            <a:r>
              <a:rPr lang="en-IN" dirty="0"/>
              <a:t>Using </a:t>
            </a:r>
            <a:r>
              <a:rPr lang="en-IN" dirty="0" err="1"/>
              <a:t>forEach</a:t>
            </a:r>
            <a:r>
              <a:rPr lang="en-IN" dirty="0"/>
              <a:t> with Set</a:t>
            </a:r>
          </a:p>
        </p:txBody>
      </p:sp>
      <p:sp>
        <p:nvSpPr>
          <p:cNvPr id="3" name="Content Placeholder 2">
            <a:extLst>
              <a:ext uri="{FF2B5EF4-FFF2-40B4-BE49-F238E27FC236}">
                <a16:creationId xmlns:a16="http://schemas.microsoft.com/office/drawing/2014/main" id="{B26DB4BF-5148-9CC4-726E-7C7474FFEEDB}"/>
              </a:ext>
            </a:extLst>
          </p:cNvPr>
          <p:cNvSpPr>
            <a:spLocks noGrp="1"/>
          </p:cNvSpPr>
          <p:nvPr>
            <p:ph idx="1"/>
          </p:nvPr>
        </p:nvSpPr>
        <p:spPr/>
        <p:txBody>
          <a:bodyPr/>
          <a:lstStyle/>
          <a:p>
            <a:pPr marL="0" indent="0">
              <a:buNone/>
            </a:pPr>
            <a:r>
              <a:rPr lang="en-IN" dirty="0"/>
              <a:t>Set&lt;Integer&gt; numbers = new HashSet&lt;&gt;();</a:t>
            </a:r>
          </a:p>
          <a:p>
            <a:pPr marL="0" indent="0">
              <a:buNone/>
            </a:pPr>
            <a:r>
              <a:rPr lang="en-IN" dirty="0" err="1"/>
              <a:t>numbers.add</a:t>
            </a:r>
            <a:r>
              <a:rPr lang="en-IN" dirty="0"/>
              <a:t>(10);</a:t>
            </a:r>
          </a:p>
          <a:p>
            <a:pPr marL="0" indent="0">
              <a:buNone/>
            </a:pPr>
            <a:r>
              <a:rPr lang="en-IN" dirty="0" err="1"/>
              <a:t>numbers.add</a:t>
            </a:r>
            <a:r>
              <a:rPr lang="en-IN" dirty="0"/>
              <a:t>(20);</a:t>
            </a:r>
          </a:p>
          <a:p>
            <a:pPr marL="0" indent="0">
              <a:buNone/>
            </a:pPr>
            <a:r>
              <a:rPr lang="en-IN" dirty="0" err="1"/>
              <a:t>numbers.add</a:t>
            </a:r>
            <a:r>
              <a:rPr lang="en-IN" dirty="0"/>
              <a:t>(30);</a:t>
            </a:r>
          </a:p>
          <a:p>
            <a:pPr marL="0" indent="0">
              <a:buNone/>
            </a:pPr>
            <a:endParaRPr lang="en-IN" dirty="0"/>
          </a:p>
          <a:p>
            <a:pPr marL="0" indent="0">
              <a:buNone/>
            </a:pPr>
            <a:r>
              <a:rPr lang="en-IN" dirty="0" err="1"/>
              <a:t>numbers.forEach</a:t>
            </a:r>
            <a:r>
              <a:rPr lang="en-IN" dirty="0"/>
              <a:t>(n -&gt; </a:t>
            </a:r>
            <a:r>
              <a:rPr lang="en-IN" dirty="0" err="1"/>
              <a:t>System.out.println</a:t>
            </a:r>
            <a:r>
              <a:rPr lang="en-IN" dirty="0"/>
              <a:t>(n));</a:t>
            </a:r>
          </a:p>
          <a:p>
            <a:pPr marL="0" indent="0">
              <a:buNone/>
            </a:pPr>
            <a:endParaRPr lang="en-IN" dirty="0"/>
          </a:p>
        </p:txBody>
      </p:sp>
    </p:spTree>
    <p:extLst>
      <p:ext uri="{BB962C8B-B14F-4D97-AF65-F5344CB8AC3E}">
        <p14:creationId xmlns:p14="http://schemas.microsoft.com/office/powerpoint/2010/main" val="3262087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0CCFC-61AD-35F6-EC65-4429443D9159}"/>
              </a:ext>
            </a:extLst>
          </p:cNvPr>
          <p:cNvSpPr>
            <a:spLocks noGrp="1"/>
          </p:cNvSpPr>
          <p:nvPr>
            <p:ph type="title"/>
          </p:nvPr>
        </p:nvSpPr>
        <p:spPr/>
        <p:txBody>
          <a:bodyPr/>
          <a:lstStyle/>
          <a:p>
            <a:r>
              <a:rPr lang="en-IN" dirty="0"/>
              <a:t>Using </a:t>
            </a:r>
            <a:r>
              <a:rPr lang="en-IN" dirty="0" err="1"/>
              <a:t>forEach</a:t>
            </a:r>
            <a:r>
              <a:rPr lang="en-IN" dirty="0"/>
              <a:t> with Map</a:t>
            </a:r>
          </a:p>
        </p:txBody>
      </p:sp>
      <p:sp>
        <p:nvSpPr>
          <p:cNvPr id="3" name="Content Placeholder 2">
            <a:extLst>
              <a:ext uri="{FF2B5EF4-FFF2-40B4-BE49-F238E27FC236}">
                <a16:creationId xmlns:a16="http://schemas.microsoft.com/office/drawing/2014/main" id="{A1CC11D5-049D-B0F7-28AB-33A90D507DBF}"/>
              </a:ext>
            </a:extLst>
          </p:cNvPr>
          <p:cNvSpPr>
            <a:spLocks noGrp="1"/>
          </p:cNvSpPr>
          <p:nvPr>
            <p:ph idx="1"/>
          </p:nvPr>
        </p:nvSpPr>
        <p:spPr/>
        <p:txBody>
          <a:bodyPr/>
          <a:lstStyle/>
          <a:p>
            <a:pPr marL="0" indent="0">
              <a:buNone/>
            </a:pPr>
            <a:r>
              <a:rPr lang="en-IN" dirty="0"/>
              <a:t>Map&lt;Integer, String&gt; map = new HashMap&lt;&gt;();</a:t>
            </a:r>
          </a:p>
          <a:p>
            <a:pPr marL="0" indent="0">
              <a:buNone/>
            </a:pPr>
            <a:r>
              <a:rPr lang="en-IN" dirty="0" err="1"/>
              <a:t>map.put</a:t>
            </a:r>
            <a:r>
              <a:rPr lang="en-IN" dirty="0"/>
              <a:t>(1, "Sanyam");</a:t>
            </a:r>
          </a:p>
          <a:p>
            <a:pPr marL="0" indent="0">
              <a:buNone/>
            </a:pPr>
            <a:r>
              <a:rPr lang="en-IN" dirty="0" err="1"/>
              <a:t>map.put</a:t>
            </a:r>
            <a:r>
              <a:rPr lang="en-IN" dirty="0"/>
              <a:t>(2, "Yogita");</a:t>
            </a:r>
          </a:p>
          <a:p>
            <a:pPr marL="0" indent="0">
              <a:buNone/>
            </a:pPr>
            <a:endParaRPr lang="en-IN" dirty="0"/>
          </a:p>
          <a:p>
            <a:pPr marL="0" indent="0">
              <a:buNone/>
            </a:pPr>
            <a:r>
              <a:rPr lang="en-IN" dirty="0" err="1"/>
              <a:t>map.forEach</a:t>
            </a:r>
            <a:r>
              <a:rPr lang="en-IN" dirty="0"/>
              <a:t>((key, value) -&gt; {</a:t>
            </a:r>
          </a:p>
          <a:p>
            <a:pPr marL="0" indent="0">
              <a:buNone/>
            </a:pPr>
            <a:r>
              <a:rPr lang="en-IN" dirty="0"/>
              <a:t>    </a:t>
            </a:r>
            <a:r>
              <a:rPr lang="en-IN" dirty="0" err="1"/>
              <a:t>System.out.println</a:t>
            </a:r>
            <a:r>
              <a:rPr lang="en-IN" dirty="0"/>
              <a:t>(key + " : " + value);</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949659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6559-B9F1-0046-46D3-C72D7F5DFCA6}"/>
              </a:ext>
            </a:extLst>
          </p:cNvPr>
          <p:cNvSpPr>
            <a:spLocks noGrp="1"/>
          </p:cNvSpPr>
          <p:nvPr>
            <p:ph type="title"/>
          </p:nvPr>
        </p:nvSpPr>
        <p:spPr/>
        <p:txBody>
          <a:bodyPr/>
          <a:lstStyle/>
          <a:p>
            <a:r>
              <a:rPr lang="en-IN" dirty="0"/>
              <a:t> With Method Reference</a:t>
            </a:r>
          </a:p>
        </p:txBody>
      </p:sp>
      <p:sp>
        <p:nvSpPr>
          <p:cNvPr id="3" name="Content Placeholder 2">
            <a:extLst>
              <a:ext uri="{FF2B5EF4-FFF2-40B4-BE49-F238E27FC236}">
                <a16:creationId xmlns:a16="http://schemas.microsoft.com/office/drawing/2014/main" id="{D30B4BE0-CFC8-9087-2530-5A1144A43298}"/>
              </a:ext>
            </a:extLst>
          </p:cNvPr>
          <p:cNvSpPr>
            <a:spLocks noGrp="1"/>
          </p:cNvSpPr>
          <p:nvPr>
            <p:ph idx="1"/>
          </p:nvPr>
        </p:nvSpPr>
        <p:spPr>
          <a:xfrm>
            <a:off x="838200" y="1536192"/>
            <a:ext cx="10515600" cy="4640771"/>
          </a:xfrm>
        </p:spPr>
        <p:txBody>
          <a:bodyPr>
            <a:normAutofit fontScale="62500" lnSpcReduction="20000"/>
          </a:bodyPr>
          <a:lstStyle/>
          <a:p>
            <a:pPr marL="0" indent="0">
              <a:buNone/>
            </a:pPr>
            <a:r>
              <a:rPr lang="en-IN" dirty="0"/>
              <a:t>import </a:t>
            </a:r>
            <a:r>
              <a:rPr lang="en-IN" dirty="0" err="1"/>
              <a:t>java.util</a:t>
            </a:r>
            <a:r>
              <a:rPr lang="en-IN" dirty="0"/>
              <a:t>.*;</a:t>
            </a:r>
          </a:p>
          <a:p>
            <a:pPr marL="0" indent="0">
              <a:buNone/>
            </a:pPr>
            <a:endParaRPr lang="en-IN" dirty="0"/>
          </a:p>
          <a:p>
            <a:pPr marL="0" indent="0">
              <a:buNone/>
            </a:pPr>
            <a:r>
              <a:rPr lang="en-IN" dirty="0"/>
              <a:t>public class Main {</a:t>
            </a:r>
          </a:p>
          <a:p>
            <a:pPr marL="0" indent="0">
              <a:buNone/>
            </a:pPr>
            <a:endParaRPr lang="en-IN" dirty="0"/>
          </a:p>
          <a:p>
            <a:pPr marL="0" indent="0">
              <a:buNone/>
            </a:pPr>
            <a:r>
              <a:rPr lang="en-IN" dirty="0"/>
              <a:t>    public static void </a:t>
            </a:r>
            <a:r>
              <a:rPr lang="en-IN" dirty="0" err="1"/>
              <a:t>printName</a:t>
            </a:r>
            <a:r>
              <a:rPr lang="en-IN" dirty="0"/>
              <a:t>(String name) {</a:t>
            </a:r>
          </a:p>
          <a:p>
            <a:pPr marL="0" indent="0">
              <a:buNone/>
            </a:pPr>
            <a:r>
              <a:rPr lang="en-IN" dirty="0"/>
              <a:t>        </a:t>
            </a:r>
            <a:r>
              <a:rPr lang="en-IN" dirty="0" err="1"/>
              <a:t>System.out.println</a:t>
            </a:r>
            <a:r>
              <a:rPr lang="en-IN" dirty="0"/>
              <a:t>(name);</a:t>
            </a:r>
          </a:p>
          <a:p>
            <a:pPr marL="0" indent="0">
              <a:buNone/>
            </a:pPr>
            <a:r>
              <a:rPr lang="en-IN" dirty="0"/>
              <a: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r>
              <a:rPr lang="en-IN" dirty="0"/>
              <a:t>        List&lt;String&gt; names = </a:t>
            </a:r>
            <a:r>
              <a:rPr lang="en-IN" dirty="0" err="1"/>
              <a:t>Arrays.asList</a:t>
            </a:r>
            <a:r>
              <a:rPr lang="en-IN" dirty="0"/>
              <a:t>("Sanyam", "Yogita", "Riya");</a:t>
            </a:r>
          </a:p>
          <a:p>
            <a:pPr marL="0" indent="0">
              <a:buNone/>
            </a:pPr>
            <a:endParaRPr lang="en-IN" dirty="0"/>
          </a:p>
          <a:p>
            <a:pPr marL="0" indent="0">
              <a:buNone/>
            </a:pPr>
            <a:r>
              <a:rPr lang="en-IN" dirty="0"/>
              <a:t>        </a:t>
            </a:r>
            <a:r>
              <a:rPr lang="en-IN" dirty="0" err="1"/>
              <a:t>names.forEach</a:t>
            </a:r>
            <a:r>
              <a:rPr lang="en-IN" dirty="0"/>
              <a:t>(Main::</a:t>
            </a:r>
            <a:r>
              <a:rPr lang="en-IN" dirty="0" err="1"/>
              <a:t>printName</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260780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4F1B2-8521-3900-9C4A-616AEE6BE40F}"/>
              </a:ext>
            </a:extLst>
          </p:cNvPr>
          <p:cNvSpPr>
            <a:spLocks noGrp="1"/>
          </p:cNvSpPr>
          <p:nvPr>
            <p:ph type="title"/>
          </p:nvPr>
        </p:nvSpPr>
        <p:spPr/>
        <p:txBody>
          <a:bodyPr/>
          <a:lstStyle/>
          <a:p>
            <a:r>
              <a:rPr lang="en-IN" b="1" dirty="0"/>
              <a:t>Switch expression</a:t>
            </a:r>
            <a:br>
              <a:rPr lang="en-IN" dirty="0"/>
            </a:br>
            <a:endParaRPr lang="en-IN" dirty="0"/>
          </a:p>
        </p:txBody>
      </p:sp>
      <p:sp>
        <p:nvSpPr>
          <p:cNvPr id="5" name="Content Placeholder 4">
            <a:extLst>
              <a:ext uri="{FF2B5EF4-FFF2-40B4-BE49-F238E27FC236}">
                <a16:creationId xmlns:a16="http://schemas.microsoft.com/office/drawing/2014/main" id="{9F442D42-7C87-6E7A-D6AF-68C664380E76}"/>
              </a:ext>
            </a:extLst>
          </p:cNvPr>
          <p:cNvSpPr>
            <a:spLocks noGrp="1"/>
          </p:cNvSpPr>
          <p:nvPr>
            <p:ph idx="1"/>
          </p:nvPr>
        </p:nvSpPr>
        <p:spPr/>
        <p:txBody>
          <a:bodyPr/>
          <a:lstStyle/>
          <a:p>
            <a:r>
              <a:rPr lang="en-US" dirty="0"/>
              <a:t>Before Java 14 (preview in 12/13), switch was a </a:t>
            </a:r>
            <a:r>
              <a:rPr lang="en-US" b="1" dirty="0"/>
              <a:t>statement</a:t>
            </a:r>
            <a:r>
              <a:rPr lang="en-US" dirty="0"/>
              <a:t>.</a:t>
            </a:r>
          </a:p>
          <a:p>
            <a:r>
              <a:rPr lang="en-US" dirty="0"/>
              <a:t>Now in modern Java, switch can also be an </a:t>
            </a:r>
            <a:r>
              <a:rPr lang="en-US" b="1" dirty="0"/>
              <a:t>expression</a:t>
            </a:r>
            <a:r>
              <a:rPr lang="en-US" dirty="0"/>
              <a:t>, meaning:</a:t>
            </a:r>
          </a:p>
          <a:p>
            <a:pPr marL="457200" lvl="1" indent="0">
              <a:buNone/>
            </a:pPr>
            <a:r>
              <a:rPr lang="en-US" dirty="0"/>
              <a:t>It returns a value</a:t>
            </a:r>
            <a:br>
              <a:rPr lang="en-US" dirty="0"/>
            </a:br>
            <a:r>
              <a:rPr lang="en-US" dirty="0"/>
              <a:t>No need for break</a:t>
            </a:r>
            <a:br>
              <a:rPr lang="en-US" dirty="0"/>
            </a:br>
            <a:r>
              <a:rPr lang="en-US" dirty="0"/>
              <a:t>Cleaner syntax</a:t>
            </a:r>
          </a:p>
          <a:p>
            <a:pPr marL="0" indent="0">
              <a:buNone/>
            </a:pPr>
            <a:r>
              <a:rPr lang="en-IN" dirty="0"/>
              <a:t>A switch expression allows each case to return a value. Arrow syntax is commonly used, making the code shorter and clearer.</a:t>
            </a:r>
          </a:p>
          <a:p>
            <a:pPr marL="457200" lvl="1" indent="0">
              <a:buNone/>
            </a:pPr>
            <a:endParaRPr lang="en-US" dirty="0"/>
          </a:p>
          <a:p>
            <a:endParaRPr lang="en-IN" dirty="0"/>
          </a:p>
        </p:txBody>
      </p:sp>
    </p:spTree>
    <p:extLst>
      <p:ext uri="{BB962C8B-B14F-4D97-AF65-F5344CB8AC3E}">
        <p14:creationId xmlns:p14="http://schemas.microsoft.com/office/powerpoint/2010/main" val="3337327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E8D46-7800-7A03-7189-44BF0536E14A}"/>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E639562E-2CC2-BE6E-2BC7-D0C9E57A4FE9}"/>
              </a:ext>
            </a:extLst>
          </p:cNvPr>
          <p:cNvSpPr>
            <a:spLocks noGrp="1"/>
          </p:cNvSpPr>
          <p:nvPr>
            <p:ph idx="1"/>
          </p:nvPr>
        </p:nvSpPr>
        <p:spPr/>
        <p:txBody>
          <a:bodyPr/>
          <a:lstStyle/>
          <a:p>
            <a:r>
              <a:rPr lang="en-IN" dirty="0"/>
              <a:t>Syntax of switch expression:</a:t>
            </a:r>
          </a:p>
          <a:p>
            <a:pPr marL="0" indent="0">
              <a:buNone/>
            </a:pPr>
            <a:endParaRPr lang="en-IN" dirty="0"/>
          </a:p>
          <a:p>
            <a:pPr marL="457200" lvl="1" indent="0">
              <a:buNone/>
            </a:pPr>
            <a:r>
              <a:rPr lang="en-IN" dirty="0"/>
              <a:t>result = switch (variable) {</a:t>
            </a:r>
          </a:p>
          <a:p>
            <a:pPr marL="457200" lvl="1" indent="0">
              <a:buNone/>
            </a:pPr>
            <a:r>
              <a:rPr lang="en-IN" dirty="0"/>
              <a:t>case value1 -&gt; expression1;</a:t>
            </a:r>
          </a:p>
          <a:p>
            <a:pPr marL="457200" lvl="1" indent="0">
              <a:buNone/>
            </a:pPr>
            <a:r>
              <a:rPr lang="en-IN" dirty="0"/>
              <a:t>case value2 -&gt; expression2;</a:t>
            </a:r>
          </a:p>
          <a:p>
            <a:pPr marL="457200" lvl="1" indent="0">
              <a:buNone/>
            </a:pPr>
            <a:r>
              <a:rPr lang="en-IN" dirty="0"/>
              <a:t>default -&gt; expression3;</a:t>
            </a:r>
          </a:p>
          <a:p>
            <a:pPr marL="457200" lvl="1" indent="0">
              <a:buNone/>
            </a:pPr>
            <a:r>
              <a:rPr lang="en-IN" dirty="0"/>
              <a:t>};</a:t>
            </a:r>
          </a:p>
          <a:p>
            <a:pPr marL="0" indent="0">
              <a:buNone/>
            </a:pPr>
            <a:endParaRPr lang="en-IN" dirty="0"/>
          </a:p>
        </p:txBody>
      </p:sp>
    </p:spTree>
    <p:extLst>
      <p:ext uri="{BB962C8B-B14F-4D97-AF65-F5344CB8AC3E}">
        <p14:creationId xmlns:p14="http://schemas.microsoft.com/office/powerpoint/2010/main" val="1227865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F030E-5E38-BF9F-4065-FAE544C55A0F}"/>
              </a:ext>
            </a:extLst>
          </p:cNvPr>
          <p:cNvSpPr>
            <a:spLocks noGrp="1"/>
          </p:cNvSpPr>
          <p:nvPr>
            <p:ph type="title"/>
          </p:nvPr>
        </p:nvSpPr>
        <p:spPr/>
        <p:txBody>
          <a:bodyPr/>
          <a:lstStyle/>
          <a:p>
            <a:r>
              <a:rPr lang="en-IN" b="1" dirty="0"/>
              <a:t>With switch statement</a:t>
            </a:r>
          </a:p>
        </p:txBody>
      </p:sp>
      <p:sp>
        <p:nvSpPr>
          <p:cNvPr id="3" name="Content Placeholder 2">
            <a:extLst>
              <a:ext uri="{FF2B5EF4-FFF2-40B4-BE49-F238E27FC236}">
                <a16:creationId xmlns:a16="http://schemas.microsoft.com/office/drawing/2014/main" id="{61FDE361-31FE-0666-A497-17B9B7699CD1}"/>
              </a:ext>
            </a:extLst>
          </p:cNvPr>
          <p:cNvSpPr>
            <a:spLocks noGrp="1"/>
          </p:cNvSpPr>
          <p:nvPr>
            <p:ph idx="1"/>
          </p:nvPr>
        </p:nvSpPr>
        <p:spPr/>
        <p:txBody>
          <a:bodyPr>
            <a:normAutofit fontScale="62500" lnSpcReduction="20000"/>
          </a:bodyPr>
          <a:lstStyle/>
          <a:p>
            <a:pPr marL="0" indent="0">
              <a:buNone/>
            </a:pPr>
            <a:r>
              <a:rPr lang="en-US" dirty="0"/>
              <a:t>int day = 2;</a:t>
            </a:r>
          </a:p>
          <a:p>
            <a:pPr marL="0" indent="0">
              <a:buNone/>
            </a:pPr>
            <a:r>
              <a:rPr lang="en-US" dirty="0"/>
              <a:t>String result;</a:t>
            </a:r>
          </a:p>
          <a:p>
            <a:pPr marL="0" indent="0">
              <a:buNone/>
            </a:pPr>
            <a:endParaRPr lang="en-US" dirty="0"/>
          </a:p>
          <a:p>
            <a:pPr marL="0" indent="0">
              <a:buNone/>
            </a:pPr>
            <a:r>
              <a:rPr lang="en-US" dirty="0"/>
              <a:t>switch(day) {</a:t>
            </a:r>
          </a:p>
          <a:p>
            <a:pPr marL="0" indent="0">
              <a:buNone/>
            </a:pPr>
            <a:r>
              <a:rPr lang="en-US" dirty="0"/>
              <a:t>    case 1:</a:t>
            </a:r>
          </a:p>
          <a:p>
            <a:pPr marL="0" indent="0">
              <a:buNone/>
            </a:pPr>
            <a:r>
              <a:rPr lang="en-US" dirty="0"/>
              <a:t>        result = "Monday";</a:t>
            </a:r>
          </a:p>
          <a:p>
            <a:pPr marL="0" indent="0">
              <a:buNone/>
            </a:pPr>
            <a:r>
              <a:rPr lang="en-US" dirty="0"/>
              <a:t>        break;</a:t>
            </a:r>
          </a:p>
          <a:p>
            <a:pPr marL="0" indent="0">
              <a:buNone/>
            </a:pPr>
            <a:r>
              <a:rPr lang="en-US" dirty="0"/>
              <a:t>    case 2:</a:t>
            </a:r>
          </a:p>
          <a:p>
            <a:pPr marL="0" indent="0">
              <a:buNone/>
            </a:pPr>
            <a:r>
              <a:rPr lang="en-US" dirty="0"/>
              <a:t>        result = "Tuesday";</a:t>
            </a:r>
          </a:p>
          <a:p>
            <a:pPr marL="0" indent="0">
              <a:buNone/>
            </a:pPr>
            <a:r>
              <a:rPr lang="en-US" dirty="0"/>
              <a:t>        break;</a:t>
            </a:r>
          </a:p>
          <a:p>
            <a:pPr marL="0" indent="0">
              <a:buNone/>
            </a:pPr>
            <a:r>
              <a:rPr lang="en-US" dirty="0"/>
              <a:t>    default:</a:t>
            </a:r>
          </a:p>
          <a:p>
            <a:pPr marL="0" indent="0">
              <a:buNone/>
            </a:pPr>
            <a:r>
              <a:rPr lang="en-US" dirty="0"/>
              <a:t>        result = "Invalid";</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3748148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B9229-8E9C-2927-349B-93A6D338C9ED}"/>
              </a:ext>
            </a:extLst>
          </p:cNvPr>
          <p:cNvSpPr>
            <a:spLocks noGrp="1"/>
          </p:cNvSpPr>
          <p:nvPr>
            <p:ph type="title"/>
          </p:nvPr>
        </p:nvSpPr>
        <p:spPr/>
        <p:txBody>
          <a:bodyPr/>
          <a:lstStyle/>
          <a:p>
            <a:r>
              <a:rPr lang="en-IN" dirty="0"/>
              <a:t>With switch </a:t>
            </a:r>
            <a:r>
              <a:rPr lang="en-IN" dirty="0" err="1"/>
              <a:t>exprssion</a:t>
            </a:r>
            <a:endParaRPr lang="en-IN" dirty="0"/>
          </a:p>
        </p:txBody>
      </p:sp>
      <p:sp>
        <p:nvSpPr>
          <p:cNvPr id="3" name="Content Placeholder 2">
            <a:extLst>
              <a:ext uri="{FF2B5EF4-FFF2-40B4-BE49-F238E27FC236}">
                <a16:creationId xmlns:a16="http://schemas.microsoft.com/office/drawing/2014/main" id="{586B720F-0E19-7A2B-7AD4-44006474479E}"/>
              </a:ext>
            </a:extLst>
          </p:cNvPr>
          <p:cNvSpPr>
            <a:spLocks noGrp="1"/>
          </p:cNvSpPr>
          <p:nvPr>
            <p:ph idx="1"/>
          </p:nvPr>
        </p:nvSpPr>
        <p:spPr/>
        <p:txBody>
          <a:bodyPr>
            <a:normAutofit lnSpcReduction="10000"/>
          </a:bodyPr>
          <a:lstStyle/>
          <a:p>
            <a:pPr marL="0" indent="0">
              <a:buNone/>
            </a:pPr>
            <a:r>
              <a:rPr lang="en-US" dirty="0"/>
              <a:t>int day = 2;</a:t>
            </a:r>
          </a:p>
          <a:p>
            <a:pPr marL="0" indent="0">
              <a:buNone/>
            </a:pPr>
            <a:endParaRPr lang="en-US" dirty="0"/>
          </a:p>
          <a:p>
            <a:pPr marL="0" indent="0">
              <a:buNone/>
            </a:pPr>
            <a:r>
              <a:rPr lang="en-US" dirty="0"/>
              <a:t>String result = switch(day) {</a:t>
            </a:r>
          </a:p>
          <a:p>
            <a:pPr marL="0" indent="0">
              <a:buNone/>
            </a:pPr>
            <a:r>
              <a:rPr lang="en-US" dirty="0"/>
              <a:t>    case 1 -&gt; "Monday";</a:t>
            </a:r>
          </a:p>
          <a:p>
            <a:pPr marL="0" indent="0">
              <a:buNone/>
            </a:pPr>
            <a:r>
              <a:rPr lang="en-US" dirty="0"/>
              <a:t>    case 2 -&gt; "Tuesday";</a:t>
            </a:r>
          </a:p>
          <a:p>
            <a:pPr marL="0" indent="0">
              <a:buNone/>
            </a:pPr>
            <a:r>
              <a:rPr lang="en-US" dirty="0"/>
              <a:t>    default -&gt; "Invalid";</a:t>
            </a:r>
          </a:p>
          <a:p>
            <a:pPr marL="0" indent="0">
              <a:buNone/>
            </a:pPr>
            <a:r>
              <a:rPr lang="en-US" dirty="0"/>
              <a:t>};</a:t>
            </a:r>
          </a:p>
          <a:p>
            <a:pPr marL="0" indent="0">
              <a:buNone/>
            </a:pPr>
            <a:endParaRPr lang="en-US" dirty="0"/>
          </a:p>
          <a:p>
            <a:pPr marL="0" indent="0">
              <a:buNone/>
            </a:pPr>
            <a:r>
              <a:rPr lang="en-US" dirty="0" err="1"/>
              <a:t>System.out.println</a:t>
            </a:r>
            <a:r>
              <a:rPr lang="en-US" dirty="0"/>
              <a:t>(result);</a:t>
            </a:r>
          </a:p>
          <a:p>
            <a:pPr marL="0" indent="0">
              <a:buNone/>
            </a:pPr>
            <a:endParaRPr lang="en-IN" dirty="0"/>
          </a:p>
        </p:txBody>
      </p:sp>
    </p:spTree>
    <p:extLst>
      <p:ext uri="{BB962C8B-B14F-4D97-AF65-F5344CB8AC3E}">
        <p14:creationId xmlns:p14="http://schemas.microsoft.com/office/powerpoint/2010/main" val="35985929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5A84D-ED87-240A-B76F-A9F5D76610FC}"/>
              </a:ext>
            </a:extLst>
          </p:cNvPr>
          <p:cNvSpPr>
            <a:spLocks noGrp="1"/>
          </p:cNvSpPr>
          <p:nvPr>
            <p:ph type="title"/>
          </p:nvPr>
        </p:nvSpPr>
        <p:spPr/>
        <p:txBody>
          <a:bodyPr/>
          <a:lstStyle/>
          <a:p>
            <a:r>
              <a:rPr lang="en-US" dirty="0"/>
              <a:t>Multiple Labels in One Case</a:t>
            </a:r>
            <a:endParaRPr lang="en-IN" dirty="0"/>
          </a:p>
        </p:txBody>
      </p:sp>
      <p:sp>
        <p:nvSpPr>
          <p:cNvPr id="3" name="Content Placeholder 2">
            <a:extLst>
              <a:ext uri="{FF2B5EF4-FFF2-40B4-BE49-F238E27FC236}">
                <a16:creationId xmlns:a16="http://schemas.microsoft.com/office/drawing/2014/main" id="{501F6589-F081-47C5-37BB-25C4786B5393}"/>
              </a:ext>
            </a:extLst>
          </p:cNvPr>
          <p:cNvSpPr>
            <a:spLocks noGrp="1"/>
          </p:cNvSpPr>
          <p:nvPr>
            <p:ph idx="1"/>
          </p:nvPr>
        </p:nvSpPr>
        <p:spPr/>
        <p:txBody>
          <a:bodyPr/>
          <a:lstStyle/>
          <a:p>
            <a:pPr marL="0" indent="0">
              <a:buNone/>
            </a:pPr>
            <a:r>
              <a:rPr lang="en-US" dirty="0"/>
              <a:t>int day = 6;</a:t>
            </a:r>
          </a:p>
          <a:p>
            <a:pPr marL="0" indent="0">
              <a:buNone/>
            </a:pPr>
            <a:endParaRPr lang="en-US" dirty="0"/>
          </a:p>
          <a:p>
            <a:pPr marL="0" indent="0">
              <a:buNone/>
            </a:pPr>
            <a:r>
              <a:rPr lang="en-US" dirty="0"/>
              <a:t>String type = switch(day) {</a:t>
            </a:r>
          </a:p>
          <a:p>
            <a:pPr marL="0" indent="0">
              <a:buNone/>
            </a:pPr>
            <a:r>
              <a:rPr lang="en-US" dirty="0"/>
              <a:t>    case 1, 2, 3, 4, 5 -&gt; "Weekday";</a:t>
            </a:r>
          </a:p>
          <a:p>
            <a:pPr marL="0" indent="0">
              <a:buNone/>
            </a:pPr>
            <a:r>
              <a:rPr lang="en-US" dirty="0"/>
              <a:t>    case 6, 7 -&gt; "Weekend";</a:t>
            </a:r>
          </a:p>
          <a:p>
            <a:pPr marL="0" indent="0">
              <a:buNone/>
            </a:pPr>
            <a:r>
              <a:rPr lang="en-US" dirty="0"/>
              <a:t>    default -&gt; "Invalid";</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3557276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0D15-DD01-8411-7420-735A214051EE}"/>
              </a:ext>
            </a:extLst>
          </p:cNvPr>
          <p:cNvSpPr>
            <a:spLocks noGrp="1"/>
          </p:cNvSpPr>
          <p:nvPr>
            <p:ph type="title"/>
          </p:nvPr>
        </p:nvSpPr>
        <p:spPr/>
        <p:txBody>
          <a:bodyPr/>
          <a:lstStyle/>
          <a:p>
            <a:r>
              <a:rPr lang="en-IN" dirty="0"/>
              <a:t>Block with Multiple Statements</a:t>
            </a:r>
          </a:p>
        </p:txBody>
      </p:sp>
      <p:sp>
        <p:nvSpPr>
          <p:cNvPr id="3" name="Content Placeholder 2">
            <a:extLst>
              <a:ext uri="{FF2B5EF4-FFF2-40B4-BE49-F238E27FC236}">
                <a16:creationId xmlns:a16="http://schemas.microsoft.com/office/drawing/2014/main" id="{2078B2C0-35B7-ED51-D23E-44254D72127B}"/>
              </a:ext>
            </a:extLst>
          </p:cNvPr>
          <p:cNvSpPr>
            <a:spLocks noGrp="1"/>
          </p:cNvSpPr>
          <p:nvPr>
            <p:ph idx="1"/>
          </p:nvPr>
        </p:nvSpPr>
        <p:spPr/>
        <p:txBody>
          <a:bodyPr>
            <a:normAutofit fontScale="92500" lnSpcReduction="20000"/>
          </a:bodyPr>
          <a:lstStyle/>
          <a:p>
            <a:pPr marL="0" indent="0">
              <a:buNone/>
            </a:pPr>
            <a:r>
              <a:rPr lang="en-US" dirty="0"/>
              <a:t>int num = 5;</a:t>
            </a:r>
          </a:p>
          <a:p>
            <a:pPr marL="0" indent="0">
              <a:buNone/>
            </a:pPr>
            <a:endParaRPr lang="en-US" dirty="0"/>
          </a:p>
          <a:p>
            <a:pPr marL="0" indent="0">
              <a:buNone/>
            </a:pPr>
            <a:r>
              <a:rPr lang="en-US" dirty="0"/>
              <a:t>String result = switch(num) {</a:t>
            </a:r>
          </a:p>
          <a:p>
            <a:pPr marL="0" indent="0">
              <a:buNone/>
            </a:pPr>
            <a:r>
              <a:rPr lang="en-US" dirty="0"/>
              <a:t>    case 1 -&gt; "One";</a:t>
            </a:r>
          </a:p>
          <a:p>
            <a:pPr marL="0" indent="0">
              <a:buNone/>
            </a:pPr>
            <a:r>
              <a:rPr lang="en-US" dirty="0"/>
              <a:t>    case 5 -&gt; {</a:t>
            </a:r>
          </a:p>
          <a:p>
            <a:pPr marL="0" indent="0">
              <a:buNone/>
            </a:pPr>
            <a:r>
              <a:rPr lang="en-US" dirty="0"/>
              <a:t>        </a:t>
            </a:r>
            <a:r>
              <a:rPr lang="en-US" dirty="0" err="1"/>
              <a:t>System.out.println</a:t>
            </a:r>
            <a:r>
              <a:rPr lang="en-US" dirty="0"/>
              <a:t>("Number is five");</a:t>
            </a:r>
          </a:p>
          <a:p>
            <a:pPr marL="0" indent="0">
              <a:buNone/>
            </a:pPr>
            <a:r>
              <a:rPr lang="en-US" dirty="0"/>
              <a:t>        yield "Five";</a:t>
            </a:r>
          </a:p>
          <a:p>
            <a:pPr marL="0" indent="0">
              <a:buNone/>
            </a:pPr>
            <a:r>
              <a:rPr lang="en-US" dirty="0"/>
              <a:t>    }</a:t>
            </a:r>
          </a:p>
          <a:p>
            <a:pPr marL="0" indent="0">
              <a:buNone/>
            </a:pPr>
            <a:r>
              <a:rPr lang="en-US" dirty="0"/>
              <a:t>    default -&gt; "Other";</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3676033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EF5F4-52B8-854A-C8A0-3C54BA5E997B}"/>
              </a:ext>
            </a:extLst>
          </p:cNvPr>
          <p:cNvSpPr>
            <a:spLocks noGrp="1"/>
          </p:cNvSpPr>
          <p:nvPr>
            <p:ph type="title"/>
          </p:nvPr>
        </p:nvSpPr>
        <p:spPr/>
        <p:txBody>
          <a:bodyPr/>
          <a:lstStyle/>
          <a:p>
            <a:r>
              <a:rPr lang="en-IN" b="1" dirty="0"/>
              <a:t>Yield keyword</a:t>
            </a:r>
            <a:br>
              <a:rPr lang="en-IN" dirty="0"/>
            </a:br>
            <a:endParaRPr lang="en-IN" dirty="0"/>
          </a:p>
        </p:txBody>
      </p:sp>
      <p:sp>
        <p:nvSpPr>
          <p:cNvPr id="3" name="Content Placeholder 2">
            <a:extLst>
              <a:ext uri="{FF2B5EF4-FFF2-40B4-BE49-F238E27FC236}">
                <a16:creationId xmlns:a16="http://schemas.microsoft.com/office/drawing/2014/main" id="{9FB0CE6F-6EFE-CA3F-E9E0-C16121225339}"/>
              </a:ext>
            </a:extLst>
          </p:cNvPr>
          <p:cNvSpPr>
            <a:spLocks noGrp="1"/>
          </p:cNvSpPr>
          <p:nvPr>
            <p:ph idx="1"/>
          </p:nvPr>
        </p:nvSpPr>
        <p:spPr/>
        <p:txBody>
          <a:bodyPr/>
          <a:lstStyle/>
          <a:p>
            <a:r>
              <a:rPr lang="en-IN" dirty="0"/>
              <a:t>The yield keyword is used inside a switch expression when a case block contains multiple statements and needs to return a value.</a:t>
            </a:r>
          </a:p>
          <a:p>
            <a:r>
              <a:rPr lang="en-IN" dirty="0"/>
              <a:t>In such situations, the arrow syntax cannot be used directly because more than one statement must be executed before producing the result.</a:t>
            </a:r>
          </a:p>
          <a:p>
            <a:r>
              <a:rPr lang="en-IN" dirty="0"/>
              <a:t>The yield keyword explicitly returns a value from a switch expression case block.</a:t>
            </a:r>
          </a:p>
          <a:p>
            <a:endParaRPr lang="en-IN" dirty="0"/>
          </a:p>
        </p:txBody>
      </p:sp>
    </p:spTree>
    <p:extLst>
      <p:ext uri="{BB962C8B-B14F-4D97-AF65-F5344CB8AC3E}">
        <p14:creationId xmlns:p14="http://schemas.microsoft.com/office/powerpoint/2010/main" val="3903817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ACA3-F273-3302-E3D3-EE07412370EC}"/>
              </a:ext>
            </a:extLst>
          </p:cNvPr>
          <p:cNvSpPr>
            <a:spLocks noGrp="1"/>
          </p:cNvSpPr>
          <p:nvPr>
            <p:ph type="title"/>
          </p:nvPr>
        </p:nvSpPr>
        <p:spPr/>
        <p:txBody>
          <a:bodyPr/>
          <a:lstStyle/>
          <a:p>
            <a:r>
              <a:rPr lang="en-IN" dirty="0"/>
              <a:t>Syntax using yield:</a:t>
            </a:r>
            <a:br>
              <a:rPr lang="en-IN" dirty="0"/>
            </a:br>
            <a:endParaRPr lang="en-IN" dirty="0"/>
          </a:p>
        </p:txBody>
      </p:sp>
      <p:sp>
        <p:nvSpPr>
          <p:cNvPr id="3" name="Content Placeholder 2">
            <a:extLst>
              <a:ext uri="{FF2B5EF4-FFF2-40B4-BE49-F238E27FC236}">
                <a16:creationId xmlns:a16="http://schemas.microsoft.com/office/drawing/2014/main" id="{B9577075-369F-CD8B-7ED1-E4080AA60E35}"/>
              </a:ext>
            </a:extLst>
          </p:cNvPr>
          <p:cNvSpPr>
            <a:spLocks noGrp="1"/>
          </p:cNvSpPr>
          <p:nvPr>
            <p:ph idx="1"/>
          </p:nvPr>
        </p:nvSpPr>
        <p:spPr>
          <a:xfrm>
            <a:off x="838200" y="1426464"/>
            <a:ext cx="10515600" cy="4750499"/>
          </a:xfrm>
        </p:spPr>
        <p:txBody>
          <a:bodyPr>
            <a:normAutofit fontScale="92500" lnSpcReduction="10000"/>
          </a:bodyPr>
          <a:lstStyle/>
          <a:p>
            <a:pPr marL="0" indent="0">
              <a:buNone/>
            </a:pPr>
            <a:r>
              <a:rPr lang="en-IN" dirty="0"/>
              <a:t>result = switch (variable) {</a:t>
            </a:r>
          </a:p>
          <a:p>
            <a:pPr marL="0" indent="0">
              <a:buNone/>
            </a:pPr>
            <a:r>
              <a:rPr lang="en-IN" dirty="0"/>
              <a:t>    case value1: {</a:t>
            </a:r>
          </a:p>
          <a:p>
            <a:pPr marL="0" indent="0">
              <a:buNone/>
            </a:pPr>
            <a:r>
              <a:rPr lang="en-IN" dirty="0"/>
              <a:t>        statement1;</a:t>
            </a:r>
          </a:p>
          <a:p>
            <a:pPr marL="0" indent="0">
              <a:buNone/>
            </a:pPr>
            <a:r>
              <a:rPr lang="en-IN" dirty="0"/>
              <a:t>        statement2;</a:t>
            </a:r>
          </a:p>
          <a:p>
            <a:pPr marL="0" indent="0">
              <a:buNone/>
            </a:pPr>
            <a:r>
              <a:rPr lang="en-IN" dirty="0"/>
              <a:t>        yield </a:t>
            </a:r>
            <a:r>
              <a:rPr lang="en-IN" dirty="0" err="1"/>
              <a:t>resultValue</a:t>
            </a:r>
            <a:r>
              <a:rPr lang="en-IN" dirty="0"/>
              <a:t>;</a:t>
            </a:r>
          </a:p>
          <a:p>
            <a:pPr marL="0" indent="0">
              <a:buNone/>
            </a:pPr>
            <a:r>
              <a:rPr lang="en-IN" dirty="0"/>
              <a:t>    }</a:t>
            </a:r>
          </a:p>
          <a:p>
            <a:pPr marL="0" indent="0">
              <a:buNone/>
            </a:pPr>
            <a:r>
              <a:rPr lang="en-IN" dirty="0"/>
              <a:t>    default: {</a:t>
            </a:r>
          </a:p>
          <a:p>
            <a:pPr marL="0" indent="0">
              <a:buNone/>
            </a:pPr>
            <a:r>
              <a:rPr lang="en-IN" dirty="0"/>
              <a:t>        yield </a:t>
            </a:r>
            <a:r>
              <a:rPr lang="en-IN" dirty="0" err="1"/>
              <a:t>defaultValue</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980441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E9BCF-3F53-1EEE-7EEE-79A463D4B006}"/>
              </a:ext>
            </a:extLst>
          </p:cNvPr>
          <p:cNvSpPr>
            <a:spLocks noGrp="1"/>
          </p:cNvSpPr>
          <p:nvPr>
            <p:ph type="title"/>
          </p:nvPr>
        </p:nvSpPr>
        <p:spPr>
          <a:xfrm>
            <a:off x="838200" y="365126"/>
            <a:ext cx="10515600" cy="315912"/>
          </a:xfrm>
        </p:spPr>
        <p:txBody>
          <a:bodyPr>
            <a:normAutofit fontScale="90000"/>
          </a:bodyPr>
          <a:lstStyle/>
          <a:p>
            <a:r>
              <a:rPr lang="en-IN" sz="2800" b="1" dirty="0"/>
              <a:t>Example</a:t>
            </a:r>
            <a:endParaRPr lang="en-IN" sz="2800" dirty="0"/>
          </a:p>
        </p:txBody>
      </p:sp>
      <p:sp>
        <p:nvSpPr>
          <p:cNvPr id="3" name="Content Placeholder 2">
            <a:extLst>
              <a:ext uri="{FF2B5EF4-FFF2-40B4-BE49-F238E27FC236}">
                <a16:creationId xmlns:a16="http://schemas.microsoft.com/office/drawing/2014/main" id="{240CF82B-7F5A-2984-0038-9890BDCF73CD}"/>
              </a:ext>
            </a:extLst>
          </p:cNvPr>
          <p:cNvSpPr>
            <a:spLocks noGrp="1"/>
          </p:cNvSpPr>
          <p:nvPr>
            <p:ph idx="1"/>
          </p:nvPr>
        </p:nvSpPr>
        <p:spPr>
          <a:xfrm>
            <a:off x="838200" y="822960"/>
            <a:ext cx="10515600" cy="5354003"/>
          </a:xfrm>
        </p:spPr>
        <p:txBody>
          <a:bodyPr>
            <a:normAutofit fontScale="55000" lnSpcReduction="20000"/>
          </a:bodyPr>
          <a:lstStyle/>
          <a:p>
            <a:pPr marL="0" indent="0">
              <a:buNone/>
            </a:pPr>
            <a:r>
              <a:rPr lang="en-IN" dirty="0"/>
              <a:t>int marks = 75;</a:t>
            </a:r>
          </a:p>
          <a:p>
            <a:pPr marL="0" indent="0">
              <a:buNone/>
            </a:pPr>
            <a:r>
              <a:rPr lang="en-IN" dirty="0"/>
              <a:t> </a:t>
            </a:r>
          </a:p>
          <a:p>
            <a:pPr marL="0" indent="0">
              <a:buNone/>
            </a:pPr>
            <a:r>
              <a:rPr lang="en-IN" dirty="0"/>
              <a:t>String grade = switch (marks / 10) {</a:t>
            </a:r>
          </a:p>
          <a:p>
            <a:pPr marL="0" indent="0">
              <a:buNone/>
            </a:pPr>
            <a:r>
              <a:rPr lang="en-IN" dirty="0"/>
              <a:t>    case 10, 9: {</a:t>
            </a:r>
          </a:p>
          <a:p>
            <a:pPr marL="0" indent="0">
              <a:buNone/>
            </a:pPr>
            <a:r>
              <a:rPr lang="en-IN" dirty="0"/>
              <a:t>        </a:t>
            </a:r>
            <a:r>
              <a:rPr lang="en-IN" dirty="0" err="1"/>
              <a:t>System.out.println</a:t>
            </a:r>
            <a:r>
              <a:rPr lang="en-IN" dirty="0"/>
              <a:t>("Excellent performance");</a:t>
            </a:r>
          </a:p>
          <a:p>
            <a:pPr marL="0" indent="0">
              <a:buNone/>
            </a:pPr>
            <a:r>
              <a:rPr lang="en-IN" dirty="0"/>
              <a:t>        yield "A";</a:t>
            </a:r>
          </a:p>
          <a:p>
            <a:pPr marL="0" indent="0">
              <a:buNone/>
            </a:pPr>
            <a:r>
              <a:rPr lang="en-IN" dirty="0"/>
              <a:t>    }</a:t>
            </a:r>
          </a:p>
          <a:p>
            <a:pPr marL="0" indent="0">
              <a:buNone/>
            </a:pPr>
            <a:r>
              <a:rPr lang="en-IN" dirty="0"/>
              <a:t>    case 8: {</a:t>
            </a:r>
          </a:p>
          <a:p>
            <a:pPr marL="0" indent="0">
              <a:buNone/>
            </a:pPr>
            <a:r>
              <a:rPr lang="en-IN" dirty="0"/>
              <a:t>        yield "B";</a:t>
            </a:r>
          </a:p>
          <a:p>
            <a:pPr marL="0" indent="0">
              <a:buNone/>
            </a:pPr>
            <a:r>
              <a:rPr lang="en-IN" dirty="0"/>
              <a:t>    }</a:t>
            </a:r>
          </a:p>
          <a:p>
            <a:pPr marL="0" indent="0">
              <a:buNone/>
            </a:pPr>
            <a:r>
              <a:rPr lang="en-IN" dirty="0"/>
              <a:t>    case 7: {</a:t>
            </a:r>
          </a:p>
          <a:p>
            <a:pPr marL="0" indent="0">
              <a:buNone/>
            </a:pPr>
            <a:r>
              <a:rPr lang="en-IN" dirty="0"/>
              <a:t>        yield "C";</a:t>
            </a:r>
          </a:p>
          <a:p>
            <a:pPr marL="0" indent="0">
              <a:buNone/>
            </a:pPr>
            <a:r>
              <a:rPr lang="en-IN" dirty="0"/>
              <a:t>    }</a:t>
            </a:r>
          </a:p>
          <a:p>
            <a:pPr marL="0" indent="0">
              <a:buNone/>
            </a:pPr>
            <a:r>
              <a:rPr lang="en-IN" dirty="0"/>
              <a:t>    default: {</a:t>
            </a:r>
          </a:p>
          <a:p>
            <a:pPr marL="0" indent="0">
              <a:buNone/>
            </a:pPr>
            <a:r>
              <a:rPr lang="en-IN" dirty="0"/>
              <a:t>        yield "Fail";</a:t>
            </a:r>
          </a:p>
          <a:p>
            <a:pPr marL="0" indent="0">
              <a:buNone/>
            </a:pPr>
            <a:r>
              <a:rPr lang="en-IN" dirty="0"/>
              <a:t>    }</a:t>
            </a:r>
          </a:p>
          <a:p>
            <a:pPr marL="0" indent="0">
              <a:buNone/>
            </a:pPr>
            <a:r>
              <a:rPr lang="en-IN" dirty="0"/>
              <a:t>};</a:t>
            </a:r>
          </a:p>
          <a:p>
            <a:pPr marL="0" indent="0">
              <a:buNone/>
            </a:pPr>
            <a:r>
              <a:rPr lang="en-IN" dirty="0" err="1"/>
              <a:t>System.out.println</a:t>
            </a:r>
            <a:r>
              <a:rPr lang="en-IN" dirty="0"/>
              <a:t>("Grade: " + grade);</a:t>
            </a:r>
          </a:p>
          <a:p>
            <a:pPr marL="0" indent="0">
              <a:buNone/>
            </a:pPr>
            <a:endParaRPr lang="en-IN" dirty="0"/>
          </a:p>
        </p:txBody>
      </p:sp>
    </p:spTree>
    <p:extLst>
      <p:ext uri="{BB962C8B-B14F-4D97-AF65-F5344CB8AC3E}">
        <p14:creationId xmlns:p14="http://schemas.microsoft.com/office/powerpoint/2010/main" val="36576131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09120-0EA1-F71C-90DA-6733EC120C55}"/>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BBF42EC0-0C11-138E-0F7A-314A52ED3B22}"/>
              </a:ext>
            </a:extLst>
          </p:cNvPr>
          <p:cNvSpPr>
            <a:spLocks noGrp="1"/>
          </p:cNvSpPr>
          <p:nvPr>
            <p:ph idx="1"/>
          </p:nvPr>
        </p:nvSpPr>
        <p:spPr/>
        <p:txBody>
          <a:bodyPr>
            <a:normAutofit fontScale="85000" lnSpcReduction="20000"/>
          </a:bodyPr>
          <a:lstStyle/>
          <a:p>
            <a:pPr marL="0" indent="0">
              <a:buNone/>
            </a:pPr>
            <a:r>
              <a:rPr lang="en-IN" b="1" dirty="0"/>
              <a:t>Program 1</a:t>
            </a:r>
            <a:endParaRPr lang="en-IN" dirty="0"/>
          </a:p>
          <a:p>
            <a:pPr marL="0" indent="0">
              <a:buNone/>
            </a:pPr>
            <a:r>
              <a:rPr lang="en-IN" dirty="0"/>
              <a:t>Create an interface Calculator that contains:</a:t>
            </a:r>
          </a:p>
          <a:p>
            <a:pPr marL="0" lvl="0" indent="0">
              <a:buNone/>
            </a:pPr>
            <a:r>
              <a:rPr lang="en-IN" dirty="0"/>
              <a:t>a static method square(int n)</a:t>
            </a:r>
          </a:p>
          <a:p>
            <a:pPr marL="0" lvl="0" indent="0">
              <a:buNone/>
            </a:pPr>
            <a:r>
              <a:rPr lang="en-IN" dirty="0"/>
              <a:t>a static method cube(int n)</a:t>
            </a:r>
          </a:p>
          <a:p>
            <a:pPr marL="0" indent="0">
              <a:buNone/>
            </a:pPr>
            <a:r>
              <a:rPr lang="en-IN" dirty="0"/>
              <a:t>Write a class to call these methods and print results.</a:t>
            </a:r>
          </a:p>
          <a:p>
            <a:pPr marL="0" indent="0">
              <a:buNone/>
            </a:pPr>
            <a:r>
              <a:rPr lang="en-IN" dirty="0"/>
              <a:t> </a:t>
            </a:r>
          </a:p>
          <a:p>
            <a:pPr marL="0" indent="0">
              <a:buNone/>
            </a:pPr>
            <a:r>
              <a:rPr lang="en-IN" b="1" dirty="0"/>
              <a:t>Program 2</a:t>
            </a:r>
            <a:endParaRPr lang="en-IN" dirty="0"/>
          </a:p>
          <a:p>
            <a:pPr marL="0" indent="0">
              <a:buNone/>
            </a:pPr>
            <a:r>
              <a:rPr lang="en-IN" dirty="0"/>
              <a:t>Create an interface </a:t>
            </a:r>
            <a:r>
              <a:rPr lang="en-IN" dirty="0" err="1"/>
              <a:t>MathUtility</a:t>
            </a:r>
            <a:r>
              <a:rPr lang="en-IN" dirty="0"/>
              <a:t> that contains:</a:t>
            </a:r>
          </a:p>
          <a:p>
            <a:pPr marL="0" lvl="0" indent="0">
              <a:buNone/>
            </a:pPr>
            <a:r>
              <a:rPr lang="en-IN" dirty="0"/>
              <a:t>static method </a:t>
            </a:r>
            <a:r>
              <a:rPr lang="en-IN" dirty="0" err="1"/>
              <a:t>isEven</a:t>
            </a:r>
            <a:r>
              <a:rPr lang="en-IN" dirty="0"/>
              <a:t>(int n)</a:t>
            </a:r>
          </a:p>
          <a:p>
            <a:pPr marL="0" lvl="0" indent="0">
              <a:buNone/>
            </a:pPr>
            <a:r>
              <a:rPr lang="en-IN" dirty="0"/>
              <a:t>static method </a:t>
            </a:r>
            <a:r>
              <a:rPr lang="en-IN" dirty="0" err="1"/>
              <a:t>isPrime</a:t>
            </a:r>
            <a:r>
              <a:rPr lang="en-IN" dirty="0"/>
              <a:t>(int n)</a:t>
            </a:r>
          </a:p>
          <a:p>
            <a:pPr marL="0" indent="0">
              <a:buNone/>
            </a:pPr>
            <a:r>
              <a:rPr lang="en-IN" dirty="0"/>
              <a:t>Write a program to check if a number is even and prime.</a:t>
            </a:r>
          </a:p>
          <a:p>
            <a:pPr marL="0" indent="0">
              <a:buNone/>
            </a:pPr>
            <a:endParaRPr lang="en-IN" dirty="0"/>
          </a:p>
        </p:txBody>
      </p:sp>
    </p:spTree>
    <p:extLst>
      <p:ext uri="{BB962C8B-B14F-4D97-AF65-F5344CB8AC3E}">
        <p14:creationId xmlns:p14="http://schemas.microsoft.com/office/powerpoint/2010/main" val="3271958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42EC-5A5C-510B-5863-0360ADA7CEAE}"/>
              </a:ext>
            </a:extLst>
          </p:cNvPr>
          <p:cNvSpPr>
            <a:spLocks noGrp="1"/>
          </p:cNvSpPr>
          <p:nvPr>
            <p:ph type="title"/>
          </p:nvPr>
        </p:nvSpPr>
        <p:spPr/>
        <p:txBody>
          <a:bodyPr/>
          <a:lstStyle/>
          <a:p>
            <a:r>
              <a:rPr lang="en-IN" dirty="0"/>
              <a:t>Practice Question</a:t>
            </a:r>
          </a:p>
        </p:txBody>
      </p:sp>
      <p:sp>
        <p:nvSpPr>
          <p:cNvPr id="3" name="Content Placeholder 2">
            <a:extLst>
              <a:ext uri="{FF2B5EF4-FFF2-40B4-BE49-F238E27FC236}">
                <a16:creationId xmlns:a16="http://schemas.microsoft.com/office/drawing/2014/main" id="{18839EFE-9A5F-0184-9A7B-E6AB85F41E91}"/>
              </a:ext>
            </a:extLst>
          </p:cNvPr>
          <p:cNvSpPr>
            <a:spLocks noGrp="1"/>
          </p:cNvSpPr>
          <p:nvPr>
            <p:ph idx="1"/>
          </p:nvPr>
        </p:nvSpPr>
        <p:spPr/>
        <p:txBody>
          <a:bodyPr/>
          <a:lstStyle/>
          <a:p>
            <a:pPr marL="0" indent="0">
              <a:buNone/>
            </a:pPr>
            <a:r>
              <a:rPr lang="en-US" b="1" dirty="0"/>
              <a:t>Program 4 (Method Reference Based)</a:t>
            </a:r>
          </a:p>
          <a:p>
            <a:pPr marL="0" indent="0">
              <a:buNone/>
            </a:pPr>
            <a:r>
              <a:rPr lang="en-US" dirty="0"/>
              <a:t>Create an interface Addition (functional interface).</a:t>
            </a:r>
            <a:br>
              <a:rPr lang="en-US" dirty="0"/>
            </a:br>
            <a:r>
              <a:rPr lang="en-US" dirty="0"/>
              <a:t>Add:</a:t>
            </a:r>
          </a:p>
          <a:p>
            <a:pPr marL="0" indent="0">
              <a:buNone/>
            </a:pPr>
            <a:r>
              <a:rPr lang="en-US" dirty="0"/>
              <a:t>abstract method add(int a, int b)</a:t>
            </a:r>
          </a:p>
          <a:p>
            <a:pPr marL="0" indent="0">
              <a:buNone/>
            </a:pPr>
            <a:r>
              <a:rPr lang="en-US" dirty="0"/>
              <a:t>static method </a:t>
            </a:r>
            <a:r>
              <a:rPr lang="en-US" dirty="0" err="1"/>
              <a:t>addNumbers</a:t>
            </a:r>
            <a:r>
              <a:rPr lang="en-US" dirty="0"/>
              <a:t>(int a, int b)</a:t>
            </a:r>
          </a:p>
          <a:p>
            <a:pPr marL="0" indent="0">
              <a:buNone/>
            </a:pPr>
            <a:r>
              <a:rPr lang="en-US" dirty="0"/>
              <a:t>Use method reference to perform addition.</a:t>
            </a:r>
          </a:p>
          <a:p>
            <a:pPr marL="0" indent="0">
              <a:buNone/>
            </a:pPr>
            <a:endParaRPr lang="en-IN" dirty="0"/>
          </a:p>
        </p:txBody>
      </p:sp>
    </p:spTree>
    <p:extLst>
      <p:ext uri="{BB962C8B-B14F-4D97-AF65-F5344CB8AC3E}">
        <p14:creationId xmlns:p14="http://schemas.microsoft.com/office/powerpoint/2010/main" val="36255916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8EA8D-6487-D71E-D201-E0E1361E6F8E}"/>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EBDA491C-E386-94F7-2857-B913C7DD0372}"/>
              </a:ext>
            </a:extLst>
          </p:cNvPr>
          <p:cNvSpPr>
            <a:spLocks noGrp="1"/>
          </p:cNvSpPr>
          <p:nvPr>
            <p:ph idx="1"/>
          </p:nvPr>
        </p:nvSpPr>
        <p:spPr>
          <a:xfrm>
            <a:off x="838200" y="685800"/>
            <a:ext cx="10515600" cy="5491163"/>
          </a:xfrm>
        </p:spPr>
        <p:txBody>
          <a:bodyPr>
            <a:normAutofit lnSpcReduction="10000"/>
          </a:bodyPr>
          <a:lstStyle/>
          <a:p>
            <a:pPr marL="0" indent="0">
              <a:buNone/>
            </a:pPr>
            <a:r>
              <a:rPr lang="en-US" b="1" dirty="0"/>
              <a:t>Program 5</a:t>
            </a:r>
          </a:p>
          <a:p>
            <a:pPr marL="0" indent="0">
              <a:buNone/>
            </a:pPr>
            <a:r>
              <a:rPr lang="en-US" dirty="0"/>
              <a:t>Create an interface Greeting that contains:</a:t>
            </a:r>
          </a:p>
          <a:p>
            <a:pPr marL="0" indent="0">
              <a:buNone/>
            </a:pPr>
            <a:r>
              <a:rPr lang="en-US" dirty="0"/>
              <a:t>default method </a:t>
            </a:r>
            <a:r>
              <a:rPr lang="en-US" dirty="0" err="1"/>
              <a:t>sayHello</a:t>
            </a:r>
            <a:r>
              <a:rPr lang="en-US" dirty="0"/>
              <a:t>()</a:t>
            </a:r>
          </a:p>
          <a:p>
            <a:pPr marL="0" indent="0">
              <a:buNone/>
            </a:pPr>
            <a:r>
              <a:rPr lang="en-US" dirty="0"/>
              <a:t>default method </a:t>
            </a:r>
            <a:r>
              <a:rPr lang="en-US" dirty="0" err="1"/>
              <a:t>sayGoodbye</a:t>
            </a:r>
            <a:r>
              <a:rPr lang="en-US" dirty="0"/>
              <a:t>()</a:t>
            </a:r>
          </a:p>
          <a:p>
            <a:pPr marL="0" indent="0">
              <a:buNone/>
            </a:pPr>
            <a:r>
              <a:rPr lang="en-US" dirty="0"/>
              <a:t>private method </a:t>
            </a:r>
            <a:r>
              <a:rPr lang="en-US" dirty="0" err="1"/>
              <a:t>printMessage</a:t>
            </a:r>
            <a:r>
              <a:rPr lang="en-US" dirty="0"/>
              <a:t>(String msg) used by both default methods</a:t>
            </a:r>
          </a:p>
          <a:p>
            <a:pPr marL="0" indent="0">
              <a:buNone/>
            </a:pPr>
            <a:r>
              <a:rPr lang="en-US" dirty="0"/>
              <a:t>Implement it in a class and test.</a:t>
            </a:r>
          </a:p>
          <a:p>
            <a:pPr marL="0" indent="0">
              <a:buNone/>
            </a:pPr>
            <a:endParaRPr lang="en-US" dirty="0"/>
          </a:p>
          <a:p>
            <a:pPr marL="0" indent="0">
              <a:buNone/>
            </a:pPr>
            <a:r>
              <a:rPr lang="en-US" b="1" dirty="0"/>
              <a:t>Program 6</a:t>
            </a:r>
          </a:p>
          <a:p>
            <a:pPr marL="0" indent="0">
              <a:buNone/>
            </a:pPr>
            <a:r>
              <a:rPr lang="en-US" dirty="0"/>
              <a:t>Create a list of integers and:</a:t>
            </a:r>
          </a:p>
          <a:p>
            <a:pPr marL="0" indent="0">
              <a:buNone/>
            </a:pPr>
            <a:r>
              <a:rPr lang="en-US" dirty="0"/>
              <a:t>Print all numbers using </a:t>
            </a:r>
            <a:r>
              <a:rPr lang="en-US" dirty="0" err="1"/>
              <a:t>forEach</a:t>
            </a:r>
            <a:endParaRPr lang="en-US" dirty="0"/>
          </a:p>
          <a:p>
            <a:pPr marL="0" indent="0">
              <a:buNone/>
            </a:pPr>
            <a:r>
              <a:rPr lang="en-US" dirty="0"/>
              <a:t>Print only even numbers using </a:t>
            </a:r>
            <a:r>
              <a:rPr lang="en-US" dirty="0" err="1"/>
              <a:t>forEach</a:t>
            </a: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9360451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04C03-3349-AB80-F77C-F61CBBE068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8F1D54-4723-504A-BE26-A10A43A878FF}"/>
              </a:ext>
            </a:extLst>
          </p:cNvPr>
          <p:cNvSpPr>
            <a:spLocks noGrp="1"/>
          </p:cNvSpPr>
          <p:nvPr>
            <p:ph idx="1"/>
          </p:nvPr>
        </p:nvSpPr>
        <p:spPr/>
        <p:txBody>
          <a:bodyPr/>
          <a:lstStyle/>
          <a:p>
            <a:pPr marL="0" indent="0">
              <a:buNone/>
            </a:pPr>
            <a:r>
              <a:rPr lang="en-US" b="1" dirty="0"/>
              <a:t>Program 6</a:t>
            </a:r>
          </a:p>
          <a:p>
            <a:pPr marL="0" indent="0">
              <a:buNone/>
            </a:pPr>
            <a:r>
              <a:rPr lang="en-US" dirty="0"/>
              <a:t>Create a list of integers and:</a:t>
            </a:r>
          </a:p>
          <a:p>
            <a:pPr marL="0" indent="0">
              <a:buNone/>
            </a:pPr>
            <a:r>
              <a:rPr lang="en-US" dirty="0"/>
              <a:t>Print all numbers using </a:t>
            </a:r>
            <a:r>
              <a:rPr lang="en-US" dirty="0" err="1"/>
              <a:t>forEach</a:t>
            </a:r>
            <a:endParaRPr lang="en-US" dirty="0"/>
          </a:p>
          <a:p>
            <a:pPr marL="0" indent="0">
              <a:buNone/>
            </a:pPr>
            <a:r>
              <a:rPr lang="en-US" dirty="0"/>
              <a:t>Print only even numbers using </a:t>
            </a:r>
            <a:r>
              <a:rPr lang="en-US" dirty="0" err="1"/>
              <a:t>forEach</a:t>
            </a: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892730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CBD0-0D1A-FF3E-93C9-C56D154068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C263A3-99D6-AD87-83B5-DAEFC3A17437}"/>
              </a:ext>
            </a:extLst>
          </p:cNvPr>
          <p:cNvSpPr>
            <a:spLocks noGrp="1"/>
          </p:cNvSpPr>
          <p:nvPr>
            <p:ph idx="1"/>
          </p:nvPr>
        </p:nvSpPr>
        <p:spPr/>
        <p:txBody>
          <a:bodyPr/>
          <a:lstStyle/>
          <a:p>
            <a:pPr marL="0" indent="0">
              <a:buNone/>
            </a:pPr>
            <a:r>
              <a:rPr lang="en-US" b="1" dirty="0"/>
              <a:t>Program 7</a:t>
            </a:r>
          </a:p>
          <a:p>
            <a:pPr marL="0" indent="0">
              <a:buNone/>
            </a:pPr>
            <a:r>
              <a:rPr lang="en-US" dirty="0"/>
              <a:t>Create a Map&lt;Integer, String&gt; and:</a:t>
            </a:r>
          </a:p>
          <a:p>
            <a:pPr marL="0" indent="0">
              <a:buNone/>
            </a:pPr>
            <a:r>
              <a:rPr lang="en-US" dirty="0"/>
              <a:t>Print keys and values using </a:t>
            </a:r>
            <a:r>
              <a:rPr lang="en-US" dirty="0" err="1"/>
              <a:t>forEach</a:t>
            </a:r>
            <a:endParaRPr lang="en-US" dirty="0"/>
          </a:p>
          <a:p>
            <a:pPr marL="0" indent="0">
              <a:buNone/>
            </a:pPr>
            <a:endParaRPr lang="en-IN" dirty="0"/>
          </a:p>
        </p:txBody>
      </p:sp>
    </p:spTree>
    <p:extLst>
      <p:ext uri="{BB962C8B-B14F-4D97-AF65-F5344CB8AC3E}">
        <p14:creationId xmlns:p14="http://schemas.microsoft.com/office/powerpoint/2010/main" val="42666603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7ADB-0E43-6FF3-1B42-0F3FF83294E3}"/>
              </a:ext>
            </a:extLst>
          </p:cNvPr>
          <p:cNvSpPr>
            <a:spLocks noGrp="1"/>
          </p:cNvSpPr>
          <p:nvPr>
            <p:ph type="title"/>
          </p:nvPr>
        </p:nvSpPr>
        <p:spPr/>
        <p:txBody>
          <a:bodyPr/>
          <a:lstStyle/>
          <a:p>
            <a:r>
              <a:rPr lang="en-US" b="1" dirty="0"/>
              <a:t>Text Blocks</a:t>
            </a:r>
            <a:r>
              <a:rPr lang="en-US" dirty="0"/>
              <a:t> </a:t>
            </a:r>
            <a:endParaRPr lang="en-IN" dirty="0"/>
          </a:p>
        </p:txBody>
      </p:sp>
      <p:sp>
        <p:nvSpPr>
          <p:cNvPr id="3" name="Content Placeholder 2">
            <a:extLst>
              <a:ext uri="{FF2B5EF4-FFF2-40B4-BE49-F238E27FC236}">
                <a16:creationId xmlns:a16="http://schemas.microsoft.com/office/drawing/2014/main" id="{75682452-F76A-57C2-17BD-8944F4E730B0}"/>
              </a:ext>
            </a:extLst>
          </p:cNvPr>
          <p:cNvSpPr>
            <a:spLocks noGrp="1"/>
          </p:cNvSpPr>
          <p:nvPr>
            <p:ph idx="1"/>
          </p:nvPr>
        </p:nvSpPr>
        <p:spPr/>
        <p:txBody>
          <a:bodyPr/>
          <a:lstStyle/>
          <a:p>
            <a:pPr marL="0" indent="0">
              <a:buNone/>
            </a:pPr>
            <a:r>
              <a:rPr lang="en-US" dirty="0"/>
              <a:t>Java introduced </a:t>
            </a:r>
            <a:r>
              <a:rPr lang="en-US" b="1" dirty="0"/>
              <a:t>Text Blocks</a:t>
            </a:r>
            <a:r>
              <a:rPr lang="en-US" dirty="0"/>
              <a:t> (also called String Blocks) as a new feature in </a:t>
            </a:r>
            <a:r>
              <a:rPr lang="en-US" b="1" dirty="0"/>
              <a:t>Java 15</a:t>
            </a:r>
            <a:r>
              <a:rPr lang="en-US" dirty="0"/>
              <a:t> (after being previewed in Java 13 and 14). This feature provides a more readable and developer-friendly way to write multi-line strings.</a:t>
            </a:r>
          </a:p>
          <a:p>
            <a:pPr marL="0" indent="0">
              <a:buNone/>
            </a:pPr>
            <a:r>
              <a:rPr lang="en-US" dirty="0"/>
              <a:t>A </a:t>
            </a:r>
            <a:r>
              <a:rPr lang="en-US" b="1" dirty="0"/>
              <a:t>Text Block</a:t>
            </a:r>
            <a:r>
              <a:rPr lang="en-US" dirty="0"/>
              <a:t> is a multi-line string literal enclosed in triple double quotes ("""). It simplifies the creation of strings that span multiple lines.</a:t>
            </a:r>
            <a:endParaRPr lang="en-IN" dirty="0"/>
          </a:p>
        </p:txBody>
      </p:sp>
    </p:spTree>
    <p:extLst>
      <p:ext uri="{BB962C8B-B14F-4D97-AF65-F5344CB8AC3E}">
        <p14:creationId xmlns:p14="http://schemas.microsoft.com/office/powerpoint/2010/main" val="18073195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A6EC-8544-8095-E3DB-61562FED3B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148755-DD27-171B-16B7-CF91B4322CE5}"/>
              </a:ext>
            </a:extLst>
          </p:cNvPr>
          <p:cNvSpPr>
            <a:spLocks noGrp="1"/>
          </p:cNvSpPr>
          <p:nvPr>
            <p:ph idx="1"/>
          </p:nvPr>
        </p:nvSpPr>
        <p:spPr/>
        <p:txBody>
          <a:bodyPr/>
          <a:lstStyle/>
          <a:p>
            <a:pPr marL="0" indent="0">
              <a:buNone/>
            </a:pPr>
            <a:r>
              <a:rPr lang="en-US" b="1" dirty="0"/>
              <a:t>Syntax</a:t>
            </a:r>
          </a:p>
          <a:p>
            <a:pPr marL="0" indent="0">
              <a:buNone/>
            </a:pPr>
            <a:r>
              <a:rPr lang="en-US" dirty="0"/>
              <a:t>String </a:t>
            </a:r>
            <a:r>
              <a:rPr lang="en-US" dirty="0" err="1"/>
              <a:t>textBlock</a:t>
            </a:r>
            <a:r>
              <a:rPr lang="en-US" dirty="0"/>
              <a:t> = """</a:t>
            </a:r>
            <a:br>
              <a:rPr lang="en-US" dirty="0"/>
            </a:br>
            <a:r>
              <a:rPr lang="en-US" dirty="0"/>
              <a:t>This is a text block.</a:t>
            </a:r>
            <a:br>
              <a:rPr lang="en-US" dirty="0"/>
            </a:br>
            <a:r>
              <a:rPr lang="en-US" dirty="0"/>
              <a:t>It spans multiple lines.</a:t>
            </a:r>
            <a:br>
              <a:rPr lang="en-US" dirty="0"/>
            </a:br>
            <a:r>
              <a:rPr lang="en-US" dirty="0"/>
              <a:t>""";</a:t>
            </a:r>
          </a:p>
          <a:p>
            <a:pPr marL="0" indent="0">
              <a:buNone/>
            </a:pPr>
            <a:endParaRPr lang="en-US" dirty="0"/>
          </a:p>
          <a:p>
            <a:pPr marL="0" indent="0">
              <a:buNone/>
            </a:pPr>
            <a:r>
              <a:rPr lang="en-US" dirty="0"/>
              <a:t>Text Blocks eliminate the need for explicit newline characters (\n) or concatenation (+).</a:t>
            </a:r>
            <a:endParaRPr lang="en-IN" dirty="0"/>
          </a:p>
        </p:txBody>
      </p:sp>
    </p:spTree>
    <p:extLst>
      <p:ext uri="{BB962C8B-B14F-4D97-AF65-F5344CB8AC3E}">
        <p14:creationId xmlns:p14="http://schemas.microsoft.com/office/powerpoint/2010/main" val="693099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226C-D906-730A-370F-20F3CBD69278}"/>
              </a:ext>
            </a:extLst>
          </p:cNvPr>
          <p:cNvSpPr>
            <a:spLocks noGrp="1"/>
          </p:cNvSpPr>
          <p:nvPr>
            <p:ph type="title"/>
          </p:nvPr>
        </p:nvSpPr>
        <p:spPr/>
        <p:txBody>
          <a:bodyPr/>
          <a:lstStyle/>
          <a:p>
            <a:r>
              <a:rPr lang="en-IN" b="1" dirty="0"/>
              <a:t>Example of a text block:</a:t>
            </a:r>
            <a:br>
              <a:rPr lang="en-IN" dirty="0"/>
            </a:br>
            <a:endParaRPr lang="en-IN" dirty="0"/>
          </a:p>
        </p:txBody>
      </p:sp>
      <p:sp>
        <p:nvSpPr>
          <p:cNvPr id="3" name="Content Placeholder 2">
            <a:extLst>
              <a:ext uri="{FF2B5EF4-FFF2-40B4-BE49-F238E27FC236}">
                <a16:creationId xmlns:a16="http://schemas.microsoft.com/office/drawing/2014/main" id="{E5CBFCC4-E67F-E53F-FE23-B78D0394376E}"/>
              </a:ext>
            </a:extLst>
          </p:cNvPr>
          <p:cNvSpPr>
            <a:spLocks noGrp="1"/>
          </p:cNvSpPr>
          <p:nvPr>
            <p:ph idx="1"/>
          </p:nvPr>
        </p:nvSpPr>
        <p:spPr/>
        <p:txBody>
          <a:bodyPr>
            <a:normAutofit fontScale="77500" lnSpcReduction="20000"/>
          </a:bodyPr>
          <a:lstStyle/>
          <a:p>
            <a:pPr marL="0" indent="0">
              <a:buNone/>
            </a:pPr>
            <a:r>
              <a:rPr lang="en-IN" b="1" dirty="0"/>
              <a:t> </a:t>
            </a:r>
            <a:r>
              <a:rPr lang="en-IN" dirty="0"/>
              <a:t>class Demo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String message = """</a:t>
            </a:r>
          </a:p>
          <a:p>
            <a:pPr marL="0" indent="0">
              <a:buNone/>
            </a:pPr>
            <a:r>
              <a:rPr lang="en-IN" dirty="0"/>
              <a:t>        Welcome to Java</a:t>
            </a:r>
          </a:p>
          <a:p>
            <a:pPr marL="0" indent="0">
              <a:buNone/>
            </a:pPr>
            <a:r>
              <a:rPr lang="en-IN" dirty="0"/>
              <a:t>        Text Blocks simplify</a:t>
            </a:r>
          </a:p>
          <a:p>
            <a:pPr marL="0" indent="0">
              <a:buNone/>
            </a:pPr>
            <a:r>
              <a:rPr lang="en-IN" dirty="0"/>
              <a:t>        multi-line strings</a:t>
            </a:r>
          </a:p>
          <a:p>
            <a:pPr marL="0" indent="0">
              <a:buNone/>
            </a:pPr>
            <a:r>
              <a:rPr lang="en-IN" dirty="0"/>
              <a:t>        """;</a:t>
            </a:r>
          </a:p>
          <a:p>
            <a:pPr marL="0" indent="0">
              <a:buNone/>
            </a:pPr>
            <a:r>
              <a:rPr lang="en-IN" dirty="0"/>
              <a:t> </a:t>
            </a:r>
          </a:p>
          <a:p>
            <a:pPr marL="0" indent="0">
              <a:buNone/>
            </a:pPr>
            <a:r>
              <a:rPr lang="en-IN" dirty="0"/>
              <a:t>        </a:t>
            </a:r>
            <a:r>
              <a:rPr lang="en-IN" dirty="0" err="1"/>
              <a:t>System.out.println</a:t>
            </a:r>
            <a:r>
              <a:rPr lang="en-IN" dirty="0"/>
              <a:t>(message);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8929338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8432D-21D6-4579-A074-CB378D70E62E}"/>
              </a:ext>
            </a:extLst>
          </p:cNvPr>
          <p:cNvSpPr>
            <a:spLocks noGrp="1"/>
          </p:cNvSpPr>
          <p:nvPr>
            <p:ph type="title"/>
          </p:nvPr>
        </p:nvSpPr>
        <p:spPr/>
        <p:txBody>
          <a:bodyPr/>
          <a:lstStyle/>
          <a:p>
            <a:r>
              <a:rPr lang="en-IN" b="1" dirty="0"/>
              <a:t>Local Variable Type Inference</a:t>
            </a:r>
            <a:br>
              <a:rPr lang="en-IN" dirty="0"/>
            </a:br>
            <a:endParaRPr lang="en-IN" dirty="0"/>
          </a:p>
        </p:txBody>
      </p:sp>
      <p:sp>
        <p:nvSpPr>
          <p:cNvPr id="3" name="Content Placeholder 2">
            <a:extLst>
              <a:ext uri="{FF2B5EF4-FFF2-40B4-BE49-F238E27FC236}">
                <a16:creationId xmlns:a16="http://schemas.microsoft.com/office/drawing/2014/main" id="{6BF22D5A-E67C-A219-271D-024EC2A466C4}"/>
              </a:ext>
            </a:extLst>
          </p:cNvPr>
          <p:cNvSpPr>
            <a:spLocks noGrp="1"/>
          </p:cNvSpPr>
          <p:nvPr>
            <p:ph idx="1"/>
          </p:nvPr>
        </p:nvSpPr>
        <p:spPr/>
        <p:txBody>
          <a:bodyPr/>
          <a:lstStyle/>
          <a:p>
            <a:r>
              <a:rPr lang="en-IN" dirty="0"/>
              <a:t>Local Variable Type Inference was introduced in Java 10 to reduce verbosity in code and improve readability.</a:t>
            </a:r>
          </a:p>
          <a:p>
            <a:r>
              <a:rPr lang="en-US" dirty="0"/>
              <a:t>Local Variable Type Inference allows Java to </a:t>
            </a:r>
            <a:r>
              <a:rPr lang="en-US" b="1" dirty="0"/>
              <a:t>infer the data type</a:t>
            </a:r>
            <a:r>
              <a:rPr lang="en-US" dirty="0"/>
              <a:t> of a local variable automatically based on the value assigned to it.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41533804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DA17-168C-6BB1-70B9-ED9FE444065B}"/>
              </a:ext>
            </a:extLst>
          </p:cNvPr>
          <p:cNvSpPr>
            <a:spLocks noGrp="1"/>
          </p:cNvSpPr>
          <p:nvPr>
            <p:ph type="title"/>
          </p:nvPr>
        </p:nvSpPr>
        <p:spPr/>
        <p:txBody>
          <a:bodyPr/>
          <a:lstStyle/>
          <a:p>
            <a:r>
              <a:rPr lang="en-IN" dirty="0"/>
              <a:t>Example</a:t>
            </a:r>
            <a:br>
              <a:rPr lang="en-IN" dirty="0"/>
            </a:br>
            <a:endParaRPr lang="en-IN" dirty="0"/>
          </a:p>
        </p:txBody>
      </p:sp>
      <p:sp>
        <p:nvSpPr>
          <p:cNvPr id="3" name="Content Placeholder 2">
            <a:extLst>
              <a:ext uri="{FF2B5EF4-FFF2-40B4-BE49-F238E27FC236}">
                <a16:creationId xmlns:a16="http://schemas.microsoft.com/office/drawing/2014/main" id="{1ED17803-F545-7816-963C-90E41DC1685D}"/>
              </a:ext>
            </a:extLst>
          </p:cNvPr>
          <p:cNvSpPr>
            <a:spLocks noGrp="1"/>
          </p:cNvSpPr>
          <p:nvPr>
            <p:ph idx="1"/>
          </p:nvPr>
        </p:nvSpPr>
        <p:spPr/>
        <p:txBody>
          <a:bodyPr>
            <a:normAutofit fontScale="77500" lnSpcReduction="20000"/>
          </a:bodyPr>
          <a:lstStyle/>
          <a:p>
            <a:pPr marL="0" indent="0">
              <a:buNone/>
            </a:pPr>
            <a:r>
              <a:rPr lang="en-IN" dirty="0"/>
              <a:t>public class </a:t>
            </a:r>
            <a:r>
              <a:rPr lang="en-IN" dirty="0" err="1"/>
              <a:t>TypeDemo</a:t>
            </a:r>
            <a:r>
              <a:rPr lang="en-IN" dirty="0"/>
              <a:t> {</a:t>
            </a:r>
          </a:p>
          <a:p>
            <a:pPr marL="0" indent="0">
              <a:buNone/>
            </a:pPr>
            <a:r>
              <a:rPr lang="en-IN" dirty="0"/>
              <a:t>    public static void main(String[] </a:t>
            </a:r>
            <a:r>
              <a:rPr lang="en-IN" dirty="0" err="1"/>
              <a:t>args</a:t>
            </a:r>
            <a:r>
              <a:rPr lang="en-IN" dirty="0"/>
              <a:t>) {</a:t>
            </a:r>
          </a:p>
          <a:p>
            <a:pPr marL="0" indent="0">
              <a:buNone/>
            </a:pPr>
            <a:r>
              <a:rPr lang="en-IN" dirty="0"/>
              <a:t>        int a = 10;</a:t>
            </a:r>
          </a:p>
          <a:p>
            <a:pPr marL="0" indent="0">
              <a:buNone/>
            </a:pPr>
            <a:r>
              <a:rPr lang="en-IN" dirty="0"/>
              <a:t>        </a:t>
            </a:r>
            <a:r>
              <a:rPr lang="en-IN" dirty="0" err="1"/>
              <a:t>System.out.println</a:t>
            </a:r>
            <a:r>
              <a:rPr lang="en-IN" dirty="0"/>
              <a:t>(a);</a:t>
            </a:r>
          </a:p>
          <a:p>
            <a:pPr marL="0" indent="0">
              <a:buNone/>
            </a:pPr>
            <a:endParaRPr lang="en-IN" dirty="0"/>
          </a:p>
          <a:p>
            <a:pPr marL="0" indent="0">
              <a:buNone/>
            </a:pPr>
            <a:r>
              <a:rPr lang="en-IN" dirty="0"/>
              <a:t>        var b = 20;              // compiler infers type int</a:t>
            </a:r>
          </a:p>
          <a:p>
            <a:pPr marL="0" indent="0">
              <a:buNone/>
            </a:pPr>
            <a:r>
              <a:rPr lang="en-IN" dirty="0"/>
              <a:t>        </a:t>
            </a:r>
            <a:r>
              <a:rPr lang="en-IN" dirty="0" err="1"/>
              <a:t>System.out.println</a:t>
            </a:r>
            <a:r>
              <a:rPr lang="en-IN" dirty="0"/>
              <a:t>(b);</a:t>
            </a:r>
          </a:p>
          <a:p>
            <a:pPr marL="0" indent="0">
              <a:buNone/>
            </a:pPr>
            <a:endParaRPr lang="en-IN" dirty="0"/>
          </a:p>
          <a:p>
            <a:pPr marL="0" indent="0">
              <a:buNone/>
            </a:pPr>
            <a:r>
              <a:rPr lang="en-IN" dirty="0"/>
              <a:t>        var c = "Hello Java";    // compiler infers type String</a:t>
            </a:r>
          </a:p>
          <a:p>
            <a:pPr marL="0" indent="0">
              <a:buNone/>
            </a:pPr>
            <a:r>
              <a:rPr lang="en-IN" dirty="0"/>
              <a:t>        </a:t>
            </a:r>
            <a:r>
              <a:rPr lang="en-IN" dirty="0" err="1"/>
              <a:t>System.out.println</a:t>
            </a:r>
            <a:r>
              <a:rPr lang="en-IN" dirty="0"/>
              <a:t>(c);</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8239606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393D5-D81C-49D9-D4D7-F63A062685D8}"/>
              </a:ext>
            </a:extLst>
          </p:cNvPr>
          <p:cNvSpPr>
            <a:spLocks noGrp="1"/>
          </p:cNvSpPr>
          <p:nvPr>
            <p:ph type="title"/>
          </p:nvPr>
        </p:nvSpPr>
        <p:spPr/>
        <p:txBody>
          <a:bodyPr/>
          <a:lstStyle/>
          <a:p>
            <a:r>
              <a:rPr lang="en-US" dirty="0"/>
              <a:t>Where can var be used?</a:t>
            </a:r>
            <a:endParaRPr lang="en-IN" dirty="0"/>
          </a:p>
        </p:txBody>
      </p:sp>
      <p:sp>
        <p:nvSpPr>
          <p:cNvPr id="3" name="Content Placeholder 2">
            <a:extLst>
              <a:ext uri="{FF2B5EF4-FFF2-40B4-BE49-F238E27FC236}">
                <a16:creationId xmlns:a16="http://schemas.microsoft.com/office/drawing/2014/main" id="{B547E8BA-F0DE-834F-AD49-38AA337EBC4F}"/>
              </a:ext>
            </a:extLst>
          </p:cNvPr>
          <p:cNvSpPr>
            <a:spLocks noGrp="1"/>
          </p:cNvSpPr>
          <p:nvPr>
            <p:ph idx="1"/>
          </p:nvPr>
        </p:nvSpPr>
        <p:spPr/>
        <p:txBody>
          <a:bodyPr>
            <a:normAutofit/>
          </a:bodyPr>
          <a:lstStyle/>
          <a:p>
            <a:r>
              <a:rPr lang="en-US" dirty="0"/>
              <a:t>Local variables inside methods</a:t>
            </a:r>
            <a:br>
              <a:rPr lang="en-US" dirty="0"/>
            </a:br>
            <a:r>
              <a:rPr lang="en-US" dirty="0"/>
              <a:t>Index variables in loops</a:t>
            </a:r>
            <a:br>
              <a:rPr lang="en-US" dirty="0"/>
            </a:br>
            <a:r>
              <a:rPr lang="en-US" dirty="0"/>
              <a:t>Local variables in for-each loops</a:t>
            </a:r>
            <a:br>
              <a:rPr lang="en-US" dirty="0"/>
            </a:br>
            <a:r>
              <a:rPr lang="en-US" dirty="0"/>
              <a:t>Try-with-resources</a:t>
            </a:r>
          </a:p>
          <a:p>
            <a:pPr marL="0" indent="0">
              <a:buNone/>
            </a:pPr>
            <a:endParaRPr lang="en-US" dirty="0"/>
          </a:p>
        </p:txBody>
      </p:sp>
    </p:spTree>
    <p:extLst>
      <p:ext uri="{BB962C8B-B14F-4D97-AF65-F5344CB8AC3E}">
        <p14:creationId xmlns:p14="http://schemas.microsoft.com/office/powerpoint/2010/main" val="11498883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B1F60-283C-6F55-EF90-82D4B482EFB0}"/>
              </a:ext>
            </a:extLst>
          </p:cNvPr>
          <p:cNvSpPr>
            <a:spLocks noGrp="1"/>
          </p:cNvSpPr>
          <p:nvPr>
            <p:ph type="title"/>
          </p:nvPr>
        </p:nvSpPr>
        <p:spPr/>
        <p:txBody>
          <a:bodyPr/>
          <a:lstStyle/>
          <a:p>
            <a:r>
              <a:rPr lang="en-US" b="1" dirty="0"/>
              <a:t>Where var CANNOT be used?</a:t>
            </a:r>
            <a:br>
              <a:rPr lang="en-US" b="1" dirty="0"/>
            </a:br>
            <a:endParaRPr lang="en-IN" dirty="0"/>
          </a:p>
        </p:txBody>
      </p:sp>
      <p:sp>
        <p:nvSpPr>
          <p:cNvPr id="3" name="Content Placeholder 2">
            <a:extLst>
              <a:ext uri="{FF2B5EF4-FFF2-40B4-BE49-F238E27FC236}">
                <a16:creationId xmlns:a16="http://schemas.microsoft.com/office/drawing/2014/main" id="{61820E9A-CC55-2538-8E44-001B38682962}"/>
              </a:ext>
            </a:extLst>
          </p:cNvPr>
          <p:cNvSpPr>
            <a:spLocks noGrp="1"/>
          </p:cNvSpPr>
          <p:nvPr>
            <p:ph idx="1"/>
          </p:nvPr>
        </p:nvSpPr>
        <p:spPr/>
        <p:txBody>
          <a:bodyPr/>
          <a:lstStyle/>
          <a:p>
            <a:pPr marL="0" indent="0">
              <a:buNone/>
            </a:pPr>
            <a:r>
              <a:rPr lang="en-US" dirty="0"/>
              <a:t>As a class-level (instance/static) variable</a:t>
            </a:r>
            <a:br>
              <a:rPr lang="en-US" dirty="0"/>
            </a:br>
            <a:r>
              <a:rPr lang="en-US" dirty="0"/>
              <a:t>As method return type</a:t>
            </a:r>
            <a:br>
              <a:rPr lang="en-US" dirty="0"/>
            </a:br>
            <a:r>
              <a:rPr lang="en-US" dirty="0"/>
              <a:t>As method parameter</a:t>
            </a:r>
            <a:br>
              <a:rPr lang="en-US" dirty="0"/>
            </a:br>
            <a:r>
              <a:rPr lang="en-US" dirty="0"/>
              <a:t>Without initialization</a:t>
            </a:r>
            <a:br>
              <a:rPr lang="en-US" dirty="0"/>
            </a:br>
            <a:r>
              <a:rPr lang="en-US" dirty="0"/>
              <a:t>With null (because type cannot be inferred)</a:t>
            </a:r>
          </a:p>
          <a:p>
            <a:pPr marL="0" indent="0">
              <a:buNone/>
            </a:pPr>
            <a:endParaRPr lang="en-IN" b="1" dirty="0"/>
          </a:p>
          <a:p>
            <a:pPr marL="0" indent="0">
              <a:buNone/>
            </a:pPr>
            <a:r>
              <a:rPr lang="en-IN" b="1" dirty="0"/>
              <a:t>var x;        // error: cannot infer type</a:t>
            </a:r>
          </a:p>
          <a:p>
            <a:pPr marL="0" indent="0">
              <a:buNone/>
            </a:pPr>
            <a:r>
              <a:rPr lang="en-IN" b="1" dirty="0"/>
              <a:t>var y = null; // error</a:t>
            </a:r>
          </a:p>
          <a:p>
            <a:pPr marL="0" indent="0">
              <a:buNone/>
            </a:pPr>
            <a:endParaRPr lang="en-IN" dirty="0"/>
          </a:p>
        </p:txBody>
      </p:sp>
    </p:spTree>
    <p:extLst>
      <p:ext uri="{BB962C8B-B14F-4D97-AF65-F5344CB8AC3E}">
        <p14:creationId xmlns:p14="http://schemas.microsoft.com/office/powerpoint/2010/main" val="28999787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971CE7-AAD7-BC3A-910E-03ACC5A1329A}"/>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3B0C8CED-BBC8-856E-E9AF-36D52FC43B3B}"/>
              </a:ext>
            </a:extLst>
          </p:cNvPr>
          <p:cNvSpPr>
            <a:spLocks noGrp="1"/>
          </p:cNvSpPr>
          <p:nvPr>
            <p:ph sz="half" idx="1"/>
          </p:nvPr>
        </p:nvSpPr>
        <p:spPr/>
        <p:txBody>
          <a:bodyPr>
            <a:normAutofit lnSpcReduction="10000"/>
          </a:bodyPr>
          <a:lstStyle/>
          <a:p>
            <a:r>
              <a:rPr lang="en-IN" b="1" dirty="0"/>
              <a:t>1. Inside a method</a:t>
            </a:r>
            <a:endParaRPr lang="en-IN" dirty="0"/>
          </a:p>
          <a:p>
            <a:pPr marL="0" indent="0">
              <a:buNone/>
            </a:pPr>
            <a:r>
              <a:rPr lang="en-IN" dirty="0"/>
              <a:t>var can be used for variables declared inside a method body.</a:t>
            </a:r>
          </a:p>
          <a:p>
            <a:pPr marL="0" indent="0">
              <a:buNone/>
            </a:pPr>
            <a:r>
              <a:rPr lang="en-IN" dirty="0"/>
              <a:t>void show() {</a:t>
            </a:r>
          </a:p>
          <a:p>
            <a:pPr marL="0" indent="0">
              <a:buNone/>
            </a:pPr>
            <a:r>
              <a:rPr lang="en-IN" dirty="0"/>
              <a:t>    var x = 10;</a:t>
            </a:r>
          </a:p>
          <a:p>
            <a:pPr marL="0" indent="0">
              <a:buNone/>
            </a:pPr>
            <a:r>
              <a:rPr lang="en-IN" dirty="0"/>
              <a:t>    var </a:t>
            </a:r>
            <a:r>
              <a:rPr lang="en-IN" dirty="0" err="1"/>
              <a:t>msg</a:t>
            </a:r>
            <a:r>
              <a:rPr lang="en-IN" dirty="0"/>
              <a:t> = "Hello";</a:t>
            </a:r>
          </a:p>
          <a:p>
            <a:pPr marL="0" indent="0">
              <a:buNone/>
            </a:pPr>
            <a:r>
              <a:rPr lang="en-IN" dirty="0"/>
              <a:t>}</a:t>
            </a:r>
          </a:p>
          <a:p>
            <a:pPr marL="0" indent="0">
              <a:buNone/>
            </a:pPr>
            <a:endParaRPr lang="en-IN" dirty="0"/>
          </a:p>
        </p:txBody>
      </p:sp>
      <p:sp>
        <p:nvSpPr>
          <p:cNvPr id="5" name="Content Placeholder 4">
            <a:extLst>
              <a:ext uri="{FF2B5EF4-FFF2-40B4-BE49-F238E27FC236}">
                <a16:creationId xmlns:a16="http://schemas.microsoft.com/office/drawing/2014/main" id="{94C0CA00-A78C-DBEA-4C85-726C02D368F4}"/>
              </a:ext>
            </a:extLst>
          </p:cNvPr>
          <p:cNvSpPr>
            <a:spLocks noGrp="1"/>
          </p:cNvSpPr>
          <p:nvPr>
            <p:ph sz="half" idx="2"/>
          </p:nvPr>
        </p:nvSpPr>
        <p:spPr/>
        <p:txBody>
          <a:bodyPr>
            <a:normAutofit lnSpcReduction="10000"/>
          </a:bodyPr>
          <a:lstStyle/>
          <a:p>
            <a:pPr marL="0" indent="0">
              <a:buNone/>
            </a:pPr>
            <a:r>
              <a:rPr lang="en-IN" b="1" dirty="0"/>
              <a:t>2. Inside a constructor</a:t>
            </a:r>
            <a:endParaRPr lang="en-IN" dirty="0"/>
          </a:p>
          <a:p>
            <a:pPr marL="0" indent="0">
              <a:buNone/>
            </a:pPr>
            <a:r>
              <a:rPr lang="en-IN" dirty="0"/>
              <a:t>Local variables declared inside constructors can use var.</a:t>
            </a:r>
          </a:p>
          <a:p>
            <a:pPr marL="0" indent="0">
              <a:buNone/>
            </a:pPr>
            <a:r>
              <a:rPr lang="en-IN" dirty="0"/>
              <a:t>class Demo {</a:t>
            </a:r>
          </a:p>
          <a:p>
            <a:pPr marL="0" indent="0">
              <a:buNone/>
            </a:pPr>
            <a:r>
              <a:rPr lang="en-IN" dirty="0"/>
              <a:t>    Demo() {</a:t>
            </a:r>
          </a:p>
          <a:p>
            <a:pPr marL="0" indent="0">
              <a:buNone/>
            </a:pPr>
            <a:r>
              <a:rPr lang="en-IN" dirty="0"/>
              <a:t>        var value = 50;</a:t>
            </a:r>
          </a:p>
          <a:p>
            <a:pPr marL="0" indent="0">
              <a:buNone/>
            </a:pPr>
            <a:r>
              <a:rPr lang="en-IN" dirty="0"/>
              <a:t>        </a:t>
            </a:r>
            <a:r>
              <a:rPr lang="en-IN" dirty="0" err="1"/>
              <a:t>System.out.println</a:t>
            </a:r>
            <a:r>
              <a:rPr lang="en-IN" dirty="0"/>
              <a:t>(value);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5411594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AFAE-CCDF-9D81-4229-88B160722B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034C21-9074-E1DB-7615-7D384EAED7F6}"/>
              </a:ext>
            </a:extLst>
          </p:cNvPr>
          <p:cNvSpPr>
            <a:spLocks noGrp="1"/>
          </p:cNvSpPr>
          <p:nvPr>
            <p:ph sz="half" idx="1"/>
          </p:nvPr>
        </p:nvSpPr>
        <p:spPr/>
        <p:txBody>
          <a:bodyPr>
            <a:normAutofit fontScale="92500" lnSpcReduction="10000"/>
          </a:bodyPr>
          <a:lstStyle/>
          <a:p>
            <a:r>
              <a:rPr lang="en-IN" b="1" dirty="0"/>
              <a:t>Inside a block such as if, loop, or try block</a:t>
            </a:r>
            <a:endParaRPr lang="en-IN" dirty="0"/>
          </a:p>
          <a:p>
            <a:pPr marL="0" indent="0">
              <a:buNone/>
            </a:pPr>
            <a:r>
              <a:rPr lang="en-IN" dirty="0"/>
              <a:t>var works inside any local block.</a:t>
            </a:r>
          </a:p>
          <a:p>
            <a:pPr marL="0" indent="0">
              <a:buNone/>
            </a:pPr>
            <a:r>
              <a:rPr lang="en-IN" dirty="0"/>
              <a:t>if (true) {</a:t>
            </a:r>
          </a:p>
          <a:p>
            <a:pPr marL="0" indent="0">
              <a:buNone/>
            </a:pPr>
            <a:r>
              <a:rPr lang="en-IN" dirty="0"/>
              <a:t>    var </a:t>
            </a:r>
            <a:r>
              <a:rPr lang="en-IN" dirty="0" err="1"/>
              <a:t>num</a:t>
            </a:r>
            <a:r>
              <a:rPr lang="en-IN" dirty="0"/>
              <a:t> = 100;</a:t>
            </a:r>
          </a:p>
          <a:p>
            <a:pPr marL="0" indent="0">
              <a:buNone/>
            </a:pPr>
            <a:r>
              <a:rPr lang="en-IN" dirty="0"/>
              <a:t>    </a:t>
            </a:r>
            <a:r>
              <a:rPr lang="en-IN" dirty="0" err="1"/>
              <a:t>System.out.println</a:t>
            </a:r>
            <a:r>
              <a:rPr lang="en-IN" dirty="0"/>
              <a:t>(</a:t>
            </a:r>
            <a:r>
              <a:rPr lang="en-IN" dirty="0" err="1"/>
              <a:t>num</a:t>
            </a:r>
            <a:r>
              <a:rPr lang="en-IN" dirty="0"/>
              <a:t>);</a:t>
            </a:r>
          </a:p>
          <a:p>
            <a:pPr marL="0" indent="0">
              <a:buNone/>
            </a:pPr>
            <a:r>
              <a:rPr lang="en-IN" dirty="0"/>
              <a:t>}</a:t>
            </a:r>
          </a:p>
          <a:p>
            <a:pPr marL="0" indent="0">
              <a:buNone/>
            </a:pPr>
            <a:r>
              <a:rPr lang="en-IN" dirty="0"/>
              <a:t>for (var </a:t>
            </a:r>
            <a:r>
              <a:rPr lang="en-IN" dirty="0" err="1"/>
              <a:t>i</a:t>
            </a:r>
            <a:r>
              <a:rPr lang="en-IN" dirty="0"/>
              <a:t> = 0; </a:t>
            </a:r>
            <a:r>
              <a:rPr lang="en-IN" dirty="0" err="1"/>
              <a:t>i</a:t>
            </a:r>
            <a:r>
              <a:rPr lang="en-IN" dirty="0"/>
              <a:t> &lt; 3; </a:t>
            </a:r>
            <a:r>
              <a:rPr lang="en-IN" dirty="0" err="1"/>
              <a:t>i</a:t>
            </a:r>
            <a:r>
              <a:rPr lang="en-IN" dirty="0"/>
              <a:t>++) {</a:t>
            </a:r>
          </a:p>
          <a:p>
            <a:pPr marL="0" indent="0">
              <a:buNone/>
            </a:pPr>
            <a:r>
              <a:rPr lang="en-IN" dirty="0"/>
              <a:t>    </a:t>
            </a:r>
            <a:r>
              <a:rPr lang="en-IN" dirty="0" err="1"/>
              <a:t>System.out.println</a:t>
            </a:r>
            <a:r>
              <a:rPr lang="en-IN" dirty="0"/>
              <a:t>(</a:t>
            </a:r>
            <a:r>
              <a:rPr lang="en-IN" dirty="0" err="1"/>
              <a:t>i</a:t>
            </a:r>
            <a:r>
              <a:rPr lang="en-IN" dirty="0"/>
              <a:t>);</a:t>
            </a:r>
          </a:p>
          <a:p>
            <a:pPr marL="0" indent="0">
              <a:buNone/>
            </a:pPr>
            <a:r>
              <a:rPr lang="en-IN" dirty="0"/>
              <a:t>}</a:t>
            </a:r>
          </a:p>
          <a:p>
            <a:pPr marL="0" indent="0">
              <a:buNone/>
            </a:pPr>
            <a:endParaRPr lang="en-IN" dirty="0"/>
          </a:p>
        </p:txBody>
      </p:sp>
      <p:sp>
        <p:nvSpPr>
          <p:cNvPr id="4" name="Content Placeholder 3">
            <a:extLst>
              <a:ext uri="{FF2B5EF4-FFF2-40B4-BE49-F238E27FC236}">
                <a16:creationId xmlns:a16="http://schemas.microsoft.com/office/drawing/2014/main" id="{8A6117C4-4C9A-7DFA-515E-34FB9A0F25E1}"/>
              </a:ext>
            </a:extLst>
          </p:cNvPr>
          <p:cNvSpPr>
            <a:spLocks noGrp="1"/>
          </p:cNvSpPr>
          <p:nvPr>
            <p:ph sz="half" idx="2"/>
          </p:nvPr>
        </p:nvSpPr>
        <p:spPr/>
        <p:txBody>
          <a:bodyPr>
            <a:normAutofit fontScale="92500" lnSpcReduction="10000"/>
          </a:bodyPr>
          <a:lstStyle/>
          <a:p>
            <a:r>
              <a:rPr lang="en-IN" b="1" dirty="0"/>
              <a:t>. Enhanced for loop index</a:t>
            </a:r>
            <a:endParaRPr lang="en-IN" dirty="0"/>
          </a:p>
          <a:p>
            <a:pPr marL="0" indent="0">
              <a:buNone/>
            </a:pPr>
            <a:r>
              <a:rPr lang="en-IN" dirty="0"/>
              <a:t>var can be used as the loop variable in enhanced for loops.</a:t>
            </a:r>
          </a:p>
          <a:p>
            <a:pPr marL="0" indent="0">
              <a:buNone/>
            </a:pPr>
            <a:r>
              <a:rPr lang="en-IN" dirty="0"/>
              <a:t>int[] </a:t>
            </a:r>
            <a:r>
              <a:rPr lang="en-IN" dirty="0" err="1"/>
              <a:t>arr</a:t>
            </a:r>
            <a:r>
              <a:rPr lang="en-IN" dirty="0"/>
              <a:t> = {1, 2, 3};</a:t>
            </a:r>
          </a:p>
          <a:p>
            <a:pPr marL="0" indent="0">
              <a:buNone/>
            </a:pPr>
            <a:r>
              <a:rPr lang="en-IN" dirty="0"/>
              <a:t> </a:t>
            </a:r>
          </a:p>
          <a:p>
            <a:pPr marL="0" indent="0">
              <a:buNone/>
            </a:pPr>
            <a:r>
              <a:rPr lang="en-IN" dirty="0"/>
              <a:t>for (var n : </a:t>
            </a:r>
            <a:r>
              <a:rPr lang="en-IN" dirty="0" err="1"/>
              <a:t>arr</a:t>
            </a:r>
            <a:r>
              <a:rPr lang="en-IN" dirty="0"/>
              <a:t>) {</a:t>
            </a:r>
          </a:p>
          <a:p>
            <a:pPr marL="0" indent="0">
              <a:buNone/>
            </a:pPr>
            <a:r>
              <a:rPr lang="en-IN" dirty="0"/>
              <a:t>    </a:t>
            </a:r>
            <a:r>
              <a:rPr lang="en-IN" dirty="0" err="1"/>
              <a:t>System.out.println</a:t>
            </a:r>
            <a:r>
              <a:rPr lang="en-IN" dirty="0"/>
              <a:t>(n);</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2383569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0661-27CB-D3FA-B2EE-F2E54409EB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78873B-A30C-E5E8-6525-9A1EFD5C335B}"/>
              </a:ext>
            </a:extLst>
          </p:cNvPr>
          <p:cNvSpPr>
            <a:spLocks noGrp="1"/>
          </p:cNvSpPr>
          <p:nvPr>
            <p:ph sz="half" idx="1"/>
          </p:nvPr>
        </p:nvSpPr>
        <p:spPr/>
        <p:txBody>
          <a:bodyPr>
            <a:normAutofit fontScale="77500" lnSpcReduction="20000"/>
          </a:bodyPr>
          <a:lstStyle/>
          <a:p>
            <a:pPr lvl="0"/>
            <a:r>
              <a:rPr lang="en-IN" b="1" dirty="0"/>
              <a:t>As a Return Value in a Method</a:t>
            </a:r>
            <a:endParaRPr lang="en-IN" dirty="0"/>
          </a:p>
          <a:p>
            <a:pPr marL="0" indent="0">
              <a:buNone/>
            </a:pPr>
            <a:r>
              <a:rPr lang="en-IN" b="1" dirty="0"/>
              <a:t>Example:</a:t>
            </a:r>
            <a:endParaRPr lang="en-IN" dirty="0"/>
          </a:p>
          <a:p>
            <a:pPr marL="0" indent="0">
              <a:buNone/>
            </a:pPr>
            <a:r>
              <a:rPr lang="en-IN" dirty="0"/>
              <a:t>class A {</a:t>
            </a:r>
          </a:p>
          <a:p>
            <a:pPr marL="0" indent="0">
              <a:buNone/>
            </a:pPr>
            <a:r>
              <a:rPr lang="en-IN" dirty="0"/>
              <a:t>    int ret() {</a:t>
            </a:r>
          </a:p>
          <a:p>
            <a:pPr marL="0" indent="0">
              <a:buNone/>
            </a:pPr>
            <a:r>
              <a:rPr lang="en-IN" dirty="0"/>
              <a:t>        var x = 1;</a:t>
            </a:r>
          </a:p>
          <a:p>
            <a:pPr marL="0" indent="0">
              <a:buNone/>
            </a:pPr>
            <a:r>
              <a:rPr lang="en-IN" dirty="0"/>
              <a:t>        return x;</a:t>
            </a:r>
          </a:p>
          <a:p>
            <a:pPr marL="0" indent="0">
              <a:buNone/>
            </a:pPr>
            <a:r>
              <a:rPr lang="en-IN" dirty="0"/>
              <a:t>    }</a:t>
            </a:r>
          </a:p>
          <a:p>
            <a:pPr marL="0" indent="0">
              <a:buNone/>
            </a:pPr>
            <a:r>
              <a:rPr lang="en-IN" dirty="0"/>
              <a:t>    public static void main(String a[]) {</a:t>
            </a:r>
          </a:p>
          <a:p>
            <a:pPr marL="0" indent="0">
              <a:buNone/>
            </a:pPr>
            <a:r>
              <a:rPr lang="en-IN" dirty="0"/>
              <a:t>        </a:t>
            </a:r>
            <a:r>
              <a:rPr lang="en-IN" dirty="0" err="1"/>
              <a:t>System.out.println</a:t>
            </a:r>
            <a:r>
              <a:rPr lang="en-IN" dirty="0"/>
              <a:t>(new A().ret());</a:t>
            </a:r>
          </a:p>
          <a:p>
            <a:pPr marL="0" indent="0">
              <a:buNone/>
            </a:pPr>
            <a:r>
              <a:rPr lang="en-IN" dirty="0"/>
              <a:t>    }</a:t>
            </a:r>
          </a:p>
          <a:p>
            <a:pPr marL="0" indent="0">
              <a:buNone/>
            </a:pPr>
            <a:r>
              <a:rPr lang="en-IN" dirty="0"/>
              <a:t>}</a:t>
            </a:r>
          </a:p>
          <a:p>
            <a:pPr marL="0" indent="0">
              <a:buNone/>
            </a:pPr>
            <a:r>
              <a:rPr lang="en-IN" dirty="0"/>
              <a:t> </a:t>
            </a:r>
          </a:p>
          <a:p>
            <a:pPr marL="0" indent="0">
              <a:buNone/>
            </a:pPr>
            <a:endParaRPr lang="en-IN" dirty="0"/>
          </a:p>
        </p:txBody>
      </p:sp>
      <p:sp>
        <p:nvSpPr>
          <p:cNvPr id="4" name="Content Placeholder 3">
            <a:extLst>
              <a:ext uri="{FF2B5EF4-FFF2-40B4-BE49-F238E27FC236}">
                <a16:creationId xmlns:a16="http://schemas.microsoft.com/office/drawing/2014/main" id="{49B758EA-56BB-6708-5FBB-CCD93C8B8304}"/>
              </a:ext>
            </a:extLst>
          </p:cNvPr>
          <p:cNvSpPr>
            <a:spLocks noGrp="1"/>
          </p:cNvSpPr>
          <p:nvPr>
            <p:ph sz="half" idx="2"/>
          </p:nvPr>
        </p:nvSpPr>
        <p:spPr/>
        <p:txBody>
          <a:bodyPr>
            <a:normAutofit fontScale="77500" lnSpcReduction="20000"/>
          </a:bodyPr>
          <a:lstStyle/>
          <a:p>
            <a:pPr marL="0" indent="0">
              <a:buNone/>
            </a:pPr>
            <a:endParaRPr lang="en-IN" dirty="0"/>
          </a:p>
        </p:txBody>
      </p:sp>
    </p:spTree>
    <p:extLst>
      <p:ext uri="{BB962C8B-B14F-4D97-AF65-F5344CB8AC3E}">
        <p14:creationId xmlns:p14="http://schemas.microsoft.com/office/powerpoint/2010/main" val="25266389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E61814C-7D04-5F1D-36A6-DFDFAED4FF71}"/>
              </a:ext>
            </a:extLst>
          </p:cNvPr>
          <p:cNvSpPr>
            <a:spLocks noGrp="1"/>
          </p:cNvSpPr>
          <p:nvPr>
            <p:ph type="title"/>
          </p:nvPr>
        </p:nvSpPr>
        <p:spPr/>
        <p:txBody>
          <a:bodyPr/>
          <a:lstStyle/>
          <a:p>
            <a:r>
              <a:rPr lang="en-IN" b="1" dirty="0"/>
              <a:t>Sealed class</a:t>
            </a:r>
            <a:br>
              <a:rPr lang="en-IN" dirty="0"/>
            </a:br>
            <a:endParaRPr lang="en-IN" dirty="0"/>
          </a:p>
        </p:txBody>
      </p:sp>
      <p:sp>
        <p:nvSpPr>
          <p:cNvPr id="6" name="Content Placeholder 5">
            <a:extLst>
              <a:ext uri="{FF2B5EF4-FFF2-40B4-BE49-F238E27FC236}">
                <a16:creationId xmlns:a16="http://schemas.microsoft.com/office/drawing/2014/main" id="{310CFDCD-DF2E-9D1F-B102-F70E7CC2FFE8}"/>
              </a:ext>
            </a:extLst>
          </p:cNvPr>
          <p:cNvSpPr>
            <a:spLocks noGrp="1"/>
          </p:cNvSpPr>
          <p:nvPr>
            <p:ph idx="1"/>
          </p:nvPr>
        </p:nvSpPr>
        <p:spPr/>
        <p:txBody>
          <a:bodyPr>
            <a:normAutofit lnSpcReduction="10000"/>
          </a:bodyPr>
          <a:lstStyle/>
          <a:p>
            <a:r>
              <a:rPr lang="en-IN" dirty="0"/>
              <a:t>Sealed classes in Java provide a controlled form of inheritance. </a:t>
            </a:r>
          </a:p>
          <a:p>
            <a:r>
              <a:rPr lang="en-IN" dirty="0"/>
              <a:t>In Java, abstract classes cannot be instantiated and must be inherited, whereas final classes cannot be inherited at all.</a:t>
            </a:r>
          </a:p>
          <a:p>
            <a:r>
              <a:rPr lang="en-IN" dirty="0"/>
              <a:t>Sealed classes fall between these two extremes by allowing inheritance but restricting it to a specific, predefined set of classes.</a:t>
            </a:r>
          </a:p>
          <a:p>
            <a:r>
              <a:rPr lang="en-US" dirty="0"/>
              <a:t>A </a:t>
            </a:r>
            <a:r>
              <a:rPr lang="en-US" b="1" dirty="0"/>
              <a:t>sealed class</a:t>
            </a:r>
            <a:r>
              <a:rPr lang="en-US" dirty="0"/>
              <a:t> is a special type of class that </a:t>
            </a:r>
            <a:r>
              <a:rPr lang="en-US" b="1" dirty="0"/>
              <a:t>restricts which other classes can extend or implement it</a:t>
            </a:r>
            <a:r>
              <a:rPr lang="en-US" dirty="0"/>
              <a:t>.</a:t>
            </a:r>
            <a:endParaRPr lang="en-IN" dirty="0"/>
          </a:p>
          <a:p>
            <a:r>
              <a:rPr lang="en-IN" dirty="0"/>
              <a:t>A sealed class limits which classes are allowed to extend it. </a:t>
            </a:r>
          </a:p>
          <a:p>
            <a:r>
              <a:rPr lang="en-US" dirty="0"/>
              <a:t>It allows the class designer to </a:t>
            </a:r>
            <a:r>
              <a:rPr lang="en-US" b="1" dirty="0"/>
              <a:t>control inheritance</a:t>
            </a:r>
            <a:r>
              <a:rPr lang="en-US" dirty="0"/>
              <a:t>, improve </a:t>
            </a:r>
            <a:r>
              <a:rPr lang="en-US" b="1" dirty="0"/>
              <a:t>security</a:t>
            </a:r>
            <a:r>
              <a:rPr lang="en-US" dirty="0"/>
              <a:t>, and maintain </a:t>
            </a:r>
            <a:r>
              <a:rPr lang="en-US" b="1" dirty="0"/>
              <a:t>clean hierarchy design</a:t>
            </a:r>
            <a:r>
              <a:rPr lang="en-US" dirty="0"/>
              <a:t>.</a:t>
            </a:r>
          </a:p>
          <a:p>
            <a:pPr marL="0" indent="0">
              <a:buNone/>
            </a:pPr>
            <a:endParaRPr lang="en-IN" dirty="0"/>
          </a:p>
          <a:p>
            <a:endParaRPr lang="en-IN" dirty="0"/>
          </a:p>
        </p:txBody>
      </p:sp>
    </p:spTree>
    <p:extLst>
      <p:ext uri="{BB962C8B-B14F-4D97-AF65-F5344CB8AC3E}">
        <p14:creationId xmlns:p14="http://schemas.microsoft.com/office/powerpoint/2010/main" val="4210464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BFB0C-F2A9-9E83-F10C-050972B230FC}"/>
              </a:ext>
            </a:extLst>
          </p:cNvPr>
          <p:cNvSpPr>
            <a:spLocks noGrp="1"/>
          </p:cNvSpPr>
          <p:nvPr>
            <p:ph type="title"/>
          </p:nvPr>
        </p:nvSpPr>
        <p:spPr/>
        <p:txBody>
          <a:bodyPr/>
          <a:lstStyle/>
          <a:p>
            <a:r>
              <a:rPr lang="en-IN" dirty="0"/>
              <a:t>Syntax</a:t>
            </a:r>
          </a:p>
        </p:txBody>
      </p:sp>
      <p:sp>
        <p:nvSpPr>
          <p:cNvPr id="3" name="Content Placeholder 2">
            <a:extLst>
              <a:ext uri="{FF2B5EF4-FFF2-40B4-BE49-F238E27FC236}">
                <a16:creationId xmlns:a16="http://schemas.microsoft.com/office/drawing/2014/main" id="{00491D8F-BB7E-4049-3C2C-407A9AD60F4A}"/>
              </a:ext>
            </a:extLst>
          </p:cNvPr>
          <p:cNvSpPr>
            <a:spLocks noGrp="1"/>
          </p:cNvSpPr>
          <p:nvPr>
            <p:ph idx="1"/>
          </p:nvPr>
        </p:nvSpPr>
        <p:spPr/>
        <p:txBody>
          <a:bodyPr/>
          <a:lstStyle/>
          <a:p>
            <a:pPr marL="0" indent="0">
              <a:buNone/>
            </a:pPr>
            <a:r>
              <a:rPr lang="en-US" dirty="0"/>
              <a:t>A sealed class uses the keyword:</a:t>
            </a:r>
          </a:p>
          <a:p>
            <a:pPr marL="0" indent="0">
              <a:buNone/>
            </a:pPr>
            <a:r>
              <a:rPr lang="en-IN" dirty="0"/>
              <a:t>sealed</a:t>
            </a:r>
          </a:p>
          <a:p>
            <a:pPr marL="0" indent="0">
              <a:buNone/>
            </a:pPr>
            <a:r>
              <a:rPr lang="en-IN" dirty="0"/>
              <a:t>and must include:</a:t>
            </a:r>
          </a:p>
          <a:p>
            <a:pPr marL="0" indent="0">
              <a:buNone/>
            </a:pPr>
            <a:r>
              <a:rPr lang="en-IN" dirty="0"/>
              <a:t>permits</a:t>
            </a:r>
          </a:p>
          <a:p>
            <a:pPr marL="0" indent="0">
              <a:buNone/>
            </a:pPr>
            <a:endParaRPr lang="en-US" dirty="0"/>
          </a:p>
          <a:p>
            <a:pPr marL="0" indent="0">
              <a:buNone/>
            </a:pPr>
            <a:r>
              <a:rPr lang="en-US" b="1" dirty="0"/>
              <a:t>public sealed class </a:t>
            </a:r>
            <a:r>
              <a:rPr lang="en-US" b="1" dirty="0" err="1"/>
              <a:t>ClassName</a:t>
            </a:r>
            <a:r>
              <a:rPr lang="en-US" b="1" dirty="0"/>
              <a:t> permits Subclass1, Subclass2, ... {</a:t>
            </a:r>
            <a:br>
              <a:rPr lang="en-US" b="1" dirty="0"/>
            </a:br>
            <a:r>
              <a:rPr lang="en-US" b="1" dirty="0"/>
              <a:t>// class body</a:t>
            </a:r>
            <a:br>
              <a:rPr lang="en-US" b="1" dirty="0"/>
            </a:br>
            <a:r>
              <a:rPr lang="en-US" b="1" dirty="0"/>
              <a:t>}</a:t>
            </a:r>
            <a:endParaRPr lang="en-IN" b="1" dirty="0"/>
          </a:p>
        </p:txBody>
      </p:sp>
    </p:spTree>
    <p:extLst>
      <p:ext uri="{BB962C8B-B14F-4D97-AF65-F5344CB8AC3E}">
        <p14:creationId xmlns:p14="http://schemas.microsoft.com/office/powerpoint/2010/main" val="18993991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83AD9-59FD-AE54-34F2-AFD4F2A56114}"/>
              </a:ext>
            </a:extLst>
          </p:cNvPr>
          <p:cNvSpPr>
            <a:spLocks noGrp="1"/>
          </p:cNvSpPr>
          <p:nvPr>
            <p:ph type="title"/>
          </p:nvPr>
        </p:nvSpPr>
        <p:spPr/>
        <p:txBody>
          <a:bodyPr/>
          <a:lstStyle/>
          <a:p>
            <a:r>
              <a:rPr lang="en-US" dirty="0"/>
              <a:t>Rules for Subclasses of a Sealed Class</a:t>
            </a:r>
            <a:endParaRPr lang="en-IN" dirty="0"/>
          </a:p>
        </p:txBody>
      </p:sp>
      <p:sp>
        <p:nvSpPr>
          <p:cNvPr id="3" name="Content Placeholder 2">
            <a:extLst>
              <a:ext uri="{FF2B5EF4-FFF2-40B4-BE49-F238E27FC236}">
                <a16:creationId xmlns:a16="http://schemas.microsoft.com/office/drawing/2014/main" id="{9E16CC52-0EAA-067E-1F09-88E701ABFC7B}"/>
              </a:ext>
            </a:extLst>
          </p:cNvPr>
          <p:cNvSpPr>
            <a:spLocks noGrp="1"/>
          </p:cNvSpPr>
          <p:nvPr>
            <p:ph idx="1"/>
          </p:nvPr>
        </p:nvSpPr>
        <p:spPr/>
        <p:txBody>
          <a:bodyPr/>
          <a:lstStyle/>
          <a:p>
            <a:r>
              <a:rPr lang="en-US" dirty="0"/>
              <a:t>Every subclass of a sealed class </a:t>
            </a:r>
            <a:r>
              <a:rPr lang="en-US" b="1" dirty="0"/>
              <a:t>must</a:t>
            </a:r>
            <a:r>
              <a:rPr lang="en-US" dirty="0"/>
              <a:t> declare one of these:</a:t>
            </a:r>
          </a:p>
          <a:p>
            <a:pPr marL="0" indent="0">
              <a:buNone/>
            </a:pPr>
            <a:r>
              <a:rPr lang="en-US" b="1" dirty="0"/>
              <a:t>final</a:t>
            </a:r>
          </a:p>
          <a:p>
            <a:r>
              <a:rPr lang="en-US" dirty="0"/>
              <a:t>No one can extend this subclass.</a:t>
            </a:r>
          </a:p>
          <a:p>
            <a:pPr marL="0" indent="0">
              <a:buNone/>
            </a:pPr>
            <a:r>
              <a:rPr lang="en-US" b="1" dirty="0"/>
              <a:t>sealed</a:t>
            </a:r>
          </a:p>
          <a:p>
            <a:r>
              <a:rPr lang="en-US" dirty="0"/>
              <a:t>It can itself restrict who can extend it.</a:t>
            </a:r>
          </a:p>
          <a:p>
            <a:pPr marL="0" indent="0">
              <a:buNone/>
            </a:pPr>
            <a:r>
              <a:rPr lang="en-US" b="1" dirty="0"/>
              <a:t>non-sealed</a:t>
            </a:r>
          </a:p>
          <a:p>
            <a:r>
              <a:rPr lang="en-US" dirty="0"/>
              <a:t>This class is open for extension like a normal class.</a:t>
            </a:r>
          </a:p>
          <a:p>
            <a:pPr marL="0" indent="0">
              <a:buNone/>
            </a:pPr>
            <a:endParaRPr lang="en-IN" dirty="0"/>
          </a:p>
        </p:txBody>
      </p:sp>
    </p:spTree>
    <p:extLst>
      <p:ext uri="{BB962C8B-B14F-4D97-AF65-F5344CB8AC3E}">
        <p14:creationId xmlns:p14="http://schemas.microsoft.com/office/powerpoint/2010/main" val="40343299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2BC1A-5D9E-06DD-DB35-486E2A96D57D}"/>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179BD33-577C-45FB-E7B3-052B87258DBC}"/>
              </a:ext>
            </a:extLst>
          </p:cNvPr>
          <p:cNvSpPr>
            <a:spLocks noGrp="1"/>
          </p:cNvSpPr>
          <p:nvPr>
            <p:ph sz="half" idx="1"/>
          </p:nvPr>
        </p:nvSpPr>
        <p:spPr/>
        <p:txBody>
          <a:bodyPr>
            <a:normAutofit fontScale="40000" lnSpcReduction="20000"/>
          </a:bodyPr>
          <a:lstStyle/>
          <a:p>
            <a:pPr marL="0" indent="0">
              <a:buNone/>
            </a:pPr>
            <a:r>
              <a:rPr lang="en-IN" dirty="0"/>
              <a:t>sealed class Vehicle permits Car, Bike, Truck {</a:t>
            </a:r>
          </a:p>
          <a:p>
            <a:pPr marL="0" indent="0">
              <a:buNone/>
            </a:pPr>
            <a:r>
              <a:rPr lang="en-IN" dirty="0"/>
              <a:t>    void show() {</a:t>
            </a:r>
          </a:p>
          <a:p>
            <a:pPr marL="0" indent="0">
              <a:buNone/>
            </a:pPr>
            <a:r>
              <a:rPr lang="en-IN" dirty="0"/>
              <a:t>        </a:t>
            </a:r>
            <a:r>
              <a:rPr lang="en-IN" dirty="0" err="1"/>
              <a:t>System.out.println</a:t>
            </a:r>
            <a:r>
              <a:rPr lang="en-IN" dirty="0"/>
              <a:t>("This is a Vehicle");</a:t>
            </a:r>
          </a:p>
          <a:p>
            <a:pPr marL="0" indent="0">
              <a:buNone/>
            </a:pPr>
            <a:r>
              <a:rPr lang="en-IN" dirty="0"/>
              <a:t>    }</a:t>
            </a:r>
          </a:p>
          <a:p>
            <a:pPr marL="0" indent="0">
              <a:buNone/>
            </a:pPr>
            <a:r>
              <a:rPr lang="en-IN" dirty="0"/>
              <a:t>}</a:t>
            </a:r>
          </a:p>
          <a:p>
            <a:pPr marL="0" indent="0">
              <a:buNone/>
            </a:pPr>
            <a:endParaRPr lang="en-IN" dirty="0"/>
          </a:p>
          <a:p>
            <a:pPr marL="0" indent="0">
              <a:buNone/>
            </a:pPr>
            <a:r>
              <a:rPr lang="en-IN" dirty="0"/>
              <a:t>final class Car extends Vehicle {</a:t>
            </a:r>
          </a:p>
          <a:p>
            <a:pPr marL="0" indent="0">
              <a:buNone/>
            </a:pPr>
            <a:r>
              <a:rPr lang="en-IN" dirty="0"/>
              <a:t>    void show() {</a:t>
            </a:r>
          </a:p>
          <a:p>
            <a:pPr marL="0" indent="0">
              <a:buNone/>
            </a:pPr>
            <a:r>
              <a:rPr lang="en-IN" dirty="0"/>
              <a:t>        </a:t>
            </a:r>
            <a:r>
              <a:rPr lang="en-IN" dirty="0" err="1"/>
              <a:t>System.out.println</a:t>
            </a:r>
            <a:r>
              <a:rPr lang="en-IN" dirty="0"/>
              <a:t>("This is a Car");</a:t>
            </a:r>
          </a:p>
          <a:p>
            <a:pPr marL="0" indent="0">
              <a:buNone/>
            </a:pPr>
            <a:r>
              <a:rPr lang="en-IN" dirty="0"/>
              <a:t>    }</a:t>
            </a:r>
          </a:p>
          <a:p>
            <a:pPr marL="0" indent="0">
              <a:buNone/>
            </a:pPr>
            <a:r>
              <a:rPr lang="en-IN" dirty="0"/>
              <a:t>}</a:t>
            </a:r>
          </a:p>
          <a:p>
            <a:pPr marL="0" indent="0">
              <a:buNone/>
            </a:pPr>
            <a:endParaRPr lang="en-IN" dirty="0"/>
          </a:p>
          <a:p>
            <a:pPr marL="0" indent="0">
              <a:buNone/>
            </a:pPr>
            <a:r>
              <a:rPr lang="en-IN" dirty="0"/>
              <a:t>sealed class Bike extends Vehicle permits </a:t>
            </a:r>
            <a:r>
              <a:rPr lang="en-IN" dirty="0" err="1"/>
              <a:t>SportsBike</a:t>
            </a:r>
            <a:r>
              <a:rPr lang="en-IN" dirty="0"/>
              <a:t>, </a:t>
            </a:r>
            <a:r>
              <a:rPr lang="en-IN" dirty="0" err="1"/>
              <a:t>ElectricBike</a:t>
            </a:r>
            <a:r>
              <a:rPr lang="en-IN" dirty="0"/>
              <a:t> {</a:t>
            </a:r>
          </a:p>
          <a:p>
            <a:pPr marL="0" indent="0">
              <a:buNone/>
            </a:pPr>
            <a:r>
              <a:rPr lang="en-IN" dirty="0"/>
              <a:t>    void show() {</a:t>
            </a:r>
          </a:p>
          <a:p>
            <a:pPr marL="0" indent="0">
              <a:buNone/>
            </a:pPr>
            <a:r>
              <a:rPr lang="en-IN" dirty="0"/>
              <a:t>        </a:t>
            </a:r>
            <a:r>
              <a:rPr lang="en-IN" dirty="0" err="1"/>
              <a:t>System.out.println</a:t>
            </a:r>
            <a:r>
              <a:rPr lang="en-IN" dirty="0"/>
              <a:t>("This is a Bike");</a:t>
            </a:r>
          </a:p>
          <a:p>
            <a:pPr marL="0" indent="0">
              <a:buNone/>
            </a:pPr>
            <a:r>
              <a:rPr lang="en-IN" dirty="0"/>
              <a:t>    }</a:t>
            </a:r>
          </a:p>
          <a:p>
            <a:pPr marL="0" indent="0">
              <a:buNone/>
            </a:pPr>
            <a:r>
              <a:rPr lang="en-IN" dirty="0"/>
              <a:t>}</a:t>
            </a:r>
          </a:p>
          <a:p>
            <a:pPr marL="0" indent="0">
              <a:buNone/>
            </a:pPr>
            <a:endParaRPr lang="en-IN" dirty="0"/>
          </a:p>
        </p:txBody>
      </p:sp>
      <p:sp>
        <p:nvSpPr>
          <p:cNvPr id="4" name="Content Placeholder 3">
            <a:extLst>
              <a:ext uri="{FF2B5EF4-FFF2-40B4-BE49-F238E27FC236}">
                <a16:creationId xmlns:a16="http://schemas.microsoft.com/office/drawing/2014/main" id="{732C8AF4-1AD4-871F-4DB2-34A1080A87D8}"/>
              </a:ext>
            </a:extLst>
          </p:cNvPr>
          <p:cNvSpPr>
            <a:spLocks noGrp="1"/>
          </p:cNvSpPr>
          <p:nvPr>
            <p:ph sz="half" idx="2"/>
          </p:nvPr>
        </p:nvSpPr>
        <p:spPr/>
        <p:txBody>
          <a:bodyPr>
            <a:normAutofit fontScale="40000" lnSpcReduction="20000"/>
          </a:bodyPr>
          <a:lstStyle/>
          <a:p>
            <a:pPr marL="0" indent="0">
              <a:buNone/>
            </a:pPr>
            <a:endParaRPr lang="en-IN" dirty="0"/>
          </a:p>
          <a:p>
            <a:pPr marL="0" indent="0">
              <a:buNone/>
            </a:pPr>
            <a:r>
              <a:rPr lang="en-IN" dirty="0"/>
              <a:t>final class </a:t>
            </a:r>
            <a:r>
              <a:rPr lang="en-IN" dirty="0" err="1"/>
              <a:t>SportsBike</a:t>
            </a:r>
            <a:r>
              <a:rPr lang="en-IN" dirty="0"/>
              <a:t> extends Bike {</a:t>
            </a:r>
          </a:p>
          <a:p>
            <a:pPr marL="0" indent="0">
              <a:buNone/>
            </a:pPr>
            <a:r>
              <a:rPr lang="en-IN" dirty="0"/>
              <a:t>    void show() {</a:t>
            </a:r>
          </a:p>
          <a:p>
            <a:pPr marL="0" indent="0">
              <a:buNone/>
            </a:pPr>
            <a:r>
              <a:rPr lang="en-IN" dirty="0"/>
              <a:t>        </a:t>
            </a:r>
            <a:r>
              <a:rPr lang="en-IN" dirty="0" err="1"/>
              <a:t>System.out.println</a:t>
            </a:r>
            <a:r>
              <a:rPr lang="en-IN" dirty="0"/>
              <a:t>("This is a </a:t>
            </a:r>
            <a:r>
              <a:rPr lang="en-IN" dirty="0" err="1"/>
              <a:t>SportsBike</a:t>
            </a:r>
            <a:r>
              <a:rPr lang="en-IN" dirty="0"/>
              <a:t>");</a:t>
            </a:r>
          </a:p>
          <a:p>
            <a:pPr marL="0" indent="0">
              <a:buNone/>
            </a:pPr>
            <a:r>
              <a:rPr lang="en-IN" dirty="0"/>
              <a:t>    }</a:t>
            </a:r>
          </a:p>
          <a:p>
            <a:pPr marL="0" indent="0">
              <a:buNone/>
            </a:pPr>
            <a:r>
              <a:rPr lang="en-IN" dirty="0"/>
              <a:t>}</a:t>
            </a:r>
          </a:p>
          <a:p>
            <a:pPr marL="0" indent="0">
              <a:buNone/>
            </a:pPr>
            <a:endParaRPr lang="en-IN" dirty="0"/>
          </a:p>
          <a:p>
            <a:pPr marL="0" indent="0">
              <a:buNone/>
            </a:pPr>
            <a:r>
              <a:rPr lang="en-IN" dirty="0"/>
              <a:t>non-sealed class </a:t>
            </a:r>
            <a:r>
              <a:rPr lang="en-IN" dirty="0" err="1"/>
              <a:t>ElectricBike</a:t>
            </a:r>
            <a:r>
              <a:rPr lang="en-IN" dirty="0"/>
              <a:t> extends Bike {</a:t>
            </a:r>
          </a:p>
          <a:p>
            <a:pPr marL="0" indent="0">
              <a:buNone/>
            </a:pPr>
            <a:r>
              <a:rPr lang="en-IN" dirty="0"/>
              <a:t> void show() {</a:t>
            </a:r>
          </a:p>
          <a:p>
            <a:pPr marL="0" indent="0">
              <a:buNone/>
            </a:pPr>
            <a:r>
              <a:rPr lang="en-IN" dirty="0"/>
              <a:t>        </a:t>
            </a:r>
            <a:r>
              <a:rPr lang="en-IN" dirty="0" err="1"/>
              <a:t>System.out.println</a:t>
            </a:r>
            <a:r>
              <a:rPr lang="en-IN" dirty="0"/>
              <a:t>("This is an Electric Bike");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2838417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2BC1A-5D9E-06DD-DB35-486E2A96D57D}"/>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7179BD33-577C-45FB-E7B3-052B87258DBC}"/>
              </a:ext>
            </a:extLst>
          </p:cNvPr>
          <p:cNvSpPr>
            <a:spLocks noGrp="1"/>
          </p:cNvSpPr>
          <p:nvPr>
            <p:ph idx="1"/>
          </p:nvPr>
        </p:nvSpPr>
        <p:spPr/>
        <p:txBody>
          <a:bodyPr>
            <a:normAutofit/>
          </a:bodyPr>
          <a:lstStyle/>
          <a:p>
            <a:pPr marL="0" indent="0">
              <a:buNone/>
            </a:pPr>
            <a:endParaRPr lang="en-IN" dirty="0"/>
          </a:p>
          <a:p>
            <a:pPr marL="0" indent="0">
              <a:buNone/>
            </a:pPr>
            <a:r>
              <a:rPr lang="en-IN" sz="1800" dirty="0"/>
              <a:t>non-sealed class Truck extends Vehicle {</a:t>
            </a:r>
          </a:p>
          <a:p>
            <a:pPr marL="0" indent="0">
              <a:buNone/>
            </a:pPr>
            <a:r>
              <a:rPr lang="en-IN" sz="1800" dirty="0"/>
              <a:t>    void show() {</a:t>
            </a:r>
          </a:p>
          <a:p>
            <a:pPr marL="0" indent="0">
              <a:buNone/>
            </a:pPr>
            <a:r>
              <a:rPr lang="en-IN" sz="1800" dirty="0"/>
              <a:t>        </a:t>
            </a:r>
            <a:r>
              <a:rPr lang="en-IN" sz="1800" dirty="0" err="1"/>
              <a:t>System.out.println</a:t>
            </a:r>
            <a:r>
              <a:rPr lang="en-IN" sz="1800" dirty="0"/>
              <a:t>("This is a Truck");</a:t>
            </a:r>
          </a:p>
          <a:p>
            <a:pPr marL="0" indent="0">
              <a:buNone/>
            </a:pPr>
            <a:r>
              <a:rPr lang="en-IN" sz="1800" dirty="0"/>
              <a:t>    }</a:t>
            </a:r>
          </a:p>
          <a:p>
            <a:pPr marL="0" indent="0">
              <a:buNone/>
            </a:pPr>
            <a:r>
              <a:rPr lang="en-IN" sz="1800" dirty="0"/>
              <a:t>}</a:t>
            </a:r>
          </a:p>
          <a:p>
            <a:pPr marL="0" indent="0">
              <a:buNone/>
            </a:pPr>
            <a:endParaRPr lang="en-IN" sz="1800" dirty="0"/>
          </a:p>
          <a:p>
            <a:pPr marL="0" indent="0">
              <a:buNone/>
            </a:pPr>
            <a:r>
              <a:rPr lang="en-IN" sz="1800" dirty="0"/>
              <a:t>public class </a:t>
            </a:r>
            <a:r>
              <a:rPr lang="en-IN" sz="1800" dirty="0" err="1"/>
              <a:t>SealedClassDemo</a:t>
            </a:r>
            <a:r>
              <a:rPr lang="en-IN" sz="1800" dirty="0"/>
              <a:t> {</a:t>
            </a:r>
          </a:p>
        </p:txBody>
      </p:sp>
      <p:sp>
        <p:nvSpPr>
          <p:cNvPr id="4" name="Content Placeholder 3">
            <a:extLst>
              <a:ext uri="{FF2B5EF4-FFF2-40B4-BE49-F238E27FC236}">
                <a16:creationId xmlns:a16="http://schemas.microsoft.com/office/drawing/2014/main" id="{68EEB653-FC74-FF6F-B638-966739C7D051}"/>
              </a:ext>
            </a:extLst>
          </p:cNvPr>
          <p:cNvSpPr>
            <a:spLocks noGrp="1"/>
          </p:cNvSpPr>
          <p:nvPr>
            <p:ph sz="half" idx="4294967295"/>
          </p:nvPr>
        </p:nvSpPr>
        <p:spPr>
          <a:xfrm>
            <a:off x="7010400" y="1825625"/>
            <a:ext cx="5181600" cy="4351338"/>
          </a:xfrm>
        </p:spPr>
        <p:txBody>
          <a:bodyPr>
            <a:normAutofit/>
          </a:bodyPr>
          <a:lstStyle/>
          <a:p>
            <a:pPr marL="0" indent="0">
              <a:buNone/>
            </a:pPr>
            <a:r>
              <a:rPr lang="en-IN" dirty="0"/>
              <a:t> </a:t>
            </a:r>
          </a:p>
        </p:txBody>
      </p:sp>
    </p:spTree>
    <p:extLst>
      <p:ext uri="{BB962C8B-B14F-4D97-AF65-F5344CB8AC3E}">
        <p14:creationId xmlns:p14="http://schemas.microsoft.com/office/powerpoint/2010/main" val="22102049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C58FA-03FD-D652-1CAB-6D7E2D56ACE5}"/>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87A890F-46A3-D5B2-194C-7214CD26E221}"/>
              </a:ext>
            </a:extLst>
          </p:cNvPr>
          <p:cNvSpPr>
            <a:spLocks noGrp="1"/>
          </p:cNvSpPr>
          <p:nvPr>
            <p:ph idx="1"/>
          </p:nvPr>
        </p:nvSpPr>
        <p:spPr/>
        <p:txBody>
          <a:bodyPr>
            <a:normAutofit fontScale="62500" lnSpcReduction="20000"/>
          </a:bodyPr>
          <a:lstStyle/>
          <a:p>
            <a:pPr marL="0" indent="0">
              <a:buNone/>
            </a:pPr>
            <a:r>
              <a:rPr lang="en-IN" dirty="0"/>
              <a:t>public static void main(String[] </a:t>
            </a:r>
            <a:r>
              <a:rPr lang="en-IN" dirty="0" err="1"/>
              <a:t>args</a:t>
            </a:r>
            <a:r>
              <a:rPr lang="en-IN" dirty="0"/>
              <a:t>) {</a:t>
            </a:r>
          </a:p>
          <a:p>
            <a:pPr marL="0" indent="0">
              <a:buNone/>
            </a:pPr>
            <a:endParaRPr lang="en-IN" dirty="0"/>
          </a:p>
          <a:p>
            <a:pPr marL="0" indent="0">
              <a:buNone/>
            </a:pPr>
            <a:r>
              <a:rPr lang="en-IN" dirty="0"/>
              <a:t>        Vehicle v1 = new Car();</a:t>
            </a:r>
          </a:p>
          <a:p>
            <a:pPr marL="0" indent="0">
              <a:buNone/>
            </a:pPr>
            <a:r>
              <a:rPr lang="en-IN" dirty="0"/>
              <a:t>        Vehicle v2 = new </a:t>
            </a:r>
            <a:r>
              <a:rPr lang="en-IN" dirty="0" err="1"/>
              <a:t>SportsBike</a:t>
            </a:r>
            <a:r>
              <a:rPr lang="en-IN" dirty="0"/>
              <a:t>();</a:t>
            </a:r>
          </a:p>
          <a:p>
            <a:pPr marL="0" indent="0">
              <a:buNone/>
            </a:pPr>
            <a:r>
              <a:rPr lang="en-IN" dirty="0"/>
              <a:t>        Vehicle v3 = new </a:t>
            </a:r>
            <a:r>
              <a:rPr lang="en-IN" dirty="0" err="1"/>
              <a:t>ElectricBike</a:t>
            </a:r>
            <a:r>
              <a:rPr lang="en-IN" dirty="0"/>
              <a:t>();</a:t>
            </a:r>
          </a:p>
          <a:p>
            <a:pPr marL="0" indent="0">
              <a:buNone/>
            </a:pPr>
            <a:r>
              <a:rPr lang="en-IN" dirty="0"/>
              <a:t>        Vehicle v4 = new Truck();</a:t>
            </a:r>
          </a:p>
          <a:p>
            <a:pPr marL="0" indent="0">
              <a:buNone/>
            </a:pPr>
            <a:endParaRPr lang="en-IN" dirty="0"/>
          </a:p>
          <a:p>
            <a:pPr marL="0" indent="0">
              <a:buNone/>
            </a:pPr>
            <a:r>
              <a:rPr lang="en-IN" dirty="0"/>
              <a:t>        v1.show();</a:t>
            </a:r>
          </a:p>
          <a:p>
            <a:pPr marL="0" indent="0">
              <a:buNone/>
            </a:pPr>
            <a:r>
              <a:rPr lang="en-IN" dirty="0"/>
              <a:t>        v2.show();</a:t>
            </a:r>
          </a:p>
          <a:p>
            <a:pPr marL="0" indent="0">
              <a:buNone/>
            </a:pPr>
            <a:r>
              <a:rPr lang="en-IN" dirty="0"/>
              <a:t>        v3.show();</a:t>
            </a:r>
          </a:p>
          <a:p>
            <a:pPr marL="0" indent="0">
              <a:buNone/>
            </a:pPr>
            <a:r>
              <a:rPr lang="en-IN" dirty="0"/>
              <a:t>        v4.show();</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1686226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8030-CB33-DCBC-5531-8B6A70BDEDFF}"/>
              </a:ext>
            </a:extLst>
          </p:cNvPr>
          <p:cNvSpPr>
            <a:spLocks noGrp="1"/>
          </p:cNvSpPr>
          <p:nvPr>
            <p:ph type="title"/>
          </p:nvPr>
        </p:nvSpPr>
        <p:spPr/>
        <p:txBody>
          <a:bodyPr/>
          <a:lstStyle/>
          <a:p>
            <a:r>
              <a:rPr lang="en-IN" dirty="0"/>
              <a:t>Practice </a:t>
            </a:r>
            <a:r>
              <a:rPr lang="en-IN" dirty="0" err="1"/>
              <a:t>Ques</a:t>
            </a:r>
            <a:r>
              <a:rPr lang="en-IN" dirty="0"/>
              <a:t>….</a:t>
            </a:r>
          </a:p>
        </p:txBody>
      </p:sp>
      <p:sp>
        <p:nvSpPr>
          <p:cNvPr id="3" name="Content Placeholder 2">
            <a:extLst>
              <a:ext uri="{FF2B5EF4-FFF2-40B4-BE49-F238E27FC236}">
                <a16:creationId xmlns:a16="http://schemas.microsoft.com/office/drawing/2014/main" id="{F963CC1F-4C87-A592-B5E8-547E5DB121DB}"/>
              </a:ext>
            </a:extLst>
          </p:cNvPr>
          <p:cNvSpPr>
            <a:spLocks noGrp="1"/>
          </p:cNvSpPr>
          <p:nvPr>
            <p:ph idx="1"/>
          </p:nvPr>
        </p:nvSpPr>
        <p:spPr/>
        <p:txBody>
          <a:bodyPr/>
          <a:lstStyle/>
          <a:p>
            <a:pPr marL="0" indent="0">
              <a:buNone/>
            </a:pPr>
            <a:r>
              <a:rPr lang="en-US" b="1" dirty="0"/>
              <a:t>1. Write a program using switch expression to return the day type (Weekday/Weekend).</a:t>
            </a:r>
          </a:p>
          <a:p>
            <a:r>
              <a:rPr lang="en-US" b="1" dirty="0"/>
              <a:t>Expected Output</a:t>
            </a:r>
          </a:p>
          <a:p>
            <a:r>
              <a:rPr lang="en-US" dirty="0"/>
              <a:t>Enter day number → </a:t>
            </a:r>
            <a:r>
              <a:rPr lang="en-US" b="1" dirty="0"/>
              <a:t>6</a:t>
            </a:r>
            <a:br>
              <a:rPr lang="en-US" dirty="0"/>
            </a:br>
            <a:r>
              <a:rPr lang="en-US" dirty="0"/>
              <a:t>Output → </a:t>
            </a:r>
            <a:r>
              <a:rPr lang="en-US" b="1" dirty="0"/>
              <a:t>Weekend</a:t>
            </a:r>
            <a:endParaRPr lang="en-US" dirty="0"/>
          </a:p>
          <a:p>
            <a:pPr marL="0" indent="0">
              <a:buNone/>
            </a:pPr>
            <a:r>
              <a:rPr lang="en-US" dirty="0"/>
              <a:t>2. Program using switch expression with yield to return month name.</a:t>
            </a:r>
          </a:p>
          <a:p>
            <a:pPr marL="0" indent="0">
              <a:buNone/>
            </a:pPr>
            <a:endParaRPr lang="en-IN" dirty="0"/>
          </a:p>
        </p:txBody>
      </p:sp>
    </p:spTree>
    <p:extLst>
      <p:ext uri="{BB962C8B-B14F-4D97-AF65-F5344CB8AC3E}">
        <p14:creationId xmlns:p14="http://schemas.microsoft.com/office/powerpoint/2010/main" val="42472378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29276-FC55-53A5-5183-03C92F4FF8D6}"/>
              </a:ext>
            </a:extLst>
          </p:cNvPr>
          <p:cNvSpPr>
            <a:spLocks noGrp="1"/>
          </p:cNvSpPr>
          <p:nvPr>
            <p:ph type="title"/>
          </p:nvPr>
        </p:nvSpPr>
        <p:spPr/>
        <p:txBody>
          <a:bodyPr/>
          <a:lstStyle/>
          <a:p>
            <a:r>
              <a:rPr lang="en-IN" dirty="0"/>
              <a:t>Records</a:t>
            </a:r>
          </a:p>
        </p:txBody>
      </p:sp>
      <p:sp>
        <p:nvSpPr>
          <p:cNvPr id="3" name="Content Placeholder 2">
            <a:extLst>
              <a:ext uri="{FF2B5EF4-FFF2-40B4-BE49-F238E27FC236}">
                <a16:creationId xmlns:a16="http://schemas.microsoft.com/office/drawing/2014/main" id="{355D2E30-7CC9-81D1-9B5F-A5F8961B1DE9}"/>
              </a:ext>
            </a:extLst>
          </p:cNvPr>
          <p:cNvSpPr>
            <a:spLocks noGrp="1"/>
          </p:cNvSpPr>
          <p:nvPr>
            <p:ph idx="1"/>
          </p:nvPr>
        </p:nvSpPr>
        <p:spPr/>
        <p:txBody>
          <a:bodyPr>
            <a:normAutofit fontScale="92500" lnSpcReduction="20000"/>
          </a:bodyPr>
          <a:lstStyle/>
          <a:p>
            <a:pPr marL="0" indent="0">
              <a:buNone/>
            </a:pPr>
            <a:r>
              <a:rPr lang="en-IN" dirty="0"/>
              <a:t>Records were introduced as a preview in Java 14 and became a standard feature in Java 16. </a:t>
            </a:r>
          </a:p>
          <a:p>
            <a:pPr marL="0" indent="0">
              <a:buNone/>
            </a:pPr>
            <a:r>
              <a:rPr lang="en-US" dirty="0"/>
              <a:t>They provide a </a:t>
            </a:r>
            <a:r>
              <a:rPr lang="en-US" b="1" dirty="0"/>
              <a:t>compact way to create immutable data classes</a:t>
            </a:r>
            <a:r>
              <a:rPr lang="en-US" dirty="0"/>
              <a:t>—classes that only store data.</a:t>
            </a:r>
          </a:p>
          <a:p>
            <a:pPr marL="0" indent="0">
              <a:buNone/>
            </a:pPr>
            <a:r>
              <a:rPr lang="en-US" dirty="0"/>
              <a:t>A </a:t>
            </a:r>
            <a:r>
              <a:rPr lang="en-US" b="1" dirty="0"/>
              <a:t>record</a:t>
            </a:r>
            <a:r>
              <a:rPr lang="en-US" dirty="0"/>
              <a:t> is a special kind of Java class designed to hold immutable data.</a:t>
            </a:r>
            <a:br>
              <a:rPr lang="en-US" dirty="0"/>
            </a:br>
            <a:r>
              <a:rPr lang="en-US" dirty="0"/>
              <a:t>It </a:t>
            </a:r>
            <a:r>
              <a:rPr lang="en-US" b="1" dirty="0"/>
              <a:t>automatically provides</a:t>
            </a:r>
            <a:r>
              <a:rPr lang="en-US" dirty="0"/>
              <a:t>:</a:t>
            </a:r>
          </a:p>
          <a:p>
            <a:r>
              <a:rPr lang="en-US" dirty="0"/>
              <a:t>Constructor</a:t>
            </a:r>
          </a:p>
          <a:p>
            <a:r>
              <a:rPr lang="en-US" dirty="0" err="1"/>
              <a:t>toString</a:t>
            </a:r>
            <a:r>
              <a:rPr lang="en-US" dirty="0"/>
              <a:t>()</a:t>
            </a:r>
          </a:p>
          <a:p>
            <a:r>
              <a:rPr lang="en-US" dirty="0"/>
              <a:t>equals()</a:t>
            </a:r>
          </a:p>
          <a:p>
            <a:r>
              <a:rPr lang="en-US" dirty="0" err="1"/>
              <a:t>hashCode</a:t>
            </a:r>
            <a:r>
              <a:rPr lang="en-US" dirty="0"/>
              <a:t>()</a:t>
            </a:r>
          </a:p>
          <a:p>
            <a:r>
              <a:rPr lang="en-US" dirty="0"/>
              <a:t>Getters (called </a:t>
            </a:r>
            <a:r>
              <a:rPr lang="en-US" b="1" dirty="0"/>
              <a:t>accessor methods</a:t>
            </a:r>
            <a:r>
              <a:rPr lang="en-US" dirty="0"/>
              <a:t>)</a:t>
            </a:r>
          </a:p>
          <a:p>
            <a:pPr marL="0" indent="0">
              <a:buNone/>
            </a:pPr>
            <a:endParaRPr lang="en-IN" dirty="0"/>
          </a:p>
        </p:txBody>
      </p:sp>
    </p:spTree>
    <p:extLst>
      <p:ext uri="{BB962C8B-B14F-4D97-AF65-F5344CB8AC3E}">
        <p14:creationId xmlns:p14="http://schemas.microsoft.com/office/powerpoint/2010/main" val="38155707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88E70-2BEF-9948-461B-F27DB6D7981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CAAB3B-0BAC-EAA0-5762-1FCFBB578710}"/>
              </a:ext>
            </a:extLst>
          </p:cNvPr>
          <p:cNvSpPr>
            <a:spLocks noGrp="1"/>
          </p:cNvSpPr>
          <p:nvPr>
            <p:ph idx="1"/>
          </p:nvPr>
        </p:nvSpPr>
        <p:spPr/>
        <p:txBody>
          <a:bodyPr/>
          <a:lstStyle/>
          <a:p>
            <a:r>
              <a:rPr lang="en-IN" b="1" dirty="0"/>
              <a:t>Syntax of record:</a:t>
            </a:r>
            <a:endParaRPr lang="en-IN" dirty="0"/>
          </a:p>
          <a:p>
            <a:pPr marL="0" indent="0">
              <a:buNone/>
            </a:pPr>
            <a:r>
              <a:rPr lang="en-IN" dirty="0"/>
              <a:t>record </a:t>
            </a:r>
            <a:r>
              <a:rPr lang="en-IN" dirty="0" err="1"/>
              <a:t>RecordName</a:t>
            </a:r>
            <a:r>
              <a:rPr lang="en-IN" dirty="0"/>
              <a:t>(type field1, type field2) { }</a:t>
            </a:r>
          </a:p>
          <a:p>
            <a:pPr marL="0" indent="0">
              <a:buNone/>
            </a:pPr>
            <a:r>
              <a:rPr lang="en-IN" b="1" dirty="0"/>
              <a:t>Example</a:t>
            </a:r>
          </a:p>
          <a:p>
            <a:pPr marL="0" indent="0">
              <a:buNone/>
            </a:pPr>
            <a:r>
              <a:rPr lang="en-US" dirty="0"/>
              <a:t>public record Student(int id, String name, double marks) { }</a:t>
            </a:r>
          </a:p>
          <a:p>
            <a:pPr marL="0" indent="0">
              <a:buNone/>
            </a:pPr>
            <a:r>
              <a:rPr lang="en-US" dirty="0"/>
              <a:t>approximately 40–50 lines of normal class code.</a:t>
            </a:r>
            <a:endParaRPr lang="en-IN" dirty="0"/>
          </a:p>
          <a:p>
            <a:pPr marL="0" indent="0">
              <a:buNone/>
            </a:pPr>
            <a:endParaRPr lang="en-IN" dirty="0"/>
          </a:p>
        </p:txBody>
      </p:sp>
    </p:spTree>
    <p:extLst>
      <p:ext uri="{BB962C8B-B14F-4D97-AF65-F5344CB8AC3E}">
        <p14:creationId xmlns:p14="http://schemas.microsoft.com/office/powerpoint/2010/main" val="22182188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FFF4C7-D811-464B-1CA1-89EFA1388817}"/>
              </a:ext>
            </a:extLst>
          </p:cNvPr>
          <p:cNvSpPr>
            <a:spLocks noGrp="1"/>
          </p:cNvSpPr>
          <p:nvPr>
            <p:ph type="title"/>
          </p:nvPr>
        </p:nvSpPr>
        <p:spPr>
          <a:xfrm>
            <a:off x="914400" y="374395"/>
            <a:ext cx="10515600" cy="613283"/>
          </a:xfrm>
        </p:spPr>
        <p:txBody>
          <a:bodyPr>
            <a:normAutofit fontScale="90000"/>
          </a:bodyPr>
          <a:lstStyle/>
          <a:p>
            <a:r>
              <a:rPr lang="en-IN" dirty="0"/>
              <a:t>.</a:t>
            </a:r>
          </a:p>
        </p:txBody>
      </p:sp>
      <p:sp>
        <p:nvSpPr>
          <p:cNvPr id="5" name="Content Placeholder 4">
            <a:extLst>
              <a:ext uri="{FF2B5EF4-FFF2-40B4-BE49-F238E27FC236}">
                <a16:creationId xmlns:a16="http://schemas.microsoft.com/office/drawing/2014/main" id="{0C5C6719-E4E4-5492-FE60-2E3D1FF25479}"/>
              </a:ext>
            </a:extLst>
          </p:cNvPr>
          <p:cNvSpPr>
            <a:spLocks noGrp="1"/>
          </p:cNvSpPr>
          <p:nvPr>
            <p:ph sz="half" idx="1"/>
          </p:nvPr>
        </p:nvSpPr>
        <p:spPr>
          <a:xfrm>
            <a:off x="838200" y="1188720"/>
            <a:ext cx="5181600" cy="4988243"/>
          </a:xfrm>
        </p:spPr>
        <p:txBody>
          <a:bodyPr>
            <a:normAutofit fontScale="70000" lnSpcReduction="20000"/>
          </a:bodyPr>
          <a:lstStyle/>
          <a:p>
            <a:pPr marL="0" indent="0">
              <a:buNone/>
            </a:pPr>
            <a:r>
              <a:rPr lang="en-IN" b="1" dirty="0"/>
              <a:t>Normal class (long code)</a:t>
            </a:r>
          </a:p>
          <a:p>
            <a:pPr marL="0" indent="0">
              <a:buNone/>
            </a:pPr>
            <a:endParaRPr lang="en-IN" dirty="0"/>
          </a:p>
          <a:p>
            <a:pPr marL="0" indent="0">
              <a:buNone/>
            </a:pPr>
            <a:r>
              <a:rPr lang="en-IN" dirty="0"/>
              <a:t>class Student {</a:t>
            </a:r>
          </a:p>
          <a:p>
            <a:pPr marL="0" indent="0">
              <a:buNone/>
            </a:pPr>
            <a:r>
              <a:rPr lang="en-IN" dirty="0"/>
              <a:t>    </a:t>
            </a:r>
            <a:r>
              <a:rPr lang="en-IN" b="1" dirty="0"/>
              <a:t>private final </a:t>
            </a:r>
            <a:r>
              <a:rPr lang="en-IN" dirty="0"/>
              <a:t>int id;</a:t>
            </a:r>
          </a:p>
          <a:p>
            <a:pPr marL="0" indent="0">
              <a:buNone/>
            </a:pPr>
            <a:r>
              <a:rPr lang="en-IN" b="1" dirty="0"/>
              <a:t>    private final </a:t>
            </a:r>
            <a:r>
              <a:rPr lang="en-IN" dirty="0"/>
              <a:t>String name;</a:t>
            </a:r>
          </a:p>
          <a:p>
            <a:pPr marL="0" indent="0">
              <a:buNone/>
            </a:pPr>
            <a:endParaRPr lang="en-IN" dirty="0"/>
          </a:p>
          <a:p>
            <a:pPr marL="0" indent="0">
              <a:buNone/>
            </a:pPr>
            <a:r>
              <a:rPr lang="en-IN" dirty="0"/>
              <a:t>    Student(int id, String name) {</a:t>
            </a:r>
          </a:p>
          <a:p>
            <a:pPr marL="0" indent="0">
              <a:buNone/>
            </a:pPr>
            <a:r>
              <a:rPr lang="en-IN" dirty="0"/>
              <a:t>        this.id = id;</a:t>
            </a:r>
          </a:p>
          <a:p>
            <a:pPr marL="0" indent="0">
              <a:buNone/>
            </a:pPr>
            <a:r>
              <a:rPr lang="en-IN" dirty="0"/>
              <a:t>        this.name = name;</a:t>
            </a:r>
          </a:p>
          <a:p>
            <a:pPr marL="0" indent="0">
              <a:buNone/>
            </a:pPr>
            <a:r>
              <a:rPr lang="en-IN" dirty="0"/>
              <a:t>    }</a:t>
            </a:r>
          </a:p>
          <a:p>
            <a:pPr marL="0" indent="0">
              <a:buNone/>
            </a:pPr>
            <a:endParaRPr lang="en-IN" dirty="0"/>
          </a:p>
          <a:p>
            <a:pPr marL="0" indent="0">
              <a:buNone/>
            </a:pPr>
            <a:r>
              <a:rPr lang="en-IN" dirty="0"/>
              <a:t>    public int id() { return id; }</a:t>
            </a:r>
          </a:p>
          <a:p>
            <a:pPr marL="0" indent="0">
              <a:buNone/>
            </a:pPr>
            <a:r>
              <a:rPr lang="en-IN" dirty="0"/>
              <a:t>    public String name() { return name; }</a:t>
            </a:r>
          </a:p>
          <a:p>
            <a:pPr marL="0" indent="0">
              <a:buNone/>
            </a:pPr>
            <a:r>
              <a:rPr lang="en-IN" dirty="0"/>
              <a:t>}</a:t>
            </a:r>
          </a:p>
        </p:txBody>
      </p:sp>
      <p:sp>
        <p:nvSpPr>
          <p:cNvPr id="6" name="Content Placeholder 5">
            <a:extLst>
              <a:ext uri="{FF2B5EF4-FFF2-40B4-BE49-F238E27FC236}">
                <a16:creationId xmlns:a16="http://schemas.microsoft.com/office/drawing/2014/main" id="{16E0F1FF-DE31-57A3-4B1C-3C70609CBE65}"/>
              </a:ext>
            </a:extLst>
          </p:cNvPr>
          <p:cNvSpPr>
            <a:spLocks noGrp="1"/>
          </p:cNvSpPr>
          <p:nvPr>
            <p:ph sz="half" idx="2"/>
          </p:nvPr>
        </p:nvSpPr>
        <p:spPr/>
        <p:txBody>
          <a:bodyPr>
            <a:normAutofit fontScale="70000" lnSpcReduction="20000"/>
          </a:bodyPr>
          <a:lstStyle/>
          <a:p>
            <a:pPr marL="0" indent="0">
              <a:buNone/>
            </a:pPr>
            <a:r>
              <a:rPr lang="en-IN" b="1" dirty="0"/>
              <a:t>Record (1 line)</a:t>
            </a:r>
          </a:p>
          <a:p>
            <a:pPr marL="0" indent="0">
              <a:buNone/>
            </a:pPr>
            <a:endParaRPr lang="en-IN" dirty="0"/>
          </a:p>
          <a:p>
            <a:pPr marL="0" indent="0">
              <a:buNone/>
            </a:pPr>
            <a:r>
              <a:rPr lang="en-IN" dirty="0"/>
              <a:t>record Student(int id, String name) {}</a:t>
            </a:r>
          </a:p>
        </p:txBody>
      </p:sp>
    </p:spTree>
    <p:extLst>
      <p:ext uri="{BB962C8B-B14F-4D97-AF65-F5344CB8AC3E}">
        <p14:creationId xmlns:p14="http://schemas.microsoft.com/office/powerpoint/2010/main" val="21761348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BB3E00-0C83-53C7-054B-FAD3D1D3906D}"/>
              </a:ext>
            </a:extLst>
          </p:cNvPr>
          <p:cNvSpPr>
            <a:spLocks noGrp="1"/>
          </p:cNvSpPr>
          <p:nvPr>
            <p:ph type="title"/>
          </p:nvPr>
        </p:nvSpPr>
        <p:spPr/>
        <p:txBody>
          <a:bodyPr>
            <a:normAutofit/>
          </a:bodyPr>
          <a:lstStyle/>
          <a:p>
            <a:r>
              <a:rPr lang="en-IN" dirty="0"/>
              <a:t>Examples</a:t>
            </a:r>
          </a:p>
        </p:txBody>
      </p:sp>
      <p:sp>
        <p:nvSpPr>
          <p:cNvPr id="6" name="Content Placeholder 5">
            <a:extLst>
              <a:ext uri="{FF2B5EF4-FFF2-40B4-BE49-F238E27FC236}">
                <a16:creationId xmlns:a16="http://schemas.microsoft.com/office/drawing/2014/main" id="{57EC0970-0B4C-4AFD-69F8-462C92EF4B17}"/>
              </a:ext>
            </a:extLst>
          </p:cNvPr>
          <p:cNvSpPr>
            <a:spLocks noGrp="1"/>
          </p:cNvSpPr>
          <p:nvPr>
            <p:ph sz="half" idx="1"/>
          </p:nvPr>
        </p:nvSpPr>
        <p:spPr/>
        <p:txBody>
          <a:bodyPr>
            <a:normAutofit fontScale="55000" lnSpcReduction="20000"/>
          </a:bodyPr>
          <a:lstStyle/>
          <a:p>
            <a:pPr marL="0" indent="0">
              <a:buNone/>
            </a:pPr>
            <a:r>
              <a:rPr lang="en-IN" b="1" dirty="0"/>
              <a:t>Example 1</a:t>
            </a:r>
          </a:p>
          <a:p>
            <a:pPr marL="0" indent="0">
              <a:buNone/>
            </a:pPr>
            <a:r>
              <a:rPr lang="en-IN" dirty="0"/>
              <a:t>record Student(int id, String name)</a:t>
            </a:r>
          </a:p>
          <a:p>
            <a:pPr marL="0" indent="0">
              <a:buNone/>
            </a:pPr>
            <a:r>
              <a:rPr lang="en-IN" dirty="0"/>
              <a:t> { </a:t>
            </a:r>
          </a:p>
          <a:p>
            <a:pPr marL="0" indent="0">
              <a:buNone/>
            </a:pPr>
            <a:r>
              <a:rPr lang="en-IN" dirty="0"/>
              <a:t>}</a:t>
            </a:r>
          </a:p>
          <a:p>
            <a:pPr marL="0" indent="0">
              <a:buNone/>
            </a:pPr>
            <a:r>
              <a:rPr lang="en-IN" dirty="0"/>
              <a:t> </a:t>
            </a:r>
          </a:p>
          <a:p>
            <a:pPr marL="0" indent="0">
              <a:buNone/>
            </a:pPr>
            <a:r>
              <a:rPr lang="en-IN" dirty="0"/>
              <a:t>class Test {</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Student s = new Student(101, "Amit");</a:t>
            </a:r>
          </a:p>
          <a:p>
            <a:pPr marL="0" indent="0">
              <a:buNone/>
            </a:pPr>
            <a:r>
              <a:rPr lang="en-IN" dirty="0"/>
              <a:t> </a:t>
            </a:r>
          </a:p>
          <a:p>
            <a:pPr marL="0" indent="0">
              <a:buNone/>
            </a:pPr>
            <a:r>
              <a:rPr lang="en-IN" dirty="0"/>
              <a:t>        </a:t>
            </a:r>
            <a:r>
              <a:rPr lang="en-IN" dirty="0" err="1"/>
              <a:t>System.out.println</a:t>
            </a:r>
            <a:r>
              <a:rPr lang="en-IN" dirty="0"/>
              <a:t>(s.id());</a:t>
            </a:r>
          </a:p>
          <a:p>
            <a:pPr marL="0" indent="0">
              <a:buNone/>
            </a:pPr>
            <a:r>
              <a:rPr lang="en-IN" dirty="0"/>
              <a:t>        </a:t>
            </a:r>
            <a:r>
              <a:rPr lang="en-IN" dirty="0" err="1"/>
              <a:t>System.out.println</a:t>
            </a:r>
            <a:r>
              <a:rPr lang="en-IN" dirty="0"/>
              <a:t>(s.name());</a:t>
            </a:r>
          </a:p>
          <a:p>
            <a:pPr marL="0" indent="0">
              <a:buNone/>
            </a:pPr>
            <a:r>
              <a:rPr lang="en-IN" dirty="0"/>
              <a:t>        </a:t>
            </a:r>
            <a:r>
              <a:rPr lang="en-IN" dirty="0" err="1"/>
              <a:t>System.out.println</a:t>
            </a:r>
            <a:r>
              <a:rPr lang="en-IN" dirty="0"/>
              <a:t>(s);  // auto </a:t>
            </a:r>
            <a:r>
              <a:rPr lang="en-IN" dirty="0" err="1"/>
              <a:t>tostring</a:t>
            </a:r>
            <a:r>
              <a:rPr lang="en-IN" dirty="0"/>
              <a:t>( )</a:t>
            </a:r>
          </a:p>
          <a:p>
            <a:pPr marL="0" indent="0">
              <a:buNone/>
            </a:pPr>
            <a:r>
              <a:rPr lang="en-IN" dirty="0"/>
              <a:t>    }</a:t>
            </a:r>
          </a:p>
          <a:p>
            <a:pPr marL="0" indent="0">
              <a:buNone/>
            </a:pPr>
            <a:r>
              <a:rPr lang="en-IN" dirty="0"/>
              <a:t>}</a:t>
            </a:r>
          </a:p>
          <a:p>
            <a:pPr marL="0" indent="0">
              <a:buNone/>
            </a:pPr>
            <a:endParaRPr lang="en-IN" dirty="0"/>
          </a:p>
        </p:txBody>
      </p:sp>
      <p:sp>
        <p:nvSpPr>
          <p:cNvPr id="7" name="Content Placeholder 6">
            <a:extLst>
              <a:ext uri="{FF2B5EF4-FFF2-40B4-BE49-F238E27FC236}">
                <a16:creationId xmlns:a16="http://schemas.microsoft.com/office/drawing/2014/main" id="{DFD8380D-ED6A-B0B9-8D63-5FDCF1F91D38}"/>
              </a:ext>
            </a:extLst>
          </p:cNvPr>
          <p:cNvSpPr>
            <a:spLocks noGrp="1"/>
          </p:cNvSpPr>
          <p:nvPr>
            <p:ph sz="half" idx="2"/>
          </p:nvPr>
        </p:nvSpPr>
        <p:spPr/>
        <p:txBody>
          <a:bodyPr>
            <a:normAutofit fontScale="55000" lnSpcReduction="20000"/>
          </a:bodyPr>
          <a:lstStyle/>
          <a:p>
            <a:pPr marL="0" indent="0">
              <a:buNone/>
            </a:pPr>
            <a:r>
              <a:rPr lang="en-IN" b="1" dirty="0"/>
              <a:t>Example 2</a:t>
            </a:r>
          </a:p>
          <a:p>
            <a:pPr marL="0" indent="0">
              <a:buNone/>
            </a:pPr>
            <a:r>
              <a:rPr lang="en-IN" dirty="0"/>
              <a:t>record Student(int id, String name) {}</a:t>
            </a:r>
          </a:p>
          <a:p>
            <a:pPr marL="0" indent="0">
              <a:buNone/>
            </a:pPr>
            <a:endParaRPr lang="en-IN" dirty="0"/>
          </a:p>
          <a:p>
            <a:pPr marL="0" indent="0">
              <a:buNone/>
            </a:pPr>
            <a:r>
              <a:rPr lang="en-IN" dirty="0"/>
              <a:t>public class Demo {</a:t>
            </a:r>
          </a:p>
          <a:p>
            <a:pPr marL="0" indent="0">
              <a:buNone/>
            </a:pPr>
            <a:r>
              <a:rPr lang="en-IN" dirty="0"/>
              <a:t>    public static void main(String[] </a:t>
            </a:r>
            <a:r>
              <a:rPr lang="en-IN" dirty="0" err="1"/>
              <a:t>args</a:t>
            </a:r>
            <a:r>
              <a:rPr lang="en-IN" dirty="0"/>
              <a:t>) {</a:t>
            </a:r>
          </a:p>
          <a:p>
            <a:pPr marL="0" indent="0">
              <a:buNone/>
            </a:pPr>
            <a:r>
              <a:rPr lang="en-IN" dirty="0"/>
              <a:t>        Student s = new Student(101, "Sonam", 89.5);</a:t>
            </a:r>
          </a:p>
          <a:p>
            <a:pPr marL="0" indent="0">
              <a:buNone/>
            </a:pPr>
            <a:endParaRPr lang="en-IN" dirty="0"/>
          </a:p>
          <a:p>
            <a:pPr marL="0" indent="0">
              <a:buNone/>
            </a:pPr>
            <a:r>
              <a:rPr lang="en-IN" dirty="0"/>
              <a:t>        </a:t>
            </a:r>
            <a:r>
              <a:rPr lang="en-IN" dirty="0" err="1"/>
              <a:t>System.out.println</a:t>
            </a:r>
            <a:r>
              <a:rPr lang="en-IN" dirty="0"/>
              <a:t>(s.id());</a:t>
            </a:r>
          </a:p>
          <a:p>
            <a:pPr marL="0" indent="0">
              <a:buNone/>
            </a:pPr>
            <a:r>
              <a:rPr lang="en-IN" dirty="0"/>
              <a:t>        </a:t>
            </a:r>
            <a:r>
              <a:rPr lang="en-IN" dirty="0" err="1"/>
              <a:t>System.out.println</a:t>
            </a:r>
            <a:r>
              <a:rPr lang="en-IN" dirty="0"/>
              <a:t>(s.name());</a:t>
            </a:r>
          </a:p>
          <a:p>
            <a:pPr marL="0" indent="0">
              <a:buNone/>
            </a:pPr>
            <a:r>
              <a:rPr lang="en-IN" dirty="0"/>
              <a:t>        </a:t>
            </a:r>
            <a:r>
              <a:rPr lang="en-IN" dirty="0" err="1"/>
              <a:t>System.out.println</a:t>
            </a:r>
            <a:r>
              <a:rPr lang="en-IN" dirty="0"/>
              <a:t>(</a:t>
            </a:r>
            <a:r>
              <a:rPr lang="en-IN" dirty="0" err="1"/>
              <a:t>s.marks</a:t>
            </a:r>
            <a:r>
              <a:rPr lang="en-IN" dirty="0"/>
              <a:t>());</a:t>
            </a:r>
          </a:p>
          <a:p>
            <a:pPr marL="0" indent="0">
              <a:buNone/>
            </a:pPr>
            <a:r>
              <a:rPr lang="en-IN" dirty="0"/>
              <a:t>        </a:t>
            </a:r>
            <a:r>
              <a:rPr lang="en-IN" dirty="0" err="1"/>
              <a:t>System.out.println</a:t>
            </a:r>
            <a:r>
              <a:rPr lang="en-IN" dirty="0"/>
              <a:t>(s);     // auto </a:t>
            </a:r>
            <a:r>
              <a:rPr lang="en-IN" dirty="0" err="1"/>
              <a:t>toString</a:t>
            </a:r>
            <a:r>
              <a:rPr lang="en-IN" dirty="0"/>
              <a:t>()</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5960722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123C0-AAAA-264E-A8B8-D694681F44AE}"/>
              </a:ext>
            </a:extLst>
          </p:cNvPr>
          <p:cNvSpPr>
            <a:spLocks noGrp="1"/>
          </p:cNvSpPr>
          <p:nvPr>
            <p:ph type="title"/>
          </p:nvPr>
        </p:nvSpPr>
        <p:spPr/>
        <p:txBody>
          <a:bodyPr/>
          <a:lstStyle/>
          <a:p>
            <a:r>
              <a:rPr lang="en-IN" b="1" dirty="0"/>
              <a:t>Java Module system</a:t>
            </a:r>
            <a:br>
              <a:rPr lang="en-IN" dirty="0"/>
            </a:br>
            <a:endParaRPr lang="en-IN" dirty="0"/>
          </a:p>
        </p:txBody>
      </p:sp>
      <p:sp>
        <p:nvSpPr>
          <p:cNvPr id="3" name="Content Placeholder 2">
            <a:extLst>
              <a:ext uri="{FF2B5EF4-FFF2-40B4-BE49-F238E27FC236}">
                <a16:creationId xmlns:a16="http://schemas.microsoft.com/office/drawing/2014/main" id="{D691F9C9-2CA7-3D45-72EF-2F23C9C2D2DF}"/>
              </a:ext>
            </a:extLst>
          </p:cNvPr>
          <p:cNvSpPr>
            <a:spLocks noGrp="1"/>
          </p:cNvSpPr>
          <p:nvPr>
            <p:ph idx="1"/>
          </p:nvPr>
        </p:nvSpPr>
        <p:spPr/>
        <p:txBody>
          <a:bodyPr>
            <a:normAutofit fontScale="92500" lnSpcReduction="10000"/>
          </a:bodyPr>
          <a:lstStyle/>
          <a:p>
            <a:r>
              <a:rPr lang="en-IN" dirty="0"/>
              <a:t>Before Java 9, Java applications were built using JAR files and the </a:t>
            </a:r>
            <a:r>
              <a:rPr lang="en-IN" dirty="0" err="1"/>
              <a:t>classpath</a:t>
            </a:r>
            <a:r>
              <a:rPr lang="en-IN" dirty="0"/>
              <a:t>, which often led to problems such as </a:t>
            </a:r>
            <a:r>
              <a:rPr lang="en-IN" dirty="0" err="1"/>
              <a:t>classpath</a:t>
            </a:r>
            <a:r>
              <a:rPr lang="en-IN" dirty="0"/>
              <a:t> conflicts, unintended access to internal APIs, and poor dependency management.</a:t>
            </a:r>
          </a:p>
          <a:p>
            <a:r>
              <a:rPr lang="en-IN" dirty="0"/>
              <a:t>A module is a named, self-describing collection of packages. </a:t>
            </a:r>
          </a:p>
          <a:p>
            <a:pPr marL="0" indent="0">
              <a:buNone/>
            </a:pPr>
            <a:endParaRPr lang="en-IN" dirty="0"/>
          </a:p>
          <a:p>
            <a:pPr marL="0" indent="0">
              <a:buNone/>
            </a:pPr>
            <a:r>
              <a:rPr lang="en-IN" dirty="0"/>
              <a:t>A </a:t>
            </a:r>
            <a:r>
              <a:rPr lang="en-IN" b="1" dirty="0"/>
              <a:t>module</a:t>
            </a:r>
            <a:r>
              <a:rPr lang="en-IN" dirty="0"/>
              <a:t> is a collection of:</a:t>
            </a:r>
          </a:p>
          <a:p>
            <a:r>
              <a:rPr lang="en-IN" dirty="0"/>
              <a:t>Java packages</a:t>
            </a:r>
          </a:p>
          <a:p>
            <a:r>
              <a:rPr lang="en-IN" dirty="0"/>
              <a:t>Classes</a:t>
            </a:r>
          </a:p>
          <a:p>
            <a:r>
              <a:rPr lang="en-IN" dirty="0"/>
              <a:t>Interfaces</a:t>
            </a:r>
          </a:p>
          <a:p>
            <a:r>
              <a:rPr lang="en-IN" dirty="0"/>
              <a:t>Resources</a:t>
            </a:r>
          </a:p>
          <a:p>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4948315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6347-E9D8-C3EA-9149-0A481808C8E9}"/>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E70D0412-9636-59D0-7FDB-20B8F97E3210}"/>
              </a:ext>
            </a:extLst>
          </p:cNvPr>
          <p:cNvSpPr>
            <a:spLocks noGrp="1"/>
          </p:cNvSpPr>
          <p:nvPr>
            <p:ph idx="1"/>
          </p:nvPr>
        </p:nvSpPr>
        <p:spPr>
          <a:xfrm>
            <a:off x="838200" y="1005840"/>
            <a:ext cx="10515600" cy="5171123"/>
          </a:xfrm>
        </p:spPr>
        <p:txBody>
          <a:bodyPr>
            <a:normAutofit fontScale="92500" lnSpcReduction="10000"/>
          </a:bodyPr>
          <a:lstStyle/>
          <a:p>
            <a:r>
              <a:rPr lang="en-IN" dirty="0"/>
              <a:t>Each module explicitly declares which other modules it depends on and which of its packages it makes available to other modules.</a:t>
            </a:r>
          </a:p>
          <a:p>
            <a:pPr marL="0" indent="0">
              <a:buNone/>
            </a:pPr>
            <a:endParaRPr lang="en-IN" dirty="0"/>
          </a:p>
          <a:p>
            <a:r>
              <a:rPr lang="en-IN" dirty="0"/>
              <a:t>Basic structure of a module declaration:</a:t>
            </a:r>
          </a:p>
          <a:p>
            <a:pPr marL="0" indent="0">
              <a:buNone/>
            </a:pPr>
            <a:r>
              <a:rPr lang="en-IN" b="1" dirty="0"/>
              <a:t>module </a:t>
            </a:r>
            <a:r>
              <a:rPr lang="en-IN" b="1" dirty="0" err="1"/>
              <a:t>moduleName</a:t>
            </a:r>
            <a:r>
              <a:rPr lang="en-IN" b="1" dirty="0"/>
              <a:t> {</a:t>
            </a:r>
          </a:p>
          <a:p>
            <a:pPr marL="0" indent="0">
              <a:buNone/>
            </a:pPr>
            <a:r>
              <a:rPr lang="en-IN" b="1" dirty="0"/>
              <a:t>    // module directives</a:t>
            </a:r>
          </a:p>
          <a:p>
            <a:pPr marL="0" indent="0">
              <a:buNone/>
            </a:pPr>
            <a:r>
              <a:rPr lang="en-IN" b="1" dirty="0"/>
              <a:t>}</a:t>
            </a:r>
          </a:p>
          <a:p>
            <a:pPr marL="0" indent="0">
              <a:buNone/>
            </a:pPr>
            <a:endParaRPr lang="en-IN" dirty="0"/>
          </a:p>
          <a:p>
            <a:pPr marL="0" indent="0">
              <a:buNone/>
            </a:pPr>
            <a:r>
              <a:rPr lang="en-US" dirty="0">
                <a:solidFill>
                  <a:srgbClr val="FF0000"/>
                </a:solidFill>
              </a:rPr>
              <a:t>This file declares what the module </a:t>
            </a:r>
            <a:r>
              <a:rPr lang="en-US" b="1" dirty="0">
                <a:solidFill>
                  <a:srgbClr val="FF0000"/>
                </a:solidFill>
              </a:rPr>
              <a:t>exports</a:t>
            </a:r>
            <a:r>
              <a:rPr lang="en-US" dirty="0">
                <a:solidFill>
                  <a:srgbClr val="FF0000"/>
                </a:solidFill>
              </a:rPr>
              <a:t> and </a:t>
            </a:r>
            <a:r>
              <a:rPr lang="en-US" b="1" dirty="0">
                <a:solidFill>
                  <a:srgbClr val="FF0000"/>
                </a:solidFill>
              </a:rPr>
              <a:t>what it requires</a:t>
            </a:r>
            <a:r>
              <a:rPr lang="en-US" dirty="0">
                <a:solidFill>
                  <a:srgbClr val="FF0000"/>
                </a:solidFill>
              </a:rPr>
              <a:t>.</a:t>
            </a:r>
          </a:p>
          <a:p>
            <a:pPr marL="0" indent="0">
              <a:buNone/>
            </a:pPr>
            <a:endParaRPr lang="en-IN" dirty="0">
              <a:solidFill>
                <a:srgbClr val="FF0000"/>
              </a:solidFill>
            </a:endParaRPr>
          </a:p>
          <a:p>
            <a:pPr marL="0" indent="0">
              <a:buNone/>
            </a:pPr>
            <a:r>
              <a:rPr lang="en-IN" dirty="0"/>
              <a:t>To check java built in </a:t>
            </a:r>
            <a:r>
              <a:rPr lang="en-IN" dirty="0" err="1"/>
              <a:t>moduls</a:t>
            </a:r>
            <a:r>
              <a:rPr lang="en-IN" dirty="0"/>
              <a:t> </a:t>
            </a:r>
          </a:p>
          <a:p>
            <a:pPr marL="0" indent="0">
              <a:buNone/>
            </a:pPr>
            <a:r>
              <a:rPr lang="en-IN" dirty="0"/>
              <a:t>Run this commands on CMD </a:t>
            </a:r>
            <a:r>
              <a:rPr lang="en-IN" b="1" dirty="0"/>
              <a:t>Java—list-models</a:t>
            </a:r>
          </a:p>
          <a:p>
            <a:pPr marL="0" indent="0">
              <a:buNone/>
            </a:pPr>
            <a:endParaRPr lang="en-IN" dirty="0"/>
          </a:p>
        </p:txBody>
      </p:sp>
    </p:spTree>
    <p:extLst>
      <p:ext uri="{BB962C8B-B14F-4D97-AF65-F5344CB8AC3E}">
        <p14:creationId xmlns:p14="http://schemas.microsoft.com/office/powerpoint/2010/main" val="26377438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49398-486B-4C9B-BBB3-4260A7A09A64}"/>
              </a:ext>
            </a:extLst>
          </p:cNvPr>
          <p:cNvSpPr>
            <a:spLocks noGrp="1"/>
          </p:cNvSpPr>
          <p:nvPr>
            <p:ph type="title"/>
          </p:nvPr>
        </p:nvSpPr>
        <p:spPr/>
        <p:txBody>
          <a:bodyPr/>
          <a:lstStyle/>
          <a:p>
            <a:r>
              <a:rPr lang="en-US" dirty="0"/>
              <a:t>Why Was the Module System Introduced?</a:t>
            </a:r>
            <a:endParaRPr lang="en-IN" dirty="0"/>
          </a:p>
        </p:txBody>
      </p:sp>
      <p:sp>
        <p:nvSpPr>
          <p:cNvPr id="3" name="Content Placeholder 2">
            <a:extLst>
              <a:ext uri="{FF2B5EF4-FFF2-40B4-BE49-F238E27FC236}">
                <a16:creationId xmlns:a16="http://schemas.microsoft.com/office/drawing/2014/main" id="{93E73ED5-FD14-8DD0-4600-4CB67D404B98}"/>
              </a:ext>
            </a:extLst>
          </p:cNvPr>
          <p:cNvSpPr>
            <a:spLocks noGrp="1"/>
          </p:cNvSpPr>
          <p:nvPr>
            <p:ph sz="half" idx="1"/>
          </p:nvPr>
        </p:nvSpPr>
        <p:spPr/>
        <p:txBody>
          <a:bodyPr/>
          <a:lstStyle/>
          <a:p>
            <a:pPr marL="0" indent="0">
              <a:buNone/>
            </a:pPr>
            <a:r>
              <a:rPr lang="en-US" b="1" dirty="0"/>
              <a:t>Problems Before Modules:</a:t>
            </a:r>
          </a:p>
          <a:p>
            <a:r>
              <a:rPr lang="en-US" dirty="0"/>
              <a:t>No strong encapsulation</a:t>
            </a:r>
          </a:p>
          <a:p>
            <a:r>
              <a:rPr lang="en-US" dirty="0" err="1"/>
              <a:t>Classpath</a:t>
            </a:r>
            <a:r>
              <a:rPr lang="en-US" dirty="0"/>
              <a:t> chaos ("</a:t>
            </a:r>
            <a:r>
              <a:rPr lang="en-US" dirty="0" err="1"/>
              <a:t>classpath</a:t>
            </a:r>
            <a:r>
              <a:rPr lang="en-US" dirty="0"/>
              <a:t> hell")</a:t>
            </a:r>
          </a:p>
          <a:p>
            <a:r>
              <a:rPr lang="en-US" dirty="0"/>
              <a:t>Difficult to create scalable large applications</a:t>
            </a:r>
          </a:p>
          <a:p>
            <a:r>
              <a:rPr lang="en-US" dirty="0"/>
              <a:t>Hard to hide internal classes</a:t>
            </a:r>
          </a:p>
          <a:p>
            <a:pPr marL="0" indent="0">
              <a:buNone/>
            </a:pPr>
            <a:endParaRPr lang="en-IN" dirty="0"/>
          </a:p>
        </p:txBody>
      </p:sp>
      <p:sp>
        <p:nvSpPr>
          <p:cNvPr id="4" name="Content Placeholder 3">
            <a:extLst>
              <a:ext uri="{FF2B5EF4-FFF2-40B4-BE49-F238E27FC236}">
                <a16:creationId xmlns:a16="http://schemas.microsoft.com/office/drawing/2014/main" id="{1E123A10-C917-0FF3-5C85-BCFE218F043B}"/>
              </a:ext>
            </a:extLst>
          </p:cNvPr>
          <p:cNvSpPr>
            <a:spLocks noGrp="1"/>
          </p:cNvSpPr>
          <p:nvPr>
            <p:ph sz="half" idx="2"/>
          </p:nvPr>
        </p:nvSpPr>
        <p:spPr/>
        <p:txBody>
          <a:bodyPr/>
          <a:lstStyle/>
          <a:p>
            <a:pPr marL="0" indent="0">
              <a:buNone/>
            </a:pPr>
            <a:r>
              <a:rPr lang="en-IN" b="1" dirty="0"/>
              <a:t>Solutions by Module System:</a:t>
            </a:r>
          </a:p>
          <a:p>
            <a:r>
              <a:rPr lang="en-IN" dirty="0"/>
              <a:t>Strong encapsulation</a:t>
            </a:r>
          </a:p>
          <a:p>
            <a:r>
              <a:rPr lang="en-IN" dirty="0"/>
              <a:t>Reliable configuration</a:t>
            </a:r>
          </a:p>
          <a:p>
            <a:r>
              <a:rPr lang="en-IN" dirty="0"/>
              <a:t>Better security &amp; maintainability</a:t>
            </a:r>
          </a:p>
        </p:txBody>
      </p:sp>
    </p:spTree>
    <p:extLst>
      <p:ext uri="{BB962C8B-B14F-4D97-AF65-F5344CB8AC3E}">
        <p14:creationId xmlns:p14="http://schemas.microsoft.com/office/powerpoint/2010/main" val="5126514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6261525-1FE0-AE2B-A30E-B06E5A1204F9}"/>
              </a:ext>
            </a:extLst>
          </p:cNvPr>
          <p:cNvSpPr>
            <a:spLocks noGrp="1"/>
          </p:cNvSpPr>
          <p:nvPr>
            <p:ph type="title"/>
          </p:nvPr>
        </p:nvSpPr>
        <p:spPr/>
        <p:txBody>
          <a:bodyPr/>
          <a:lstStyle/>
          <a:p>
            <a:r>
              <a:rPr lang="en-IN" b="1" dirty="0"/>
              <a:t>module-info.java</a:t>
            </a:r>
          </a:p>
        </p:txBody>
      </p:sp>
      <p:sp>
        <p:nvSpPr>
          <p:cNvPr id="6" name="Content Placeholder 5">
            <a:extLst>
              <a:ext uri="{FF2B5EF4-FFF2-40B4-BE49-F238E27FC236}">
                <a16:creationId xmlns:a16="http://schemas.microsoft.com/office/drawing/2014/main" id="{ADB64889-0670-B9D7-91F2-293142577388}"/>
              </a:ext>
            </a:extLst>
          </p:cNvPr>
          <p:cNvSpPr>
            <a:spLocks noGrp="1"/>
          </p:cNvSpPr>
          <p:nvPr>
            <p:ph idx="1"/>
          </p:nvPr>
        </p:nvSpPr>
        <p:spPr/>
        <p:txBody>
          <a:bodyPr/>
          <a:lstStyle/>
          <a:p>
            <a:pPr marL="0" indent="0">
              <a:buNone/>
            </a:pPr>
            <a:r>
              <a:rPr lang="en-US" dirty="0"/>
              <a:t>The module descriptor contains keywords:</a:t>
            </a:r>
          </a:p>
          <a:p>
            <a:pPr marL="514350" indent="-514350">
              <a:buFont typeface="+mj-lt"/>
              <a:buAutoNum type="arabicPeriod"/>
            </a:pPr>
            <a:r>
              <a:rPr lang="en-IN" b="1" dirty="0"/>
              <a:t>Module</a:t>
            </a:r>
          </a:p>
          <a:p>
            <a:pPr marL="0" indent="0">
              <a:buNone/>
            </a:pPr>
            <a:r>
              <a:rPr lang="en-US" dirty="0"/>
              <a:t>Declares module name.</a:t>
            </a:r>
          </a:p>
          <a:p>
            <a:pPr marL="0" indent="0">
              <a:buNone/>
            </a:pPr>
            <a:r>
              <a:rPr lang="en-US" b="1" dirty="0"/>
              <a:t>module </a:t>
            </a:r>
            <a:r>
              <a:rPr lang="en-US" b="1" dirty="0" err="1"/>
              <a:t>mymodule</a:t>
            </a:r>
            <a:endParaRPr lang="en-US" b="1" dirty="0"/>
          </a:p>
          <a:p>
            <a:pPr marL="0" indent="0">
              <a:buNone/>
            </a:pPr>
            <a:r>
              <a:rPr lang="en-US" b="1" dirty="0"/>
              <a:t> {</a:t>
            </a:r>
            <a:br>
              <a:rPr lang="en-US" b="1" dirty="0"/>
            </a:br>
            <a:r>
              <a:rPr lang="en-US" b="1" dirty="0"/>
              <a:t>}</a:t>
            </a:r>
          </a:p>
          <a:p>
            <a:pPr marL="0" indent="0">
              <a:buNone/>
            </a:pPr>
            <a:endParaRPr lang="en-IN" b="1" dirty="0"/>
          </a:p>
        </p:txBody>
      </p:sp>
    </p:spTree>
    <p:extLst>
      <p:ext uri="{BB962C8B-B14F-4D97-AF65-F5344CB8AC3E}">
        <p14:creationId xmlns:p14="http://schemas.microsoft.com/office/powerpoint/2010/main" val="3132758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D49FC-8CB5-BEDE-9A57-E44572839DB6}"/>
              </a:ext>
            </a:extLst>
          </p:cNvPr>
          <p:cNvSpPr>
            <a:spLocks noGrp="1"/>
          </p:cNvSpPr>
          <p:nvPr>
            <p:ph type="title"/>
          </p:nvPr>
        </p:nvSpPr>
        <p:spPr/>
        <p:txBody>
          <a:bodyPr/>
          <a:lstStyle/>
          <a:p>
            <a:r>
              <a:rPr lang="en-IN" b="1" dirty="0"/>
              <a:t>Exports</a:t>
            </a:r>
          </a:p>
        </p:txBody>
      </p:sp>
      <p:sp>
        <p:nvSpPr>
          <p:cNvPr id="3" name="Content Placeholder 2">
            <a:extLst>
              <a:ext uri="{FF2B5EF4-FFF2-40B4-BE49-F238E27FC236}">
                <a16:creationId xmlns:a16="http://schemas.microsoft.com/office/drawing/2014/main" id="{5CD81A6B-7D11-31AF-DF70-7D94F862CFDB}"/>
              </a:ext>
            </a:extLst>
          </p:cNvPr>
          <p:cNvSpPr>
            <a:spLocks noGrp="1"/>
          </p:cNvSpPr>
          <p:nvPr>
            <p:ph idx="1"/>
          </p:nvPr>
        </p:nvSpPr>
        <p:spPr/>
        <p:txBody>
          <a:bodyPr>
            <a:normAutofit lnSpcReduction="10000"/>
          </a:bodyPr>
          <a:lstStyle/>
          <a:p>
            <a:r>
              <a:rPr lang="en-IN" b="1" dirty="0"/>
              <a:t>exports — Makes Package Public</a:t>
            </a:r>
          </a:p>
          <a:p>
            <a:pPr marL="0" indent="0">
              <a:buNone/>
            </a:pPr>
            <a:r>
              <a:rPr lang="en-IN" dirty="0"/>
              <a:t>Exports means:</a:t>
            </a:r>
            <a:br>
              <a:rPr lang="en-IN" dirty="0"/>
            </a:br>
            <a:r>
              <a:rPr lang="en-IN" dirty="0"/>
              <a:t>“This package is visible to other modules.”</a:t>
            </a:r>
          </a:p>
          <a:p>
            <a:pPr marL="0" indent="0">
              <a:buNone/>
            </a:pPr>
            <a:r>
              <a:rPr lang="en-IN" b="1" dirty="0"/>
              <a:t>exports </a:t>
            </a:r>
            <a:r>
              <a:rPr lang="en-IN" b="1" dirty="0" err="1"/>
              <a:t>com.bank.api</a:t>
            </a:r>
            <a:r>
              <a:rPr lang="en-IN" b="1" dirty="0"/>
              <a:t>;</a:t>
            </a:r>
          </a:p>
          <a:p>
            <a:r>
              <a:rPr lang="en-IN" dirty="0"/>
              <a:t>Anything not exported is </a:t>
            </a:r>
            <a:r>
              <a:rPr lang="en-IN" b="1" dirty="0"/>
              <a:t>hidden</a:t>
            </a:r>
            <a:r>
              <a:rPr lang="en-IN" dirty="0"/>
              <a:t> (true encapsulation).</a:t>
            </a:r>
          </a:p>
          <a:p>
            <a:pPr marL="0" indent="0">
              <a:buNone/>
            </a:pPr>
            <a:r>
              <a:rPr lang="en-IN" dirty="0"/>
              <a:t>Example:</a:t>
            </a:r>
          </a:p>
          <a:p>
            <a:pPr marL="0" indent="0">
              <a:buNone/>
            </a:pPr>
            <a:r>
              <a:rPr lang="en-IN" b="1" dirty="0"/>
              <a:t>module bank {</a:t>
            </a:r>
            <a:br>
              <a:rPr lang="en-IN" b="1" dirty="0"/>
            </a:br>
            <a:r>
              <a:rPr lang="en-IN" b="1" dirty="0"/>
              <a:t>    exports </a:t>
            </a:r>
            <a:r>
              <a:rPr lang="en-IN" b="1" dirty="0" err="1"/>
              <a:t>com.bank.service</a:t>
            </a:r>
            <a:r>
              <a:rPr lang="en-IN" b="1" dirty="0"/>
              <a:t>; // visible</a:t>
            </a:r>
            <a:br>
              <a:rPr lang="en-IN" b="1" dirty="0"/>
            </a:br>
            <a:r>
              <a:rPr lang="en-IN" b="1" dirty="0"/>
              <a:t>    // </a:t>
            </a:r>
            <a:r>
              <a:rPr lang="en-IN" b="1" dirty="0" err="1"/>
              <a:t>com.bank.internal</a:t>
            </a:r>
            <a:r>
              <a:rPr lang="en-IN" b="1" dirty="0"/>
              <a:t> remains hidden</a:t>
            </a:r>
            <a:br>
              <a:rPr lang="en-IN" b="1" dirty="0"/>
            </a:br>
            <a:r>
              <a:rPr lang="en-IN" b="1" dirty="0"/>
              <a:t>}</a:t>
            </a:r>
          </a:p>
          <a:p>
            <a:pPr marL="0" indent="0">
              <a:buNone/>
            </a:pPr>
            <a:endParaRPr lang="en-IN" dirty="0"/>
          </a:p>
        </p:txBody>
      </p:sp>
    </p:spTree>
    <p:extLst>
      <p:ext uri="{BB962C8B-B14F-4D97-AF65-F5344CB8AC3E}">
        <p14:creationId xmlns:p14="http://schemas.microsoft.com/office/powerpoint/2010/main" val="11681320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18386-767C-C9B7-5ACD-90C79EBF0599}"/>
              </a:ext>
            </a:extLst>
          </p:cNvPr>
          <p:cNvSpPr>
            <a:spLocks noGrp="1"/>
          </p:cNvSpPr>
          <p:nvPr>
            <p:ph type="title"/>
          </p:nvPr>
        </p:nvSpPr>
        <p:spPr/>
        <p:txBody>
          <a:bodyPr/>
          <a:lstStyle/>
          <a:p>
            <a:r>
              <a:rPr lang="en-IN" b="1" dirty="0"/>
              <a:t>requires</a:t>
            </a:r>
          </a:p>
        </p:txBody>
      </p:sp>
      <p:sp>
        <p:nvSpPr>
          <p:cNvPr id="3" name="Content Placeholder 2">
            <a:extLst>
              <a:ext uri="{FF2B5EF4-FFF2-40B4-BE49-F238E27FC236}">
                <a16:creationId xmlns:a16="http://schemas.microsoft.com/office/drawing/2014/main" id="{BE2C0B56-C52B-F62E-64E9-978ABB0F5926}"/>
              </a:ext>
            </a:extLst>
          </p:cNvPr>
          <p:cNvSpPr>
            <a:spLocks noGrp="1"/>
          </p:cNvSpPr>
          <p:nvPr>
            <p:ph idx="1"/>
          </p:nvPr>
        </p:nvSpPr>
        <p:spPr/>
        <p:txBody>
          <a:bodyPr/>
          <a:lstStyle/>
          <a:p>
            <a:pPr marL="0" indent="0">
              <a:buNone/>
            </a:pPr>
            <a:r>
              <a:rPr lang="en-US" dirty="0"/>
              <a:t>Declares dependency on another module.</a:t>
            </a:r>
          </a:p>
          <a:p>
            <a:pPr marL="0" indent="0">
              <a:buNone/>
            </a:pPr>
            <a:r>
              <a:rPr lang="en-US" b="1" dirty="0"/>
              <a:t>requires utils;</a:t>
            </a:r>
            <a:br>
              <a:rPr lang="en-US" b="1" dirty="0"/>
            </a:br>
            <a:r>
              <a:rPr lang="en-US" b="1" dirty="0"/>
              <a:t>requires </a:t>
            </a:r>
            <a:r>
              <a:rPr lang="en-US" b="1" dirty="0" err="1"/>
              <a:t>java.sql</a:t>
            </a:r>
            <a:r>
              <a:rPr lang="en-US" b="1" dirty="0"/>
              <a:t>;</a:t>
            </a:r>
          </a:p>
          <a:p>
            <a:r>
              <a:rPr lang="en-US" dirty="0"/>
              <a:t>Without this, imported module classes are </a:t>
            </a:r>
            <a:r>
              <a:rPr lang="en-US" i="1" dirty="0"/>
              <a:t>not allowed</a:t>
            </a:r>
            <a:r>
              <a:rPr lang="en-US"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2229687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C2D3-EAB0-C693-2191-F1D93CFD89E4}"/>
              </a:ext>
            </a:extLst>
          </p:cNvPr>
          <p:cNvSpPr>
            <a:spLocks noGrp="1"/>
          </p:cNvSpPr>
          <p:nvPr>
            <p:ph type="title"/>
          </p:nvPr>
        </p:nvSpPr>
        <p:spPr/>
        <p:txBody>
          <a:bodyPr/>
          <a:lstStyle/>
          <a:p>
            <a:r>
              <a:rPr lang="en-IN" dirty="0"/>
              <a:t>Steps </a:t>
            </a:r>
          </a:p>
        </p:txBody>
      </p:sp>
      <p:sp>
        <p:nvSpPr>
          <p:cNvPr id="3" name="Content Placeholder 2">
            <a:extLst>
              <a:ext uri="{FF2B5EF4-FFF2-40B4-BE49-F238E27FC236}">
                <a16:creationId xmlns:a16="http://schemas.microsoft.com/office/drawing/2014/main" id="{8857ADF1-241B-2A76-9345-5F9DBF483E4D}"/>
              </a:ext>
            </a:extLst>
          </p:cNvPr>
          <p:cNvSpPr>
            <a:spLocks noGrp="1"/>
          </p:cNvSpPr>
          <p:nvPr>
            <p:ph idx="1"/>
          </p:nvPr>
        </p:nvSpPr>
        <p:spPr/>
        <p:txBody>
          <a:bodyPr/>
          <a:lstStyle/>
          <a:p>
            <a:pPr marL="0" indent="0">
              <a:buNone/>
            </a:pPr>
            <a:r>
              <a:rPr lang="en-US" b="1" dirty="0"/>
              <a:t>Step 1:</a:t>
            </a:r>
            <a:r>
              <a:rPr lang="en-US" dirty="0"/>
              <a:t> Create a New Java Project (2 projects )</a:t>
            </a:r>
          </a:p>
          <a:p>
            <a:pPr marL="0" indent="0">
              <a:buNone/>
            </a:pPr>
            <a:r>
              <a:rPr lang="en-US" b="1" dirty="0"/>
              <a:t>Step 2</a:t>
            </a:r>
            <a:r>
              <a:rPr lang="en-US" dirty="0"/>
              <a:t>: Convert to a Modular Project (in both)</a:t>
            </a:r>
          </a:p>
          <a:p>
            <a:pPr marL="0" indent="0">
              <a:buNone/>
            </a:pPr>
            <a:r>
              <a:rPr lang="en-US" b="1" dirty="0"/>
              <a:t>Step 3</a:t>
            </a:r>
            <a:r>
              <a:rPr lang="en-US" dirty="0"/>
              <a:t>: Create module-info.java (in both projects)</a:t>
            </a:r>
          </a:p>
          <a:p>
            <a:pPr marL="0" indent="0">
              <a:buNone/>
            </a:pPr>
            <a:r>
              <a:rPr lang="en-IN" dirty="0"/>
              <a:t>module </a:t>
            </a:r>
            <a:r>
              <a:rPr lang="en-IN" dirty="0" err="1"/>
              <a:t>MyModuleApp</a:t>
            </a:r>
            <a:r>
              <a:rPr lang="en-IN" dirty="0"/>
              <a:t> {</a:t>
            </a:r>
            <a:br>
              <a:rPr lang="en-IN" dirty="0"/>
            </a:br>
            <a:r>
              <a:rPr lang="en-IN" dirty="0"/>
              <a:t>exports </a:t>
            </a:r>
            <a:r>
              <a:rPr lang="en-IN" dirty="0" err="1"/>
              <a:t>com.myapp</a:t>
            </a:r>
            <a:r>
              <a:rPr lang="en-IN" dirty="0"/>
              <a:t>;</a:t>
            </a:r>
            <a:br>
              <a:rPr lang="en-IN" dirty="0"/>
            </a:br>
            <a:r>
              <a:rPr lang="en-IN" dirty="0"/>
              <a:t>}</a:t>
            </a:r>
          </a:p>
          <a:p>
            <a:pPr marL="0" indent="0">
              <a:buNone/>
            </a:pPr>
            <a:r>
              <a:rPr lang="en-US" b="1" dirty="0"/>
              <a:t>Step 4</a:t>
            </a:r>
            <a:r>
              <a:rPr lang="en-US" dirty="0"/>
              <a:t>: Create Packages Inside the Module </a:t>
            </a:r>
          </a:p>
          <a:p>
            <a:pPr marL="0" indent="0">
              <a:buNone/>
            </a:pPr>
            <a:endParaRPr lang="en-IN" dirty="0"/>
          </a:p>
        </p:txBody>
      </p:sp>
    </p:spTree>
    <p:extLst>
      <p:ext uri="{BB962C8B-B14F-4D97-AF65-F5344CB8AC3E}">
        <p14:creationId xmlns:p14="http://schemas.microsoft.com/office/powerpoint/2010/main" val="26874811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5CF3D-6C43-DBFD-23A8-2534EC2F39B8}"/>
              </a:ext>
            </a:extLst>
          </p:cNvPr>
          <p:cNvSpPr>
            <a:spLocks noGrp="1"/>
          </p:cNvSpPr>
          <p:nvPr>
            <p:ph type="title"/>
          </p:nvPr>
        </p:nvSpPr>
        <p:spPr/>
        <p:txBody>
          <a:bodyPr/>
          <a:lstStyle/>
          <a:p>
            <a:r>
              <a:rPr lang="en-US" b="1" dirty="0"/>
              <a:t>Step 5</a:t>
            </a:r>
            <a:r>
              <a:rPr lang="en-US" dirty="0"/>
              <a:t>: Add Dependency Between Modules</a:t>
            </a:r>
            <a:br>
              <a:rPr lang="en-IN" dirty="0"/>
            </a:br>
            <a:endParaRPr lang="en-IN" dirty="0"/>
          </a:p>
        </p:txBody>
      </p:sp>
      <p:sp>
        <p:nvSpPr>
          <p:cNvPr id="6" name="Rectangle 3">
            <a:extLst>
              <a:ext uri="{FF2B5EF4-FFF2-40B4-BE49-F238E27FC236}">
                <a16:creationId xmlns:a16="http://schemas.microsoft.com/office/drawing/2014/main" id="{FBE9B4C8-4046-6A55-53D7-450463686FE2}"/>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Right-click the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Go to </a:t>
            </a:r>
            <a:r>
              <a:rPr kumimoji="0" lang="en-US" altLang="en-US" sz="1800" b="1" i="0" u="none" strike="noStrike" cap="none" normalizeH="0" baseline="0">
                <a:ln>
                  <a:noFill/>
                </a:ln>
                <a:solidFill>
                  <a:schemeClr val="tx1"/>
                </a:solidFill>
                <a:effectLst/>
                <a:latin typeface="Arial" panose="020B0604020202020204" pitchFamily="34" charset="0"/>
              </a:rPr>
              <a:t>Properties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Select </a:t>
            </a:r>
            <a:r>
              <a:rPr kumimoji="0" lang="en-US" altLang="en-US" sz="1800" b="1" i="0" u="none" strike="noStrike" cap="none" normalizeH="0" baseline="0">
                <a:ln>
                  <a:noFill/>
                </a:ln>
                <a:solidFill>
                  <a:schemeClr val="tx1"/>
                </a:solidFill>
                <a:effectLst/>
                <a:latin typeface="Arial" panose="020B0604020202020204" pitchFamily="34" charset="0"/>
              </a:rPr>
              <a:t>Java Build Path</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Go to the </a:t>
            </a:r>
            <a:r>
              <a:rPr kumimoji="0" lang="en-US" altLang="en-US" sz="1800" b="1" i="0" u="none" strike="noStrike" cap="none" normalizeH="0" baseline="0">
                <a:ln>
                  <a:noFill/>
                </a:ln>
                <a:solidFill>
                  <a:schemeClr val="tx1"/>
                </a:solidFill>
                <a:effectLst/>
                <a:latin typeface="Arial" panose="020B0604020202020204" pitchFamily="34" charset="0"/>
              </a:rPr>
              <a:t>Modulepath</a:t>
            </a:r>
            <a:r>
              <a:rPr kumimoji="0" lang="en-US" altLang="en-US" sz="1800" b="0" i="0" u="none" strike="noStrike" cap="none" normalizeH="0" baseline="0">
                <a:ln>
                  <a:noFill/>
                </a:ln>
                <a:solidFill>
                  <a:schemeClr val="tx1"/>
                </a:solidFill>
                <a:effectLst/>
                <a:latin typeface="Arial" panose="020B0604020202020204" pitchFamily="34" charset="0"/>
              </a:rPr>
              <a:t> tab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Click </a:t>
            </a:r>
            <a:r>
              <a:rPr kumimoji="0" lang="en-US" altLang="en-US" sz="1800" b="1" i="0" u="none" strike="noStrike" cap="none" normalizeH="0" baseline="0">
                <a:ln>
                  <a:noFill/>
                </a:ln>
                <a:solidFill>
                  <a:schemeClr val="tx1"/>
                </a:solidFill>
                <a:effectLst/>
                <a:latin typeface="Arial" panose="020B0604020202020204" pitchFamily="34" charset="0"/>
              </a:rPr>
              <a:t>Add Project…</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Select </a:t>
            </a:r>
            <a:r>
              <a:rPr kumimoji="0" lang="en-US" altLang="en-US" sz="1800" b="1" i="0" u="none" strike="noStrike" cap="none" normalizeH="0" baseline="0">
                <a:ln>
                  <a:noFill/>
                </a:ln>
                <a:solidFill>
                  <a:schemeClr val="tx1"/>
                </a:solidFill>
                <a:effectLst/>
                <a:latin typeface="Arial" panose="020B0604020202020204" pitchFamily="34" charset="0"/>
              </a:rPr>
              <a:t>utils</a:t>
            </a:r>
            <a:r>
              <a:rPr kumimoji="0" lang="en-US" altLang="en-US" sz="1800" b="0" i="0" u="none" strike="noStrike" cap="none" normalizeH="0" baseline="0">
                <a:ln>
                  <a:noFill/>
                </a:ln>
                <a:solidFill>
                  <a:schemeClr val="tx1"/>
                </a:solidFill>
                <a:effectLst/>
                <a:latin typeface="Arial" panose="020B0604020202020204" pitchFamily="34" charset="0"/>
              </a:rPr>
              <a:t>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Apply → OK</a:t>
            </a:r>
          </a:p>
        </p:txBody>
      </p:sp>
    </p:spTree>
    <p:extLst>
      <p:ext uri="{BB962C8B-B14F-4D97-AF65-F5344CB8AC3E}">
        <p14:creationId xmlns:p14="http://schemas.microsoft.com/office/powerpoint/2010/main" val="23315310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64A91-3B23-952E-2DB7-B4EE0699E44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132C569-262D-8928-4D6A-700317A0B25E}"/>
              </a:ext>
            </a:extLst>
          </p:cNvPr>
          <p:cNvSpPr>
            <a:spLocks noGrp="1"/>
          </p:cNvSpPr>
          <p:nvPr>
            <p:ph idx="1"/>
          </p:nvPr>
        </p:nvSpPr>
        <p:spPr/>
        <p:txBody>
          <a:bodyPr/>
          <a:lstStyle/>
          <a:p>
            <a:pPr marL="0" indent="0">
              <a:buNone/>
            </a:pPr>
            <a:r>
              <a:rPr lang="en-US" b="1" dirty="0"/>
              <a:t>Step 6</a:t>
            </a:r>
            <a:r>
              <a:rPr lang="en-US" dirty="0"/>
              <a:t>: Run the Module Program</a:t>
            </a:r>
          </a:p>
          <a:p>
            <a:pPr marL="0" indent="0">
              <a:buNone/>
            </a:pPr>
            <a:r>
              <a:rPr lang="en-US" dirty="0"/>
              <a:t>If module-info.java is correct, the program runs successfully.</a:t>
            </a:r>
          </a:p>
          <a:p>
            <a:pPr marL="0" indent="0">
              <a:buNone/>
            </a:pPr>
            <a:endParaRPr lang="en-IN" dirty="0"/>
          </a:p>
        </p:txBody>
      </p:sp>
    </p:spTree>
    <p:extLst>
      <p:ext uri="{BB962C8B-B14F-4D97-AF65-F5344CB8AC3E}">
        <p14:creationId xmlns:p14="http://schemas.microsoft.com/office/powerpoint/2010/main" val="1559186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2400</TotalTime>
  <Words>5029</Words>
  <Application>Microsoft Office PowerPoint</Application>
  <PresentationFormat>Widescreen</PresentationFormat>
  <Paragraphs>869</Paragraphs>
  <Slides>78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78</vt:i4>
      </vt:variant>
    </vt:vector>
  </HeadingPairs>
  <TitlesOfParts>
    <vt:vector size="83" baseType="lpstr">
      <vt:lpstr>Arial</vt:lpstr>
      <vt:lpstr>Calibri</vt:lpstr>
      <vt:lpstr>Calibri Light</vt:lpstr>
      <vt:lpstr>Wingdings</vt:lpstr>
      <vt:lpstr>Office Theme</vt:lpstr>
      <vt:lpstr>UNIT-1</vt:lpstr>
      <vt:lpstr>Functional Interface</vt:lpstr>
      <vt:lpstr>.</vt:lpstr>
      <vt:lpstr>.</vt:lpstr>
      <vt:lpstr>.</vt:lpstr>
      <vt:lpstr>Lambda Expression </vt:lpstr>
      <vt:lpstr>Example </vt:lpstr>
      <vt:lpstr>Types of Lambda Parameters </vt:lpstr>
      <vt:lpstr>.</vt:lpstr>
      <vt:lpstr>.</vt:lpstr>
      <vt:lpstr>4. Lambda Expression with return statement </vt:lpstr>
      <vt:lpstr>Practice Question</vt:lpstr>
      <vt:lpstr>Method Reference</vt:lpstr>
      <vt:lpstr>Why Was Method Reference Introduced? </vt:lpstr>
      <vt:lpstr>Rules for Using Method References</vt:lpstr>
      <vt:lpstr>Four Types of Method References</vt:lpstr>
      <vt:lpstr>1. Static Method Reference </vt:lpstr>
      <vt:lpstr>2. Instance Method Reference (of a particular object)</vt:lpstr>
      <vt:lpstr>3. Reference to an Instance Method of an Arbitrary Object </vt:lpstr>
      <vt:lpstr>4. Constructor Reference </vt:lpstr>
      <vt:lpstr>Method references </vt:lpstr>
      <vt:lpstr>Default Methods  </vt:lpstr>
      <vt:lpstr>Key Features </vt:lpstr>
      <vt:lpstr>Example </vt:lpstr>
      <vt:lpstr>In case both the implemented interfaces contain default methods with same method signature, the implementing class should explicitly specify which default method is to be used or it should override the default method. </vt:lpstr>
      <vt:lpstr>Static Methods  </vt:lpstr>
      <vt:lpstr>Example- </vt:lpstr>
      <vt:lpstr>Private Methods in Interface </vt:lpstr>
      <vt:lpstr>Example- </vt:lpstr>
      <vt:lpstr>forEach() Method  </vt:lpstr>
      <vt:lpstr>Using forEach with List</vt:lpstr>
      <vt:lpstr>Using forEach with Set</vt:lpstr>
      <vt:lpstr>Using forEach with Map</vt:lpstr>
      <vt:lpstr> With Method Reference</vt:lpstr>
      <vt:lpstr>Switch expression </vt:lpstr>
      <vt:lpstr>.</vt:lpstr>
      <vt:lpstr>With switch statement</vt:lpstr>
      <vt:lpstr>With switch exprssion</vt:lpstr>
      <vt:lpstr>Multiple Labels in One Case</vt:lpstr>
      <vt:lpstr>Block with Multiple Statements</vt:lpstr>
      <vt:lpstr>Yield keyword </vt:lpstr>
      <vt:lpstr>Syntax using yield: </vt:lpstr>
      <vt:lpstr>Example</vt:lpstr>
      <vt:lpstr>Practice Questions</vt:lpstr>
      <vt:lpstr>Practice Question</vt:lpstr>
      <vt:lpstr>.</vt:lpstr>
      <vt:lpstr>PowerPoint Presentation</vt:lpstr>
      <vt:lpstr>PowerPoint Presentation</vt:lpstr>
      <vt:lpstr>Text Blocks </vt:lpstr>
      <vt:lpstr>PowerPoint Presentation</vt:lpstr>
      <vt:lpstr>Example of a text block: </vt:lpstr>
      <vt:lpstr>Local Variable Type Inference </vt:lpstr>
      <vt:lpstr>Example </vt:lpstr>
      <vt:lpstr>Where can var be used?</vt:lpstr>
      <vt:lpstr>Where var CANNOT be used? </vt:lpstr>
      <vt:lpstr>.</vt:lpstr>
      <vt:lpstr>PowerPoint Presentation</vt:lpstr>
      <vt:lpstr>PowerPoint Presentation</vt:lpstr>
      <vt:lpstr>Sealed class </vt:lpstr>
      <vt:lpstr>Syntax</vt:lpstr>
      <vt:lpstr>Rules for Subclasses of a Sealed Class</vt:lpstr>
      <vt:lpstr>Example</vt:lpstr>
      <vt:lpstr>Example</vt:lpstr>
      <vt:lpstr>example</vt:lpstr>
      <vt:lpstr>Practice Ques….</vt:lpstr>
      <vt:lpstr>Records</vt:lpstr>
      <vt:lpstr>PowerPoint Presentation</vt:lpstr>
      <vt:lpstr>.</vt:lpstr>
      <vt:lpstr>Examples</vt:lpstr>
      <vt:lpstr>Java Module system </vt:lpstr>
      <vt:lpstr>.</vt:lpstr>
      <vt:lpstr>Why Was the Module System Introduced?</vt:lpstr>
      <vt:lpstr>module-info.java</vt:lpstr>
      <vt:lpstr>Exports</vt:lpstr>
      <vt:lpstr>requires</vt:lpstr>
      <vt:lpstr>Steps </vt:lpstr>
      <vt:lpstr>Step 5: Add Dependency Between Modules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sonam jain</dc:creator>
  <cp:lastModifiedBy>sonam jain</cp:lastModifiedBy>
  <cp:revision>15</cp:revision>
  <dcterms:created xsi:type="dcterms:W3CDTF">2026-02-03T04:23:33Z</dcterms:created>
  <dcterms:modified xsi:type="dcterms:W3CDTF">2026-02-27T09:52:43Z</dcterms:modified>
</cp:coreProperties>
</file>